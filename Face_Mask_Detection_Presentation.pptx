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f5c5c4-f0bb-7c74-03e5-8c9bb61186b4}">
          <p14:sldIdLst>
            <p14:sldId id="256"/>
            <p14:sldId id="257"/>
          </p14:sldIdLst>
        </p14:section>
        <p14:section name="How it works" id="{a8730038-a83b-82fd-4a55-5fd173e91a19}">
          <p14:sldIdLst>
            <p14:sldId id="258"/>
            <p14:sldId id="259"/>
            <p14:sldId id="260"/>
            <p14:sldId id="261"/>
            <p14:sldId id="262"/>
            <p14:sldId id="263"/>
            <p14:sldId id="264"/>
          </p14:sldIdLst>
        </p14:section>
        <p14:section name="Training &amp; results" id="{965b9558-0101-e95c-e2f4-7bee0205ea9e}">
          <p14:sldIdLst>
            <p14:sldId id="265"/>
            <p14:sldId id="266"/>
            <p14:sldId id="267"/>
            <p14:sldId id="268"/>
            <p14:sldId id="269"/>
          </p14:sldIdLst>
        </p14:section>
        <p14:section name="Wrap-up" id="{dc40f93a-aa93-a2ad-359e-85f6c3a2bb53}">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2B"/>
                </a:solidFill>
                <a:latin typeface="+mj-lt"/>
              </a:defRPr>
            </a:pPr>
            <a:r>
              <a:rPr sz="1400" b="0" i="0" u="none" strike="noStrike">
                <a:solidFill>
                  <a:srgbClr val="14232B"/>
                </a:solidFill>
                <a:latin typeface="+mj-lt"/>
              </a:rPr>
              <a:t>Accuracy (%)</a:t>
            </a:r>
          </a:p>
        </c:rich>
      </c:tx>
      <c:layout/>
      <c:overlay val="0"/>
    </c:title>
    <c:autoTitleDeleted val="0"/>
    <c:plotArea>
      <c:layout/>
      <c:lineChart>
        <c:varyColors val="0"/>
        <c:ser>
          <c:idx val="0"/>
          <c:order val="0"/>
          <c:tx>
            <c:strRef>
              <c:f>Sheet1!$B$1</c:f>
              <c:strCache>
                <c:ptCount val="1"/>
                <c:pt idx="0">
                  <c:v>Training</c:v>
                </c:pt>
              </c:strCache>
            </c:strRef>
          </c:tx>
          <c:spPr>
            <a:solidFill>
              <a:srgbClr val="5B6C8F"/>
            </a:solidFill>
            <a:ln w="31750" cap="flat">
              <a:solidFill>
                <a:srgbClr val="5B6C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B6C8F"/>
              </a:solidFill>
              <a:ln w="9525" cap="flat">
                <a:solidFill>
                  <a:srgbClr val="5B6C8F"/>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83.41</c:v>
                </c:pt>
                <c:pt idx="1">
                  <c:v>96.24</c:v>
                </c:pt>
                <c:pt idx="2">
                  <c:v>96.79</c:v>
                </c:pt>
                <c:pt idx="3">
                  <c:v>97.71</c:v>
                </c:pt>
                <c:pt idx="4">
                  <c:v>98.11</c:v>
                </c:pt>
                <c:pt idx="5">
                  <c:v>98.23</c:v>
                </c:pt>
                <c:pt idx="6">
                  <c:v>98.38</c:v>
                </c:pt>
                <c:pt idx="7">
                  <c:v>98.11</c:v>
                </c:pt>
                <c:pt idx="8">
                  <c:v>98.47</c:v>
                </c:pt>
                <c:pt idx="9">
                  <c:v>98.41</c:v>
                </c:pt>
                <c:pt idx="10">
                  <c:v>98.87</c:v>
                </c:pt>
                <c:pt idx="11">
                  <c:v>98.63</c:v>
                </c:pt>
                <c:pt idx="12">
                  <c:v>98.9</c:v>
                </c:pt>
                <c:pt idx="13">
                  <c:v>98.93</c:v>
                </c:pt>
                <c:pt idx="14">
                  <c:v>99.3</c:v>
                </c:pt>
                <c:pt idx="15">
                  <c:v>99.05</c:v>
                </c:pt>
                <c:pt idx="16">
                  <c:v>98.9</c:v>
                </c:pt>
                <c:pt idx="17">
                  <c:v>99.21</c:v>
                </c:pt>
                <c:pt idx="18">
                  <c:v>99.21</c:v>
                </c:pt>
                <c:pt idx="19">
                  <c:v>99.36</c:v>
                </c:pt>
              </c:numCache>
            </c:numRef>
          </c:val>
          <c:smooth val="0"/>
        </c:ser>
        <c:ser>
          <c:idx val="1"/>
          <c:order val="1"/>
          <c:tx>
            <c:strRef>
              <c:f>Sheet1!$C$1</c:f>
              <c:strCache>
                <c:ptCount val="1"/>
                <c:pt idx="0">
                  <c:v>Validation (test split)</c:v>
                </c:pt>
              </c:strCache>
            </c:strRef>
          </c:tx>
          <c:spPr>
            <a:solidFill>
              <a:srgbClr val="2E9E5B"/>
            </a:solidFill>
            <a:ln w="31750" cap="flat">
              <a:solidFill>
                <a:srgbClr val="2E9E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9E5B"/>
              </a:solidFill>
              <a:ln w="9525" cap="flat">
                <a:solidFill>
                  <a:srgbClr val="2E9E5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98.66</c:v>
                </c:pt>
                <c:pt idx="1">
                  <c:v>98.66</c:v>
                </c:pt>
                <c:pt idx="2">
                  <c:v>98.9</c:v>
                </c:pt>
                <c:pt idx="3">
                  <c:v>99.02</c:v>
                </c:pt>
                <c:pt idx="4">
                  <c:v>99.02</c:v>
                </c:pt>
                <c:pt idx="5">
                  <c:v>99.02</c:v>
                </c:pt>
                <c:pt idx="6">
                  <c:v>98.9</c:v>
                </c:pt>
                <c:pt idx="7">
                  <c:v>99.02</c:v>
                </c:pt>
                <c:pt idx="8">
                  <c:v>99.02</c:v>
                </c:pt>
                <c:pt idx="9">
                  <c:v>99.02</c:v>
                </c:pt>
                <c:pt idx="10">
                  <c:v>99.15</c:v>
                </c:pt>
                <c:pt idx="11">
                  <c:v>99.15</c:v>
                </c:pt>
                <c:pt idx="12">
                  <c:v>99.15</c:v>
                </c:pt>
                <c:pt idx="13">
                  <c:v>99.15</c:v>
                </c:pt>
                <c:pt idx="14">
                  <c:v>99.02</c:v>
                </c:pt>
                <c:pt idx="15">
                  <c:v>99.15</c:v>
                </c:pt>
                <c:pt idx="16">
                  <c:v>99.02</c:v>
                </c:pt>
                <c:pt idx="17">
                  <c:v>99.02</c:v>
                </c:pt>
                <c:pt idx="18">
                  <c:v>99.02</c:v>
                </c:pt>
                <c:pt idx="19">
                  <c:v>99.15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8A9BA8"/>
                    </a:solidFill>
                    <a:latin typeface="Arial"/>
                  </a:defRPr>
                </a:pPr>
                <a:r>
                  <a:rPr sz="1100" b="0" i="0" u="none" strike="noStrike">
                    <a:solidFill>
                      <a:srgbClr val="8A9BA8"/>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6350" cap="flat">
              <a:solidFill>
                <a:srgbClr val="E3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32B"/>
                </a:solidFill>
                <a:latin typeface="+mj-lt"/>
              </a:defRPr>
            </a:pPr>
            <a:r>
              <a:rPr sz="1400" b="0" i="0" u="none" strike="noStrike">
                <a:solidFill>
                  <a:srgbClr val="14232B"/>
                </a:solidFill>
                <a:latin typeface="+mj-lt"/>
              </a:rPr>
              <a:t>Cross-entropy loss</a:t>
            </a:r>
          </a:p>
        </c:rich>
      </c:tx>
      <c:layout/>
      <c:overlay val="0"/>
    </c:title>
    <c:autoTitleDeleted val="0"/>
    <c:plotArea>
      <c:layout/>
      <c:lineChart>
        <c:varyColors val="0"/>
        <c:ser>
          <c:idx val="0"/>
          <c:order val="0"/>
          <c:tx>
            <c:strRef>
              <c:f>Sheet1!$B$1</c:f>
              <c:strCache>
                <c:ptCount val="1"/>
                <c:pt idx="0">
                  <c:v>Training</c:v>
                </c:pt>
              </c:strCache>
            </c:strRef>
          </c:tx>
          <c:spPr>
            <a:solidFill>
              <a:srgbClr val="5B6C8F"/>
            </a:solidFill>
            <a:ln w="31750" cap="flat">
              <a:solidFill>
                <a:srgbClr val="5B6C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B6C8F"/>
              </a:solidFill>
              <a:ln w="9525" cap="flat">
                <a:solidFill>
                  <a:srgbClr val="5B6C8F"/>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0.3904</c:v>
                </c:pt>
                <c:pt idx="1">
                  <c:v>0.1266</c:v>
                </c:pt>
                <c:pt idx="2">
                  <c:v>0.0895</c:v>
                </c:pt>
                <c:pt idx="3">
                  <c:v>0.0716</c:v>
                </c:pt>
                <c:pt idx="4">
                  <c:v>0.06</c:v>
                </c:pt>
                <c:pt idx="5">
                  <c:v>0.0534</c:v>
                </c:pt>
                <c:pt idx="6">
                  <c:v>0.0532</c:v>
                </c:pt>
                <c:pt idx="7">
                  <c:v>0.0521</c:v>
                </c:pt>
                <c:pt idx="8">
                  <c:v>0.0449</c:v>
                </c:pt>
                <c:pt idx="9">
                  <c:v>0.0438</c:v>
                </c:pt>
                <c:pt idx="10">
                  <c:v>0.0363</c:v>
                </c:pt>
                <c:pt idx="11">
                  <c:v>0.0403</c:v>
                </c:pt>
                <c:pt idx="12">
                  <c:v>0.0318</c:v>
                </c:pt>
                <c:pt idx="13">
                  <c:v>0.0322</c:v>
                </c:pt>
                <c:pt idx="14">
                  <c:v>0.0267</c:v>
                </c:pt>
                <c:pt idx="15">
                  <c:v>0.0268</c:v>
                </c:pt>
                <c:pt idx="16">
                  <c:v>0.0324</c:v>
                </c:pt>
                <c:pt idx="17">
                  <c:v>0.0232</c:v>
                </c:pt>
                <c:pt idx="18">
                  <c:v>0.0259</c:v>
                </c:pt>
                <c:pt idx="19">
                  <c:v>0.0262</c:v>
                </c:pt>
              </c:numCache>
            </c:numRef>
          </c:val>
          <c:smooth val="0"/>
        </c:ser>
        <c:ser>
          <c:idx val="1"/>
          <c:order val="1"/>
          <c:tx>
            <c:strRef>
              <c:f>Sheet1!$C$1</c:f>
              <c:strCache>
                <c:ptCount val="1"/>
                <c:pt idx="0">
                  <c:v>Validation (test split)</c:v>
                </c:pt>
              </c:strCache>
            </c:strRef>
          </c:tx>
          <c:spPr>
            <a:solidFill>
              <a:srgbClr val="2E9E5B"/>
            </a:solidFill>
            <a:ln w="31750" cap="flat">
              <a:solidFill>
                <a:srgbClr val="2E9E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9E5B"/>
              </a:solidFill>
              <a:ln w="9525" cap="flat">
                <a:solidFill>
                  <a:srgbClr val="2E9E5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0.0979</c:v>
                </c:pt>
                <c:pt idx="1">
                  <c:v>0.0537</c:v>
                </c:pt>
                <c:pt idx="2">
                  <c:v>0.0409</c:v>
                </c:pt>
                <c:pt idx="3">
                  <c:v>0.0372</c:v>
                </c:pt>
                <c:pt idx="4">
                  <c:v>0.0346</c:v>
                </c:pt>
                <c:pt idx="5">
                  <c:v>0.0324</c:v>
                </c:pt>
                <c:pt idx="6">
                  <c:v>0.0321</c:v>
                </c:pt>
                <c:pt idx="7">
                  <c:v>0.0307</c:v>
                </c:pt>
                <c:pt idx="8">
                  <c:v>0.0285</c:v>
                </c:pt>
                <c:pt idx="9">
                  <c:v>0.0276</c:v>
                </c:pt>
                <c:pt idx="10">
                  <c:v>0.0276</c:v>
                </c:pt>
                <c:pt idx="11">
                  <c:v>0.027</c:v>
                </c:pt>
                <c:pt idx="12">
                  <c:v>0.0287</c:v>
                </c:pt>
                <c:pt idx="13">
                  <c:v>0.0259</c:v>
                </c:pt>
                <c:pt idx="14">
                  <c:v>0.0262</c:v>
                </c:pt>
                <c:pt idx="15">
                  <c:v>0.0258</c:v>
                </c:pt>
                <c:pt idx="16">
                  <c:v>0.0269</c:v>
                </c:pt>
                <c:pt idx="17">
                  <c:v>0.0261</c:v>
                </c:pt>
                <c:pt idx="18">
                  <c:v>0.0267</c:v>
                </c:pt>
                <c:pt idx="19">
                  <c:v>0.0258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8A9BA8"/>
                    </a:solidFill>
                    <a:latin typeface="Arial"/>
                  </a:defRPr>
                </a:pPr>
                <a:r>
                  <a:rPr sz="1100" b="0" i="0" u="none" strike="noStrike">
                    <a:solidFill>
                      <a:srgbClr val="8A9BA8"/>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8EA"/>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BA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given a photo or a live webcam feed, the system finds every face and says whether that person is wearing a mask, with a confidence score. Green box = mask, red box = no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manual monitoring doesn't scale. Our objective is a cheap, real-time, camera-based classifier. This is a binary image-classification problem combined with object (face)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There are two models. Stage A is a pre-trained face detector that only answers 'where are the faces?'. Stage B is our own trained CNN that answers 'is this face masked?'. Splitting the problem this way means our classifier only ever sees tightly cropped faces, which makes it accurate with only about 4,000 training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Open-source dataset (chandrikadeb7/Face-Mask-Detection, MIT licence). It has real photos plus some images with masks added artificially. The two classes are nearly balanced (53% / 47%), so accuracy is a fair metric. We keep 20% (819 images) aside and never train on them. This is the test set used for every number in this deck. 'Stratified' means both splits keep the same class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resized to 224x224 because that's the input size MobileNetV2 was designed for. preprocess_input rescales pixels from [0,255] to [-1,1], the same range used when it was pretrained on ImageNet. Augmentation layers are part of the model, so they run on the fly during training and are automatically switched off at inference time. The examples shown use exaggerated values so the effect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train the face detector. We use OpenCV's pre-trained Single Shot MultiBox Detector with a ResNet-10 backbone (files in face_detector/). 'Single shot' means one forward pass predicts all boxes at once, from feature maps of several sizes, so it finds both big and small faces. Each detection row has a confidence. We keep rows with confidence of at least 0.5 (adjustable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 CNN from scratch on 4,000 images would overfit badly. Instead we start from MobileNetV2 trained on ImageNet. Its early layers already detect edges, textures and shapes. We freeze all 2,257,984 of those weights and only train a small new head of 164,226 weights. Only about 7% of the network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 224x224 face goes through MobileNetV2, which shrinks space and grows channels until we have a 7x7 grid of 1,280 features. Average pooling averages each feature over the 7x7 grid, giving one 1,280-number description of the face. A Dense layer with 128 ReLU units learns which feature combinations mean 'mask'. Dropout randomly switches off half of those units during training so the model can't rely on a few of them. The final Dense layer with softmax outputs P(mask) and P(no mask). Parameter counts: Dense(128) = 1280x128 + 128 biases = 163,968; Dense(2) = 128x2 + 2 = 258.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(Sandler et al., 2018) is built from 'inverted residual' blocks. It expands a thin representation to a wide one, filters it cheaply with a depthwise conv (each channel filtered on its own), then projects back down to thin. The last projection is linear because ReLU on a low-dimensional space destroys information. The skip connection adds the input back, which helps gradients flow (as in ResNet). Depthwise separable convs make it about 8-9x cheaper than standard convs at similar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Cross-entropy loss is -log of the probability the model gave to the correct class: near 0 when it is confident and right, large when it is confident and wrong. Adam is an adaptive gradient-descent optimizer. We use a small learning rate (1e-4) because we're fitting on top of pretrained features. 3,273 training images / 32 per batch = 103 steps per epoch. Early stopping and checkpointing protect against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ran for 20 epochs. Validation accuracy was already high after epoch 1 because the pretrained features are so good. The rest of training mostly makes the model more confident, which you can see as the loss keeps falling. If validation loss started rising while training loss fell, that would be overfitting. Early stopping watches for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on the 20% of images held out from training. Accuracy 99.2%. The diagonal of the confusion matrix (green) shows correct predictions; off-diagonal cells are errors. Top-right: masked faces predicted as No Mask; bottom-left: unmasked faces predicted as Mask. Note: the test images come from the same dataset as training, so real-world webcam accuracy will be somewhat lower, especially with unusual masks, lighting or face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images were annotated by our program. Each face gets a box and a label with the softmax confidence. For the live demo, run detect_video.py and try it with and without a mask, and with a hand over the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detect_video.py runs this loop until you press q. Measured end-to-end latency was about 81 ms per frame on the development laptop (CPU only, one face). Your FPS will depend on the CPU and the number of faces. The FPS counter is drawn on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short, about 250 lines. train.py builds and trains the model. mask_detector.py holds the shared detect-and-classify logic. The two detect scripts are thin command-line wrappers around it. Full instructions are in README.md and PROJECT_EXPLANATION.md.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is part of good ML practice. The biggest gap is between test-set accuracy and real-world accuracy: the test set is drawn from the same distribution as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we split the problem into detection and classification, reused a pretrained detector, and used transfer learning for the classifier. That gives high accuracy from a small dataset and real-time speed on ordinary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40080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640080" y="3749040"/>
            <a:ext cx="640080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Face Mask Detection  ·  ML Lab Mini Project</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400800" cy="173736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Face Mask Detection using Deep Learning</a:t>
            </a:r>
            <a:endParaRPr lang="en-US" sz="4000" dirty="0"/>
          </a:p>
        </p:txBody>
      </p:sp>
      <p:sp>
        <p:nvSpPr>
          <p:cNvPr id="3" name="Text 0"/>
          <p:cNvSpPr/>
          <p:nvPr>
            <p:ph idx="101" type="body" hasCustomPrompt="1"/>
          </p:nvPr>
        </p:nvSpPr>
        <p:spPr>
          <a:xfrm>
            <a:off x="640080" y="3749040"/>
            <a:ext cx="6400800" cy="1280160"/>
          </a:xfrm>
          <a:prstGeom prst="rect">
            <a:avLst/>
          </a:prstGeom>
          <a:noFill/>
          <a:ln/>
        </p:spPr>
        <p:txBody>
          <a:bodyPr wrap="square" lIns="0" tIns="0" rIns="0" bIns="0" rtlCol="0" anchor="t"/>
          <a:lstStyle/>
          <a:p>
            <a:pPr indent="0" marL="0">
              <a:buNone/>
            </a:pPr>
            <a:r>
              <a:rPr lang="en-US" sz="1800" dirty="0">
                <a:solidFill>
                  <a:schemeClr val="bg2"/>
                </a:solidFill>
              </a:rPr>
              <a:t>ML Lab Mini Project  ·  MobileNetV2 transfer learning + OpenCV face detection, on photos and live webcam</a:t>
            </a:r>
            <a:endParaRPr lang="en-US" sz="1800" dirty="0"/>
          </a:p>
        </p:txBody>
      </p:sp>
      <p:sp>
        <p:nvSpPr>
          <p:cNvPr id="4" name="face"/>
          <p:cNvSpPr/>
          <p:nvPr/>
        </p:nvSpPr>
        <p:spPr>
          <a:xfrm>
            <a:off x="7909560" y="2240280"/>
            <a:ext cx="1371600" cy="1691640"/>
          </a:xfrm>
          <a:prstGeom prst="ellipse">
            <a:avLst/>
          </a:prstGeom>
          <a:solidFill>
            <a:srgbClr val="F1D3B8"/>
          </a:solidFill>
          <a:ln/>
        </p:spPr>
      </p:sp>
      <p:sp>
        <p:nvSpPr>
          <p:cNvPr id="5" name="Shape 3"/>
          <p:cNvSpPr/>
          <p:nvPr/>
        </p:nvSpPr>
        <p:spPr>
          <a:xfrm>
            <a:off x="8247888" y="2788920"/>
            <a:ext cx="164592" cy="164592"/>
          </a:xfrm>
          <a:prstGeom prst="ellipse">
            <a:avLst/>
          </a:prstGeom>
          <a:solidFill>
            <a:schemeClr val="tx1"/>
          </a:solidFill>
          <a:ln/>
        </p:spPr>
      </p:sp>
      <p:sp>
        <p:nvSpPr>
          <p:cNvPr id="6" name="Shape 4"/>
          <p:cNvSpPr/>
          <p:nvPr/>
        </p:nvSpPr>
        <p:spPr>
          <a:xfrm>
            <a:off x="8778240" y="2788920"/>
            <a:ext cx="164592" cy="164592"/>
          </a:xfrm>
          <a:prstGeom prst="ellipse">
            <a:avLst/>
          </a:prstGeom>
          <a:solidFill>
            <a:schemeClr val="tx1"/>
          </a:solidFill>
          <a:ln/>
        </p:spPr>
      </p:sp>
      <p:sp>
        <p:nvSpPr>
          <p:cNvPr id="7" name="mask"/>
          <p:cNvSpPr/>
          <p:nvPr/>
        </p:nvSpPr>
        <p:spPr>
          <a:xfrm>
            <a:off x="8001000" y="3108960"/>
            <a:ext cx="1188720" cy="685800"/>
          </a:xfrm>
          <a:prstGeom prst="roundRect">
            <a:avLst>
              <a:gd name="adj" fmla="val 26667"/>
            </a:avLst>
          </a:prstGeom>
          <a:solidFill>
            <a:srgbClr val="CFE8F3"/>
          </a:solidFill>
          <a:ln w="12700">
            <a:solidFill>
              <a:srgbClr val="9CC9DD"/>
            </a:solidFill>
            <a:prstDash val="solid"/>
          </a:ln>
        </p:spPr>
      </p:sp>
      <p:sp>
        <p:nvSpPr>
          <p:cNvPr id="8" name="bounding box"/>
          <p:cNvSpPr/>
          <p:nvPr/>
        </p:nvSpPr>
        <p:spPr>
          <a:xfrm>
            <a:off x="7680960" y="2011680"/>
            <a:ext cx="1828800" cy="2148840"/>
          </a:xfrm>
          <a:prstGeom prst="rect">
            <a:avLst/>
          </a:prstGeom>
          <a:ln w="38100">
            <a:solidFill>
              <a:schemeClr val="accent2"/>
            </a:solidFill>
            <a:prstDash val="solid"/>
          </a:ln>
        </p:spPr>
      </p:sp>
      <p:sp>
        <p:nvSpPr>
          <p:cNvPr id="9" name="Shape 7"/>
          <p:cNvSpPr/>
          <p:nvPr/>
        </p:nvSpPr>
        <p:spPr>
          <a:xfrm>
            <a:off x="7680960" y="1600200"/>
            <a:ext cx="1828800" cy="411480"/>
          </a:xfrm>
          <a:prstGeom prst="rect">
            <a:avLst/>
          </a:prstGeom>
          <a:solidFill>
            <a:schemeClr val="accent2"/>
          </a:solidFill>
          <a:ln/>
        </p:spPr>
      </p:sp>
      <p:sp>
        <p:nvSpPr>
          <p:cNvPr id="10" name="Text 8"/>
          <p:cNvSpPr txBox="1"/>
          <p:nvPr/>
        </p:nvSpPr>
        <p:spPr>
          <a:xfrm>
            <a:off x="7680960" y="160020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Mask: 99.8%</a:t>
            </a:r>
            <a:endParaRPr lang="en-US" sz="1400" dirty="0"/>
          </a:p>
        </p:txBody>
      </p:sp>
      <p:sp>
        <p:nvSpPr>
          <p:cNvPr id="11" name="face"/>
          <p:cNvSpPr/>
          <p:nvPr/>
        </p:nvSpPr>
        <p:spPr>
          <a:xfrm>
            <a:off x="10012680" y="2240280"/>
            <a:ext cx="1371600" cy="1691640"/>
          </a:xfrm>
          <a:prstGeom prst="ellipse">
            <a:avLst/>
          </a:prstGeom>
          <a:solidFill>
            <a:srgbClr val="F1D3B8"/>
          </a:solidFill>
          <a:ln/>
        </p:spPr>
      </p:sp>
      <p:sp>
        <p:nvSpPr>
          <p:cNvPr id="12" name="Shape 10"/>
          <p:cNvSpPr/>
          <p:nvPr/>
        </p:nvSpPr>
        <p:spPr>
          <a:xfrm>
            <a:off x="10351008" y="2788920"/>
            <a:ext cx="164592" cy="164592"/>
          </a:xfrm>
          <a:prstGeom prst="ellipse">
            <a:avLst/>
          </a:prstGeom>
          <a:solidFill>
            <a:schemeClr val="tx1"/>
          </a:solidFill>
          <a:ln/>
        </p:spPr>
      </p:sp>
      <p:sp>
        <p:nvSpPr>
          <p:cNvPr id="13" name="Shape 11"/>
          <p:cNvSpPr/>
          <p:nvPr/>
        </p:nvSpPr>
        <p:spPr>
          <a:xfrm>
            <a:off x="10881360" y="2788920"/>
            <a:ext cx="164592" cy="164592"/>
          </a:xfrm>
          <a:prstGeom prst="ellipse">
            <a:avLst/>
          </a:prstGeom>
          <a:solidFill>
            <a:schemeClr val="tx1"/>
          </a:solidFill>
          <a:ln/>
        </p:spPr>
      </p:sp>
      <p:sp>
        <p:nvSpPr>
          <p:cNvPr id="14" name="Shape 12"/>
          <p:cNvSpPr/>
          <p:nvPr/>
        </p:nvSpPr>
        <p:spPr>
          <a:xfrm>
            <a:off x="10424160" y="3063240"/>
            <a:ext cx="548640" cy="457200"/>
          </a:xfrm>
          <a:prstGeom prst="arc">
            <a:avLst>
              <a:gd name="adj1" fmla="val 1200000"/>
              <a:gd name="adj2" fmla="val 9600000"/>
            </a:avLst>
          </a:prstGeom>
          <a:ln w="25400">
            <a:solidFill>
              <a:schemeClr val="tx1"/>
            </a:solidFill>
            <a:prstDash val="solid"/>
          </a:ln>
        </p:spPr>
      </p:sp>
      <p:sp>
        <p:nvSpPr>
          <p:cNvPr id="15" name="bounding box"/>
          <p:cNvSpPr/>
          <p:nvPr/>
        </p:nvSpPr>
        <p:spPr>
          <a:xfrm>
            <a:off x="9784080" y="2011680"/>
            <a:ext cx="1828800" cy="2148840"/>
          </a:xfrm>
          <a:prstGeom prst="rect">
            <a:avLst/>
          </a:prstGeom>
          <a:ln w="38100">
            <a:solidFill>
              <a:schemeClr val="accent3"/>
            </a:solidFill>
            <a:prstDash val="solid"/>
          </a:ln>
        </p:spPr>
      </p:sp>
      <p:sp>
        <p:nvSpPr>
          <p:cNvPr id="16" name="Shape 14"/>
          <p:cNvSpPr/>
          <p:nvPr/>
        </p:nvSpPr>
        <p:spPr>
          <a:xfrm>
            <a:off x="9784080" y="1600200"/>
            <a:ext cx="1828800" cy="411480"/>
          </a:xfrm>
          <a:prstGeom prst="rect">
            <a:avLst/>
          </a:prstGeom>
          <a:solidFill>
            <a:schemeClr val="accent3"/>
          </a:solidFill>
          <a:ln/>
        </p:spPr>
      </p:sp>
      <p:sp>
        <p:nvSpPr>
          <p:cNvPr id="17" name="Text 15"/>
          <p:cNvSpPr txBox="1"/>
          <p:nvPr/>
        </p:nvSpPr>
        <p:spPr>
          <a:xfrm>
            <a:off x="9784080" y="160020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No Mask: 99.5%</a:t>
            </a:r>
            <a:endParaRPr lang="en-US" sz="1400" dirty="0"/>
          </a:p>
        </p:txBody>
      </p:sp>
      <p:sp>
        <p:nvSpPr>
          <p:cNvPr id="18" name="Text 16"/>
          <p:cNvSpPr txBox="1"/>
          <p:nvPr/>
        </p:nvSpPr>
        <p:spPr>
          <a:xfrm>
            <a:off x="7589520" y="4434840"/>
            <a:ext cx="4114800" cy="274320"/>
          </a:xfrm>
          <a:prstGeom prst="rect">
            <a:avLst/>
          </a:prstGeom>
          <a:noFill/>
          <a:ln/>
        </p:spPr>
        <p:txBody>
          <a:bodyPr wrap="square" lIns="0" tIns="0" rIns="0" bIns="0" rtlCol="0" anchor="t"/>
          <a:lstStyle/>
          <a:p>
            <a:pPr algn="ctr" indent="0" marL="0">
              <a:buNone/>
            </a:pPr>
            <a:r>
              <a:rPr lang="en-US" sz="1100" i="1" dirty="0">
                <a:solidFill>
                  <a:schemeClr val="bg2"/>
                </a:solidFill>
              </a:rPr>
              <a:t>Illustration of the program's output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Why automate mask checks?</a:t>
            </a:r>
            <a:endParaRPr lang="en-US" sz="3200" dirty="0"/>
          </a:p>
        </p:txBody>
      </p:sp>
      <p:sp>
        <p:nvSpPr>
          <p:cNvPr id="3" name="badge 1"/>
          <p:cNvSpPr/>
          <p:nvPr/>
        </p:nvSpPr>
        <p:spPr>
          <a:xfrm>
            <a:off x="548640" y="1463040"/>
            <a:ext cx="502920" cy="502920"/>
          </a:xfrm>
          <a:prstGeom prst="ellipse">
            <a:avLst/>
          </a:prstGeom>
          <a:solidFill>
            <a:schemeClr val="accent1"/>
          </a:solidFill>
          <a:ln/>
        </p:spPr>
      </p:sp>
      <p:sp>
        <p:nvSpPr>
          <p:cNvPr id="4" name="Text 2"/>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80160" y="1417320"/>
            <a:ext cx="5120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Manual checking doesn't scale</a:t>
            </a:r>
            <a:endParaRPr lang="en-US" sz="2000" dirty="0"/>
          </a:p>
        </p:txBody>
      </p:sp>
      <p:sp>
        <p:nvSpPr>
          <p:cNvPr id="6" name="Text 4"/>
          <p:cNvSpPr txBox="1"/>
          <p:nvPr/>
        </p:nvSpPr>
        <p:spPr>
          <a:xfrm>
            <a:off x="1280160" y="1874520"/>
            <a:ext cx="5120640" cy="731520"/>
          </a:xfrm>
          <a:prstGeom prst="rect">
            <a:avLst/>
          </a:prstGeom>
          <a:noFill/>
          <a:ln/>
        </p:spPr>
        <p:txBody>
          <a:bodyPr wrap="square" lIns="0" tIns="0" rIns="0" bIns="0" rtlCol="0" anchor="t"/>
          <a:lstStyle/>
          <a:p>
            <a:pPr indent="0" marL="0">
              <a:buNone/>
            </a:pPr>
            <a:r>
              <a:rPr lang="en-US" sz="1500" dirty="0">
                <a:solidFill>
                  <a:schemeClr val="tx2"/>
                </a:solidFill>
              </a:rPr>
              <a:t>A guard at the door can't watch every camera or every person all day.</a:t>
            </a:r>
            <a:endParaRPr lang="en-US" sz="1500" dirty="0"/>
          </a:p>
        </p:txBody>
      </p:sp>
      <p:sp>
        <p:nvSpPr>
          <p:cNvPr id="7" name="badge 2"/>
          <p:cNvSpPr/>
          <p:nvPr/>
        </p:nvSpPr>
        <p:spPr>
          <a:xfrm>
            <a:off x="548640" y="2926080"/>
            <a:ext cx="502920" cy="502920"/>
          </a:xfrm>
          <a:prstGeom prst="ellipse">
            <a:avLst/>
          </a:prstGeom>
          <a:solidFill>
            <a:schemeClr val="accent1"/>
          </a:solidFill>
          <a:ln/>
        </p:spPr>
      </p:sp>
      <p:sp>
        <p:nvSpPr>
          <p:cNvPr id="8" name="Text 6"/>
          <p:cNvSpPr txBox="1"/>
          <p:nvPr/>
        </p:nvSpPr>
        <p:spPr>
          <a:xfrm>
            <a:off x="548640" y="2926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80160" y="2880360"/>
            <a:ext cx="5120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Needed where people gather</a:t>
            </a:r>
            <a:endParaRPr lang="en-US" sz="2000" dirty="0"/>
          </a:p>
        </p:txBody>
      </p:sp>
      <p:sp>
        <p:nvSpPr>
          <p:cNvPr id="10" name="Text 8"/>
          <p:cNvSpPr txBox="1"/>
          <p:nvPr/>
        </p:nvSpPr>
        <p:spPr>
          <a:xfrm>
            <a:off x="1280160" y="3337560"/>
            <a:ext cx="5120640" cy="731520"/>
          </a:xfrm>
          <a:prstGeom prst="rect">
            <a:avLst/>
          </a:prstGeom>
          <a:noFill/>
          <a:ln/>
        </p:spPr>
        <p:txBody>
          <a:bodyPr wrap="square" lIns="0" tIns="0" rIns="0" bIns="0" rtlCol="0" anchor="t"/>
          <a:lstStyle/>
          <a:p>
            <a:pPr indent="0" marL="0">
              <a:buNone/>
            </a:pPr>
            <a:r>
              <a:rPr lang="en-US" sz="1500" dirty="0">
                <a:solidFill>
                  <a:schemeClr val="tx2"/>
                </a:solidFill>
              </a:rPr>
              <a:t>Hospitals, labs, offices, airports and public transport still enforce mask rules.</a:t>
            </a:r>
            <a:endParaRPr lang="en-US" sz="1500" dirty="0"/>
          </a:p>
        </p:txBody>
      </p:sp>
      <p:sp>
        <p:nvSpPr>
          <p:cNvPr id="11" name="badge 3"/>
          <p:cNvSpPr/>
          <p:nvPr/>
        </p:nvSpPr>
        <p:spPr>
          <a:xfrm>
            <a:off x="548640" y="4389120"/>
            <a:ext cx="502920" cy="502920"/>
          </a:xfrm>
          <a:prstGeom prst="ellipse">
            <a:avLst/>
          </a:prstGeom>
          <a:solidFill>
            <a:schemeClr val="accent1"/>
          </a:solidFill>
          <a:ln/>
        </p:spPr>
      </p:sp>
      <p:sp>
        <p:nvSpPr>
          <p:cNvPr id="12" name="Text 10"/>
          <p:cNvSpPr txBox="1"/>
          <p:nvPr/>
        </p:nvSpPr>
        <p:spPr>
          <a:xfrm>
            <a:off x="548640" y="4389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4343400"/>
            <a:ext cx="5120640"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Cheap hardware is enough</a:t>
            </a:r>
            <a:endParaRPr lang="en-US" sz="2000" dirty="0"/>
          </a:p>
        </p:txBody>
      </p:sp>
      <p:sp>
        <p:nvSpPr>
          <p:cNvPr id="14" name="Text 12"/>
          <p:cNvSpPr txBox="1"/>
          <p:nvPr/>
        </p:nvSpPr>
        <p:spPr>
          <a:xfrm>
            <a:off x="1280160" y="4800600"/>
            <a:ext cx="5120640" cy="731520"/>
          </a:xfrm>
          <a:prstGeom prst="rect">
            <a:avLst/>
          </a:prstGeom>
          <a:noFill/>
          <a:ln/>
        </p:spPr>
        <p:txBody>
          <a:bodyPr wrap="square" lIns="0" tIns="0" rIns="0" bIns="0" rtlCol="0" anchor="t"/>
          <a:lstStyle/>
          <a:p>
            <a:pPr indent="0" marL="0">
              <a:buNone/>
            </a:pPr>
            <a:r>
              <a:rPr lang="en-US" sz="1500" dirty="0">
                <a:solidFill>
                  <a:schemeClr val="tx2"/>
                </a:solidFill>
              </a:rPr>
              <a:t>A normal webcam and a laptop CPU are enough, so no special sensors are needed.</a:t>
            </a:r>
            <a:endParaRPr lang="en-US" sz="1500" dirty="0"/>
          </a:p>
        </p:txBody>
      </p:sp>
      <p:sp>
        <p:nvSpPr>
          <p:cNvPr id="15" name="objective card"/>
          <p:cNvSpPr/>
          <p:nvPr/>
        </p:nvSpPr>
        <p:spPr>
          <a:xfrm>
            <a:off x="6949440" y="1417320"/>
            <a:ext cx="4663440" cy="4343400"/>
          </a:xfrm>
          <a:prstGeom prst="roundRect">
            <a:avLst>
              <a:gd name="adj" fmla="val 1684"/>
            </a:avLst>
          </a:prstGeom>
          <a:solidFill>
            <a:schemeClr val="tx2"/>
          </a:solidFill>
          <a:ln/>
          <a:effectLst>
            <a:outerShdw sx="100000" sy="100000" kx="0" ky="0" algn="bl" rotWithShape="0" blurRad="76200" dist="25400" dir="5400000">
              <a:srgbClr val="000000">
                <a:alpha val="12000"/>
              </a:srgbClr>
            </a:outerShdw>
          </a:effectLst>
        </p:spPr>
      </p:sp>
      <p:sp>
        <p:nvSpPr>
          <p:cNvPr id="16" name="Text 14"/>
          <p:cNvSpPr txBox="1"/>
          <p:nvPr/>
        </p:nvSpPr>
        <p:spPr>
          <a:xfrm>
            <a:off x="7315200" y="1691640"/>
            <a:ext cx="393192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Objective</a:t>
            </a:r>
            <a:endParaRPr lang="en-US" sz="2200" dirty="0"/>
          </a:p>
        </p:txBody>
      </p:sp>
      <p:sp>
        <p:nvSpPr>
          <p:cNvPr id="17" name="Text 15"/>
          <p:cNvSpPr txBox="1"/>
          <p:nvPr/>
        </p:nvSpPr>
        <p:spPr>
          <a:xfrm>
            <a:off x="7315200" y="2240280"/>
            <a:ext cx="3931920" cy="1554480"/>
          </a:xfrm>
          <a:prstGeom prst="rect">
            <a:avLst/>
          </a:prstGeom>
          <a:noFill/>
          <a:ln/>
        </p:spPr>
        <p:txBody>
          <a:bodyPr wrap="square" lIns="0" tIns="0" rIns="0" bIns="0" rtlCol="0" anchor="t"/>
          <a:lstStyle/>
          <a:p>
            <a:pPr indent="0" marL="0">
              <a:buNone/>
            </a:pPr>
            <a:r>
              <a:rPr lang="en-US" sz="1600" dirty="0">
                <a:solidFill>
                  <a:schemeClr val="bg1"/>
                </a:solidFill>
              </a:rPr>
              <a:t>Build an ML system that takes an image or video and, for every face it finds, predicts Mask or No Mask with a confidence score, fast enough for a live webcam.</a:t>
            </a:r>
            <a:endParaRPr lang="en-US" sz="1600" dirty="0"/>
          </a:p>
        </p:txBody>
      </p:sp>
      <p:sp>
        <p:nvSpPr>
          <p:cNvPr id="18" name="input chip"/>
          <p:cNvSpPr/>
          <p:nvPr/>
        </p:nvSpPr>
        <p:spPr>
          <a:xfrm>
            <a:off x="7315200" y="4023360"/>
            <a:ext cx="1737360" cy="1371600"/>
          </a:xfrm>
          <a:prstGeom prst="roundRect">
            <a:avLst>
              <a:gd name="adj" fmla="val 5333"/>
            </a:avLst>
          </a:prstGeom>
          <a:solidFill>
            <a:schemeClr val="accent1"/>
          </a:solidFill>
          <a:ln/>
          <a:effectLst>
            <a:outerShdw sx="100000" sy="100000" kx="0" ky="0" algn="bl" rotWithShape="0" blurRad="76200" dist="25400" dir="5400000">
              <a:srgbClr val="000000">
                <a:alpha val="12000"/>
              </a:srgbClr>
            </a:outerShdw>
          </a:effectLst>
        </p:spPr>
      </p:sp>
      <p:sp>
        <p:nvSpPr>
          <p:cNvPr id="19" name="Text 17"/>
          <p:cNvSpPr txBox="1"/>
          <p:nvPr/>
        </p:nvSpPr>
        <p:spPr>
          <a:xfrm>
            <a:off x="7406640" y="4023360"/>
            <a:ext cx="1554480" cy="1371600"/>
          </a:xfrm>
          <a:prstGeom prst="rect">
            <a:avLst/>
          </a:prstGeom>
          <a:noFill/>
          <a:ln/>
        </p:spPr>
        <p:txBody>
          <a:bodyPr wrap="square" lIns="0" tIns="0" rIns="0" bIns="0" rtlCol="0" anchor="ctr"/>
          <a:lstStyle/>
          <a:p>
            <a:pPr algn="ctr" indent="0" marL="0">
              <a:buNone/>
            </a:pPr>
            <a:r>
              <a:rPr lang="en-US" sz="1400" b="1" dirty="0">
                <a:solidFill>
                  <a:schemeClr val="bg1"/>
                </a:solidFill>
              </a:rPr>
              <a:t>Input</a:t>
            </a:r>
            <a:endParaRPr lang="en-US" sz="1400" dirty="0"/>
          </a:p>
          <a:p>
            <a:pPr algn="ctr" indent="0" marL="0">
              <a:buNone/>
            </a:pPr>
            <a:r>
              <a:rPr lang="en-US" sz="1300" dirty="0">
                <a:solidFill>
                  <a:schemeClr val="bg1"/>
                </a:solidFill>
              </a:rPr>
              <a:t>photo / webcam frame</a:t>
            </a:r>
            <a:endParaRPr lang="en-US" sz="1400" dirty="0"/>
          </a:p>
        </p:txBody>
      </p:sp>
      <p:sp>
        <p:nvSpPr>
          <p:cNvPr id="20" name="Shape 18"/>
          <p:cNvSpPr/>
          <p:nvPr/>
        </p:nvSpPr>
        <p:spPr>
          <a:xfrm>
            <a:off x="9098280" y="4709160"/>
            <a:ext cx="365760" cy="0"/>
          </a:xfrm>
          <a:prstGeom prst="line">
            <a:avLst/>
          </a:prstGeom>
          <a:noFill/>
          <a:ln w="25400">
            <a:solidFill>
              <a:schemeClr val="bg2"/>
            </a:solidFill>
            <a:prstDash val="solid"/>
            <a:tailEnd type="triangle"/>
          </a:ln>
        </p:spPr>
      </p:sp>
      <p:sp>
        <p:nvSpPr>
          <p:cNvPr id="21" name="output chip"/>
          <p:cNvSpPr/>
          <p:nvPr/>
        </p:nvSpPr>
        <p:spPr>
          <a:xfrm>
            <a:off x="9509760" y="4023360"/>
            <a:ext cx="1737360" cy="1371600"/>
          </a:xfrm>
          <a:prstGeom prst="roundRect">
            <a:avLst>
              <a:gd name="adj" fmla="val 5333"/>
            </a:avLst>
          </a:prstGeom>
          <a:solidFill>
            <a:schemeClr val="accent2"/>
          </a:solidFill>
          <a:ln/>
          <a:effectLst>
            <a:outerShdw sx="100000" sy="100000" kx="0" ky="0" algn="bl" rotWithShape="0" blurRad="76200" dist="25400" dir="5400000">
              <a:srgbClr val="000000">
                <a:alpha val="12000"/>
              </a:srgbClr>
            </a:outerShdw>
          </a:effectLst>
        </p:spPr>
      </p:sp>
      <p:sp>
        <p:nvSpPr>
          <p:cNvPr id="22" name="Text 20"/>
          <p:cNvSpPr txBox="1"/>
          <p:nvPr/>
        </p:nvSpPr>
        <p:spPr>
          <a:xfrm>
            <a:off x="9601200" y="4023360"/>
            <a:ext cx="1554480" cy="1371600"/>
          </a:xfrm>
          <a:prstGeom prst="rect">
            <a:avLst/>
          </a:prstGeom>
          <a:noFill/>
          <a:ln/>
        </p:spPr>
        <p:txBody>
          <a:bodyPr wrap="square" lIns="0" tIns="0" rIns="0" bIns="0" rtlCol="0" anchor="ctr"/>
          <a:lstStyle/>
          <a:p>
            <a:pPr algn="ctr" indent="0" marL="0">
              <a:buNone/>
            </a:pPr>
            <a:r>
              <a:rPr lang="en-US" sz="1400" b="1" dirty="0">
                <a:solidFill>
                  <a:schemeClr val="bg1"/>
                </a:solidFill>
              </a:rPr>
              <a:t>Output</a:t>
            </a:r>
            <a:endParaRPr lang="en-US" sz="1400" dirty="0"/>
          </a:p>
          <a:p>
            <a:pPr algn="ctr" indent="0" marL="0">
              <a:buNone/>
            </a:pPr>
            <a:r>
              <a:rPr lang="en-US" sz="1300" dirty="0">
                <a:solidFill>
                  <a:schemeClr val="bg1"/>
                </a:solidFill>
              </a:rPr>
              <a:t>boxes + Mask / No Mask + %</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End-to-end pipeline</a:t>
            </a:r>
            <a:endParaRPr lang="en-US" sz="3200" dirty="0"/>
          </a:p>
        </p:txBody>
      </p:sp>
      <p:sp>
        <p:nvSpPr>
          <p:cNvPr id="3" name="badge 1"/>
          <p:cNvSpPr/>
          <p:nvPr/>
        </p:nvSpPr>
        <p:spPr>
          <a:xfrm>
            <a:off x="1156716" y="1417320"/>
            <a:ext cx="384048" cy="384048"/>
          </a:xfrm>
          <a:prstGeom prst="ellipse">
            <a:avLst/>
          </a:prstGeom>
          <a:solidFill>
            <a:schemeClr val="accent1"/>
          </a:solidFill>
          <a:ln/>
        </p:spPr>
      </p:sp>
      <p:sp>
        <p:nvSpPr>
          <p:cNvPr id="4" name="Text 2"/>
          <p:cNvSpPr txBox="1"/>
          <p:nvPr/>
        </p:nvSpPr>
        <p:spPr>
          <a:xfrm>
            <a:off x="1156716"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Input"/>
          <p:cNvSpPr/>
          <p:nvPr/>
        </p:nvSpPr>
        <p:spPr>
          <a:xfrm>
            <a:off x="548640" y="1920240"/>
            <a:ext cx="1600200" cy="1234440"/>
          </a:xfrm>
          <a:prstGeom prst="roundRect">
            <a:avLst>
              <a:gd name="adj" fmla="val 5926"/>
            </a:avLst>
          </a:prstGeom>
          <a:solidFill>
            <a:schemeClr val="accent5"/>
          </a:solidFill>
          <a:ln/>
          <a:effectLst>
            <a:outerShdw sx="100000" sy="100000" kx="0" ky="0" algn="bl" rotWithShape="0" blurRad="76200" dist="25400" dir="5400000">
              <a:srgbClr val="000000">
                <a:alpha val="12000"/>
              </a:srgbClr>
            </a:outerShdw>
          </a:effectLst>
        </p:spPr>
      </p:sp>
      <p:sp>
        <p:nvSpPr>
          <p:cNvPr id="6" name="Text 4"/>
          <p:cNvSpPr txBox="1"/>
          <p:nvPr/>
        </p:nvSpPr>
        <p:spPr>
          <a:xfrm>
            <a:off x="640080"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Input</a:t>
            </a:r>
            <a:endParaRPr lang="en-US" sz="1400" dirty="0"/>
          </a:p>
          <a:p>
            <a:pPr algn="ctr" indent="0" marL="0">
              <a:buNone/>
            </a:pPr>
            <a:r>
              <a:rPr lang="en-US" sz="1200" dirty="0">
                <a:solidFill>
                  <a:schemeClr val="bg1"/>
                </a:solidFill>
              </a:rPr>
              <a:t>Image file or webcam frame (BGR)</a:t>
            </a:r>
            <a:endParaRPr lang="en-US" sz="1400" dirty="0"/>
          </a:p>
        </p:txBody>
      </p:sp>
      <p:sp>
        <p:nvSpPr>
          <p:cNvPr id="7" name="Shape 5"/>
          <p:cNvSpPr/>
          <p:nvPr/>
        </p:nvSpPr>
        <p:spPr>
          <a:xfrm>
            <a:off x="2176272" y="2532888"/>
            <a:ext cx="237744" cy="0"/>
          </a:xfrm>
          <a:prstGeom prst="line">
            <a:avLst/>
          </a:prstGeom>
          <a:noFill/>
          <a:ln w="25400">
            <a:solidFill>
              <a:schemeClr val="accent6"/>
            </a:solidFill>
            <a:prstDash val="solid"/>
            <a:tailEnd type="triangle"/>
          </a:ln>
        </p:spPr>
      </p:sp>
      <p:sp>
        <p:nvSpPr>
          <p:cNvPr id="8" name="detail 1"/>
          <p:cNvSpPr/>
          <p:nvPr/>
        </p:nvSpPr>
        <p:spPr>
          <a:xfrm>
            <a:off x="548640" y="3337560"/>
            <a:ext cx="1600200" cy="1508760"/>
          </a:xfrm>
          <a:prstGeom prst="roundRect">
            <a:avLst>
              <a:gd name="adj" fmla="val 4848"/>
            </a:avLst>
          </a:prstGeom>
          <a:solidFill>
            <a:schemeClr val="bg2"/>
          </a:solidFill>
          <a:ln/>
        </p:spPr>
      </p:sp>
      <p:sp>
        <p:nvSpPr>
          <p:cNvPr id="9" name="Text 7"/>
          <p:cNvSpPr txBox="1"/>
          <p:nvPr/>
        </p:nvSpPr>
        <p:spPr>
          <a:xfrm>
            <a:off x="658368"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cv2.imread / cv2.VideoCapture reads pixels as a H×W×3 array.</a:t>
            </a:r>
            <a:endParaRPr lang="en-US" sz="1200" dirty="0"/>
          </a:p>
        </p:txBody>
      </p:sp>
      <p:sp>
        <p:nvSpPr>
          <p:cNvPr id="10" name="badge 2"/>
          <p:cNvSpPr/>
          <p:nvPr/>
        </p:nvSpPr>
        <p:spPr>
          <a:xfrm>
            <a:off x="3049524" y="1417320"/>
            <a:ext cx="384048" cy="384048"/>
          </a:xfrm>
          <a:prstGeom prst="ellipse">
            <a:avLst/>
          </a:prstGeom>
          <a:solidFill>
            <a:schemeClr val="accent1"/>
          </a:solidFill>
          <a:ln/>
        </p:spPr>
      </p:sp>
      <p:sp>
        <p:nvSpPr>
          <p:cNvPr id="11" name="Text 9"/>
          <p:cNvSpPr txBox="1"/>
          <p:nvPr/>
        </p:nvSpPr>
        <p:spPr>
          <a:xfrm>
            <a:off x="3049524"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Face detection"/>
          <p:cNvSpPr/>
          <p:nvPr/>
        </p:nvSpPr>
        <p:spPr>
          <a:xfrm>
            <a:off x="2441448" y="1920240"/>
            <a:ext cx="1600200" cy="1234440"/>
          </a:xfrm>
          <a:prstGeom prst="roundRect">
            <a:avLst>
              <a:gd name="adj" fmla="val 5926"/>
            </a:avLst>
          </a:prstGeom>
          <a:solidFill>
            <a:schemeClr val="tx2"/>
          </a:solidFill>
          <a:ln/>
          <a:effectLst>
            <a:outerShdw sx="100000" sy="100000" kx="0" ky="0" algn="bl" rotWithShape="0" blurRad="76200" dist="25400" dir="5400000">
              <a:srgbClr val="000000">
                <a:alpha val="12000"/>
              </a:srgbClr>
            </a:outerShdw>
          </a:effectLst>
        </p:spPr>
      </p:sp>
      <p:sp>
        <p:nvSpPr>
          <p:cNvPr id="13" name="Text 11"/>
          <p:cNvSpPr txBox="1"/>
          <p:nvPr/>
        </p:nvSpPr>
        <p:spPr>
          <a:xfrm>
            <a:off x="2532888"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Face detection</a:t>
            </a:r>
            <a:endParaRPr lang="en-US" sz="1400" dirty="0"/>
          </a:p>
          <a:p>
            <a:pPr algn="ctr" indent="0" marL="0">
              <a:buNone/>
            </a:pPr>
            <a:r>
              <a:rPr lang="en-US" sz="1200" dirty="0">
                <a:solidFill>
                  <a:schemeClr val="bg1"/>
                </a:solidFill>
              </a:rPr>
              <a:t>SSD + ResNet-10</a:t>
            </a:r>
            <a:endParaRPr lang="en-US" sz="1400" dirty="0"/>
          </a:p>
        </p:txBody>
      </p:sp>
      <p:sp>
        <p:nvSpPr>
          <p:cNvPr id="14" name="Shape 12"/>
          <p:cNvSpPr/>
          <p:nvPr/>
        </p:nvSpPr>
        <p:spPr>
          <a:xfrm>
            <a:off x="4069080" y="2532888"/>
            <a:ext cx="237744" cy="0"/>
          </a:xfrm>
          <a:prstGeom prst="line">
            <a:avLst/>
          </a:prstGeom>
          <a:noFill/>
          <a:ln w="25400">
            <a:solidFill>
              <a:schemeClr val="accent6"/>
            </a:solidFill>
            <a:prstDash val="solid"/>
            <a:tailEnd type="triangle"/>
          </a:ln>
        </p:spPr>
      </p:sp>
      <p:sp>
        <p:nvSpPr>
          <p:cNvPr id="15" name="detail 2"/>
          <p:cNvSpPr/>
          <p:nvPr/>
        </p:nvSpPr>
        <p:spPr>
          <a:xfrm>
            <a:off x="2441448" y="3337560"/>
            <a:ext cx="1600200" cy="1508760"/>
          </a:xfrm>
          <a:prstGeom prst="roundRect">
            <a:avLst>
              <a:gd name="adj" fmla="val 4848"/>
            </a:avLst>
          </a:prstGeom>
          <a:solidFill>
            <a:schemeClr val="bg2"/>
          </a:solidFill>
          <a:ln/>
        </p:spPr>
      </p:sp>
      <p:sp>
        <p:nvSpPr>
          <p:cNvPr id="16" name="Text 14"/>
          <p:cNvSpPr txBox="1"/>
          <p:nvPr/>
        </p:nvSpPr>
        <p:spPr>
          <a:xfrm>
            <a:off x="2551176"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OpenCV DNN finds every face and returns a box (x1,y1,x2,y2) with a confidence score.</a:t>
            </a:r>
            <a:endParaRPr lang="en-US" sz="1200" dirty="0"/>
          </a:p>
        </p:txBody>
      </p:sp>
      <p:sp>
        <p:nvSpPr>
          <p:cNvPr id="17" name="badge 3"/>
          <p:cNvSpPr/>
          <p:nvPr/>
        </p:nvSpPr>
        <p:spPr>
          <a:xfrm>
            <a:off x="4942332" y="1417320"/>
            <a:ext cx="384048" cy="384048"/>
          </a:xfrm>
          <a:prstGeom prst="ellipse">
            <a:avLst/>
          </a:prstGeom>
          <a:solidFill>
            <a:schemeClr val="accent1"/>
          </a:solidFill>
          <a:ln/>
        </p:spPr>
      </p:sp>
      <p:sp>
        <p:nvSpPr>
          <p:cNvPr id="18" name="Text 16"/>
          <p:cNvSpPr txBox="1"/>
          <p:nvPr/>
        </p:nvSpPr>
        <p:spPr>
          <a:xfrm>
            <a:off x="4942332"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Crop &amp; preprocess"/>
          <p:cNvSpPr/>
          <p:nvPr/>
        </p:nvSpPr>
        <p:spPr>
          <a:xfrm>
            <a:off x="4334256" y="1920240"/>
            <a:ext cx="1600200" cy="1234440"/>
          </a:xfrm>
          <a:prstGeom prst="roundRect">
            <a:avLst>
              <a:gd name="adj" fmla="val 5926"/>
            </a:avLst>
          </a:prstGeom>
          <a:solidFill>
            <a:schemeClr val="accent1"/>
          </a:solidFill>
          <a:ln/>
          <a:effectLst>
            <a:outerShdw sx="100000" sy="100000" kx="0" ky="0" algn="bl" rotWithShape="0" blurRad="76200" dist="25400" dir="5400000">
              <a:srgbClr val="000000">
                <a:alpha val="12000"/>
              </a:srgbClr>
            </a:outerShdw>
          </a:effectLst>
        </p:spPr>
      </p:sp>
      <p:sp>
        <p:nvSpPr>
          <p:cNvPr id="20" name="Text 18"/>
          <p:cNvSpPr txBox="1"/>
          <p:nvPr/>
        </p:nvSpPr>
        <p:spPr>
          <a:xfrm>
            <a:off x="4425696"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Crop &amp; preprocess</a:t>
            </a:r>
            <a:endParaRPr lang="en-US" sz="1400" dirty="0"/>
          </a:p>
          <a:p>
            <a:pPr algn="ctr" indent="0" marL="0">
              <a:buNone/>
            </a:pPr>
            <a:r>
              <a:rPr lang="en-US" sz="1200" dirty="0">
                <a:solidFill>
                  <a:schemeClr val="bg1"/>
                </a:solidFill>
              </a:rPr>
              <a:t>224×224, range −1…1</a:t>
            </a:r>
            <a:endParaRPr lang="en-US" sz="1400" dirty="0"/>
          </a:p>
        </p:txBody>
      </p:sp>
      <p:sp>
        <p:nvSpPr>
          <p:cNvPr id="21" name="Shape 19"/>
          <p:cNvSpPr/>
          <p:nvPr/>
        </p:nvSpPr>
        <p:spPr>
          <a:xfrm>
            <a:off x="5961888" y="2532888"/>
            <a:ext cx="237744" cy="0"/>
          </a:xfrm>
          <a:prstGeom prst="line">
            <a:avLst/>
          </a:prstGeom>
          <a:noFill/>
          <a:ln w="25400">
            <a:solidFill>
              <a:schemeClr val="accent6"/>
            </a:solidFill>
            <a:prstDash val="solid"/>
            <a:tailEnd type="triangle"/>
          </a:ln>
        </p:spPr>
      </p:sp>
      <p:sp>
        <p:nvSpPr>
          <p:cNvPr id="22" name="detail 3"/>
          <p:cNvSpPr/>
          <p:nvPr/>
        </p:nvSpPr>
        <p:spPr>
          <a:xfrm>
            <a:off x="4334256" y="3337560"/>
            <a:ext cx="1600200" cy="1508760"/>
          </a:xfrm>
          <a:prstGeom prst="roundRect">
            <a:avLst>
              <a:gd name="adj" fmla="val 4848"/>
            </a:avLst>
          </a:prstGeom>
          <a:solidFill>
            <a:schemeClr val="bg2"/>
          </a:solidFill>
          <a:ln/>
        </p:spPr>
      </p:sp>
      <p:sp>
        <p:nvSpPr>
          <p:cNvPr id="23" name="Text 21"/>
          <p:cNvSpPr txBox="1"/>
          <p:nvPr/>
        </p:nvSpPr>
        <p:spPr>
          <a:xfrm>
            <a:off x="4443984"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Each face is cut out, converted BGR→RGB, resized and normalised for MobileNetV2.</a:t>
            </a:r>
            <a:endParaRPr lang="en-US" sz="1200" dirty="0"/>
          </a:p>
        </p:txBody>
      </p:sp>
      <p:sp>
        <p:nvSpPr>
          <p:cNvPr id="24" name="badge 4"/>
          <p:cNvSpPr/>
          <p:nvPr/>
        </p:nvSpPr>
        <p:spPr>
          <a:xfrm>
            <a:off x="6835140" y="1417320"/>
            <a:ext cx="384048" cy="384048"/>
          </a:xfrm>
          <a:prstGeom prst="ellipse">
            <a:avLst/>
          </a:prstGeom>
          <a:solidFill>
            <a:schemeClr val="accent1"/>
          </a:solidFill>
          <a:ln/>
        </p:spPr>
      </p:sp>
      <p:sp>
        <p:nvSpPr>
          <p:cNvPr id="25" name="Text 23"/>
          <p:cNvSpPr txBox="1"/>
          <p:nvPr/>
        </p:nvSpPr>
        <p:spPr>
          <a:xfrm>
            <a:off x="6835140"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CNN classifier"/>
          <p:cNvSpPr/>
          <p:nvPr/>
        </p:nvSpPr>
        <p:spPr>
          <a:xfrm>
            <a:off x="6227064" y="1920240"/>
            <a:ext cx="1600200" cy="1234440"/>
          </a:xfrm>
          <a:prstGeom prst="roundRect">
            <a:avLst>
              <a:gd name="adj" fmla="val 5926"/>
            </a:avLst>
          </a:prstGeom>
          <a:solidFill>
            <a:schemeClr val="accent1"/>
          </a:solidFill>
          <a:ln/>
          <a:effectLst>
            <a:outerShdw sx="100000" sy="100000" kx="0" ky="0" algn="bl" rotWithShape="0" blurRad="76200" dist="25400" dir="5400000">
              <a:srgbClr val="000000">
                <a:alpha val="12000"/>
              </a:srgbClr>
            </a:outerShdw>
          </a:effectLst>
        </p:spPr>
      </p:sp>
      <p:sp>
        <p:nvSpPr>
          <p:cNvPr id="27" name="Text 25"/>
          <p:cNvSpPr txBox="1"/>
          <p:nvPr/>
        </p:nvSpPr>
        <p:spPr>
          <a:xfrm>
            <a:off x="6318504"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CNN classifier</a:t>
            </a:r>
            <a:endParaRPr lang="en-US" sz="1400" dirty="0"/>
          </a:p>
          <a:p>
            <a:pPr algn="ctr" indent="0" marL="0">
              <a:buNone/>
            </a:pPr>
            <a:r>
              <a:rPr lang="en-US" sz="1200" dirty="0">
                <a:solidFill>
                  <a:schemeClr val="bg1"/>
                </a:solidFill>
              </a:rPr>
              <a:t>MobileNetV2 + custom head</a:t>
            </a:r>
            <a:endParaRPr lang="en-US" sz="1400" dirty="0"/>
          </a:p>
        </p:txBody>
      </p:sp>
      <p:sp>
        <p:nvSpPr>
          <p:cNvPr id="28" name="Shape 26"/>
          <p:cNvSpPr/>
          <p:nvPr/>
        </p:nvSpPr>
        <p:spPr>
          <a:xfrm>
            <a:off x="7854696" y="2532888"/>
            <a:ext cx="237744" cy="0"/>
          </a:xfrm>
          <a:prstGeom prst="line">
            <a:avLst/>
          </a:prstGeom>
          <a:noFill/>
          <a:ln w="25400">
            <a:solidFill>
              <a:schemeClr val="accent6"/>
            </a:solidFill>
            <a:prstDash val="solid"/>
            <a:tailEnd type="triangle"/>
          </a:ln>
        </p:spPr>
      </p:sp>
      <p:sp>
        <p:nvSpPr>
          <p:cNvPr id="29" name="detail 4"/>
          <p:cNvSpPr/>
          <p:nvPr/>
        </p:nvSpPr>
        <p:spPr>
          <a:xfrm>
            <a:off x="6227064" y="3337560"/>
            <a:ext cx="1600200" cy="1508760"/>
          </a:xfrm>
          <a:prstGeom prst="roundRect">
            <a:avLst>
              <a:gd name="adj" fmla="val 4848"/>
            </a:avLst>
          </a:prstGeom>
          <a:solidFill>
            <a:schemeClr val="bg2"/>
          </a:solidFill>
          <a:ln/>
        </p:spPr>
      </p:sp>
      <p:sp>
        <p:nvSpPr>
          <p:cNvPr id="30" name="Text 28"/>
          <p:cNvSpPr txBox="1"/>
          <p:nvPr/>
        </p:nvSpPr>
        <p:spPr>
          <a:xfrm>
            <a:off x="6336792"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Extracts 1,280 visual features, then a small dense head maps them to 2 classes.</a:t>
            </a:r>
            <a:endParaRPr lang="en-US" sz="1200" dirty="0"/>
          </a:p>
        </p:txBody>
      </p:sp>
      <p:sp>
        <p:nvSpPr>
          <p:cNvPr id="31" name="badge 5"/>
          <p:cNvSpPr/>
          <p:nvPr/>
        </p:nvSpPr>
        <p:spPr>
          <a:xfrm>
            <a:off x="8727948" y="1417320"/>
            <a:ext cx="384048" cy="384048"/>
          </a:xfrm>
          <a:prstGeom prst="ellipse">
            <a:avLst/>
          </a:prstGeom>
          <a:solidFill>
            <a:schemeClr val="accent1"/>
          </a:solidFill>
          <a:ln/>
        </p:spPr>
      </p:sp>
      <p:sp>
        <p:nvSpPr>
          <p:cNvPr id="32" name="Text 30"/>
          <p:cNvSpPr txBox="1"/>
          <p:nvPr/>
        </p:nvSpPr>
        <p:spPr>
          <a:xfrm>
            <a:off x="8727948"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Softmax"/>
          <p:cNvSpPr/>
          <p:nvPr/>
        </p:nvSpPr>
        <p:spPr>
          <a:xfrm>
            <a:off x="8119872" y="1920240"/>
            <a:ext cx="1600200" cy="1234440"/>
          </a:xfrm>
          <a:prstGeom prst="roundRect">
            <a:avLst>
              <a:gd name="adj" fmla="val 5926"/>
            </a:avLst>
          </a:prstGeom>
          <a:solidFill>
            <a:schemeClr val="accent1"/>
          </a:solidFill>
          <a:ln/>
          <a:effectLst>
            <a:outerShdw sx="100000" sy="100000" kx="0" ky="0" algn="bl" rotWithShape="0" blurRad="76200" dist="25400" dir="5400000">
              <a:srgbClr val="000000">
                <a:alpha val="12000"/>
              </a:srgbClr>
            </a:outerShdw>
          </a:effectLst>
        </p:spPr>
      </p:sp>
      <p:sp>
        <p:nvSpPr>
          <p:cNvPr id="34" name="Text 32"/>
          <p:cNvSpPr txBox="1"/>
          <p:nvPr/>
        </p:nvSpPr>
        <p:spPr>
          <a:xfrm>
            <a:off x="8211312"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Softmax</a:t>
            </a:r>
            <a:endParaRPr lang="en-US" sz="1400" dirty="0"/>
          </a:p>
          <a:p>
            <a:pPr algn="ctr" indent="0" marL="0">
              <a:buNone/>
            </a:pPr>
            <a:r>
              <a:rPr lang="en-US" sz="1200" dirty="0">
                <a:solidFill>
                  <a:schemeClr val="bg1"/>
                </a:solidFill>
              </a:rPr>
              <a:t>P(mask), P(no mask)</a:t>
            </a:r>
            <a:endParaRPr lang="en-US" sz="1400" dirty="0"/>
          </a:p>
        </p:txBody>
      </p:sp>
      <p:sp>
        <p:nvSpPr>
          <p:cNvPr id="35" name="Shape 33"/>
          <p:cNvSpPr/>
          <p:nvPr/>
        </p:nvSpPr>
        <p:spPr>
          <a:xfrm>
            <a:off x="9747504" y="2532888"/>
            <a:ext cx="237744" cy="0"/>
          </a:xfrm>
          <a:prstGeom prst="line">
            <a:avLst/>
          </a:prstGeom>
          <a:noFill/>
          <a:ln w="25400">
            <a:solidFill>
              <a:schemeClr val="accent6"/>
            </a:solidFill>
            <a:prstDash val="solid"/>
            <a:tailEnd type="triangle"/>
          </a:ln>
        </p:spPr>
      </p:sp>
      <p:sp>
        <p:nvSpPr>
          <p:cNvPr id="36" name="detail 5"/>
          <p:cNvSpPr/>
          <p:nvPr/>
        </p:nvSpPr>
        <p:spPr>
          <a:xfrm>
            <a:off x="8119872" y="3337560"/>
            <a:ext cx="1600200" cy="1508760"/>
          </a:xfrm>
          <a:prstGeom prst="roundRect">
            <a:avLst>
              <a:gd name="adj" fmla="val 4848"/>
            </a:avLst>
          </a:prstGeom>
          <a:solidFill>
            <a:schemeClr val="bg2"/>
          </a:solidFill>
          <a:ln/>
        </p:spPr>
      </p:sp>
      <p:sp>
        <p:nvSpPr>
          <p:cNvPr id="37" name="Text 35"/>
          <p:cNvSpPr txBox="1"/>
          <p:nvPr/>
        </p:nvSpPr>
        <p:spPr>
          <a:xfrm>
            <a:off x="8229600"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Two probabilities that sum to 1. The higher one is the prediction.</a:t>
            </a:r>
            <a:endParaRPr lang="en-US" sz="1200" dirty="0"/>
          </a:p>
        </p:txBody>
      </p:sp>
      <p:sp>
        <p:nvSpPr>
          <p:cNvPr id="38" name="badge 6"/>
          <p:cNvSpPr/>
          <p:nvPr/>
        </p:nvSpPr>
        <p:spPr>
          <a:xfrm>
            <a:off x="10620756" y="1417320"/>
            <a:ext cx="384048" cy="384048"/>
          </a:xfrm>
          <a:prstGeom prst="ellipse">
            <a:avLst/>
          </a:prstGeom>
          <a:solidFill>
            <a:schemeClr val="accent1"/>
          </a:solidFill>
          <a:ln/>
        </p:spPr>
      </p:sp>
      <p:sp>
        <p:nvSpPr>
          <p:cNvPr id="39" name="Text 37"/>
          <p:cNvSpPr txBox="1"/>
          <p:nvPr/>
        </p:nvSpPr>
        <p:spPr>
          <a:xfrm>
            <a:off x="10620756"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0" name="Annotate"/>
          <p:cNvSpPr/>
          <p:nvPr/>
        </p:nvSpPr>
        <p:spPr>
          <a:xfrm>
            <a:off x="10012680" y="1920240"/>
            <a:ext cx="1600200" cy="1234440"/>
          </a:xfrm>
          <a:prstGeom prst="roundRect">
            <a:avLst>
              <a:gd name="adj" fmla="val 5926"/>
            </a:avLst>
          </a:prstGeom>
          <a:solidFill>
            <a:schemeClr val="accent2"/>
          </a:solidFill>
          <a:ln/>
          <a:effectLst>
            <a:outerShdw sx="100000" sy="100000" kx="0" ky="0" algn="bl" rotWithShape="0" blurRad="76200" dist="25400" dir="5400000">
              <a:srgbClr val="000000">
                <a:alpha val="12000"/>
              </a:srgbClr>
            </a:outerShdw>
          </a:effectLst>
        </p:spPr>
      </p:sp>
      <p:sp>
        <p:nvSpPr>
          <p:cNvPr id="41" name="Text 39"/>
          <p:cNvSpPr txBox="1"/>
          <p:nvPr/>
        </p:nvSpPr>
        <p:spPr>
          <a:xfrm>
            <a:off x="10104120" y="1920240"/>
            <a:ext cx="1417320" cy="1234440"/>
          </a:xfrm>
          <a:prstGeom prst="rect">
            <a:avLst/>
          </a:prstGeom>
          <a:noFill/>
          <a:ln/>
        </p:spPr>
        <p:txBody>
          <a:bodyPr wrap="square" lIns="0" tIns="0" rIns="0" bIns="0" rtlCol="0" anchor="ctr"/>
          <a:lstStyle/>
          <a:p>
            <a:pPr algn="ctr" indent="0" marL="0">
              <a:buNone/>
            </a:pPr>
            <a:r>
              <a:rPr lang="en-US" sz="1400" b="1" dirty="0">
                <a:solidFill>
                  <a:schemeClr val="bg1"/>
                </a:solidFill>
              </a:rPr>
              <a:t>Annotate</a:t>
            </a:r>
            <a:endParaRPr lang="en-US" sz="1400" dirty="0"/>
          </a:p>
          <a:p>
            <a:pPr algn="ctr" indent="0" marL="0">
              <a:buNone/>
            </a:pPr>
            <a:r>
              <a:rPr lang="en-US" sz="1200" dirty="0">
                <a:solidFill>
                  <a:schemeClr val="bg1"/>
                </a:solidFill>
              </a:rPr>
              <a:t>Box + label + %</a:t>
            </a:r>
            <a:endParaRPr lang="en-US" sz="1400" dirty="0"/>
          </a:p>
        </p:txBody>
      </p:sp>
      <p:sp>
        <p:nvSpPr>
          <p:cNvPr id="42" name="detail 6"/>
          <p:cNvSpPr/>
          <p:nvPr/>
        </p:nvSpPr>
        <p:spPr>
          <a:xfrm>
            <a:off x="10012680" y="3337560"/>
            <a:ext cx="1600200" cy="1508760"/>
          </a:xfrm>
          <a:prstGeom prst="roundRect">
            <a:avLst>
              <a:gd name="adj" fmla="val 4848"/>
            </a:avLst>
          </a:prstGeom>
          <a:solidFill>
            <a:schemeClr val="bg2"/>
          </a:solidFill>
          <a:ln/>
        </p:spPr>
      </p:sp>
      <p:sp>
        <p:nvSpPr>
          <p:cNvPr id="43" name="Text 41"/>
          <p:cNvSpPr txBox="1"/>
          <p:nvPr/>
        </p:nvSpPr>
        <p:spPr>
          <a:xfrm>
            <a:off x="10122408" y="3429000"/>
            <a:ext cx="1380744" cy="1325880"/>
          </a:xfrm>
          <a:prstGeom prst="rect">
            <a:avLst/>
          </a:prstGeom>
          <a:noFill/>
          <a:ln/>
        </p:spPr>
        <p:txBody>
          <a:bodyPr wrap="square" lIns="0" tIns="0" rIns="0" bIns="0" rtlCol="0" anchor="t"/>
          <a:lstStyle/>
          <a:p>
            <a:pPr indent="0" marL="0">
              <a:buNone/>
            </a:pPr>
            <a:r>
              <a:rPr lang="en-US" sz="1200" dirty="0">
                <a:solidFill>
                  <a:schemeClr val="tx1"/>
                </a:solidFill>
              </a:rPr>
              <a:t>Green box for Mask, red for No Mask, drawn back on the original frame.</a:t>
            </a:r>
            <a:endParaRPr lang="en-US" sz="1200" dirty="0"/>
          </a:p>
        </p:txBody>
      </p:sp>
      <p:sp>
        <p:nvSpPr>
          <p:cNvPr id="44" name="Shape 42"/>
          <p:cNvSpPr/>
          <p:nvPr/>
        </p:nvSpPr>
        <p:spPr>
          <a:xfrm>
            <a:off x="548640" y="5120640"/>
            <a:ext cx="3493008" cy="0"/>
          </a:xfrm>
          <a:prstGeom prst="line">
            <a:avLst/>
          </a:prstGeom>
          <a:noFill/>
          <a:ln w="38100">
            <a:solidFill>
              <a:schemeClr val="tx2"/>
            </a:solidFill>
            <a:prstDash val="solid"/>
          </a:ln>
        </p:spPr>
      </p:sp>
      <p:sp>
        <p:nvSpPr>
          <p:cNvPr id="45" name="Text 43"/>
          <p:cNvSpPr txBox="1"/>
          <p:nvPr/>
        </p:nvSpPr>
        <p:spPr>
          <a:xfrm>
            <a:off x="548640" y="5230368"/>
            <a:ext cx="3493008" cy="320040"/>
          </a:xfrm>
          <a:prstGeom prst="rect">
            <a:avLst/>
          </a:prstGeom>
          <a:noFill/>
          <a:ln/>
        </p:spPr>
        <p:txBody>
          <a:bodyPr wrap="square" lIns="0" tIns="0" rIns="0" bIns="0" rtlCol="0" anchor="t"/>
          <a:lstStyle/>
          <a:p>
            <a:pPr algn="ctr" indent="0" marL="0">
              <a:buNone/>
            </a:pPr>
            <a:r>
              <a:rPr lang="en-US" sz="1300" b="1" dirty="0">
                <a:solidFill>
                  <a:schemeClr val="tx2"/>
                </a:solidFill>
              </a:rPr>
              <a:t>Stage A: Face detection (OpenCV)</a:t>
            </a:r>
            <a:endParaRPr lang="en-US" sz="1300" dirty="0"/>
          </a:p>
        </p:txBody>
      </p:sp>
      <p:sp>
        <p:nvSpPr>
          <p:cNvPr id="46" name="Shape 44"/>
          <p:cNvSpPr/>
          <p:nvPr/>
        </p:nvSpPr>
        <p:spPr>
          <a:xfrm>
            <a:off x="4334256" y="5120640"/>
            <a:ext cx="5385816" cy="0"/>
          </a:xfrm>
          <a:prstGeom prst="line">
            <a:avLst/>
          </a:prstGeom>
          <a:noFill/>
          <a:ln w="38100">
            <a:solidFill>
              <a:schemeClr val="accent1"/>
            </a:solidFill>
            <a:prstDash val="solid"/>
          </a:ln>
        </p:spPr>
      </p:sp>
      <p:sp>
        <p:nvSpPr>
          <p:cNvPr id="47" name="Text 45"/>
          <p:cNvSpPr txBox="1"/>
          <p:nvPr/>
        </p:nvSpPr>
        <p:spPr>
          <a:xfrm>
            <a:off x="4334256" y="5230368"/>
            <a:ext cx="5385816" cy="320040"/>
          </a:xfrm>
          <a:prstGeom prst="rect">
            <a:avLst/>
          </a:prstGeom>
          <a:noFill/>
          <a:ln/>
        </p:spPr>
        <p:txBody>
          <a:bodyPr wrap="square" lIns="0" tIns="0" rIns="0" bIns="0" rtlCol="0" anchor="t"/>
          <a:lstStyle/>
          <a:p>
            <a:pPr algn="ctr" indent="0" marL="0">
              <a:buNone/>
            </a:pPr>
            <a:r>
              <a:rPr lang="en-US" sz="1300" b="1" dirty="0">
                <a:solidFill>
                  <a:schemeClr val="accent1"/>
                </a:solidFill>
              </a:rPr>
              <a:t>Stage B: Mask classification (TensorFlow / Keras)</a:t>
            </a:r>
            <a:endParaRPr lang="en-US" sz="1300" dirty="0"/>
          </a:p>
        </p:txBody>
      </p:sp>
      <p:sp>
        <p:nvSpPr>
          <p:cNvPr id="48" name="Shape 46"/>
          <p:cNvSpPr/>
          <p:nvPr/>
        </p:nvSpPr>
        <p:spPr>
          <a:xfrm>
            <a:off x="10012680" y="5120640"/>
            <a:ext cx="1600200" cy="0"/>
          </a:xfrm>
          <a:prstGeom prst="line">
            <a:avLst/>
          </a:prstGeom>
          <a:noFill/>
          <a:ln w="38100">
            <a:solidFill>
              <a:schemeClr val="accent2"/>
            </a:solidFill>
            <a:prstDash val="solid"/>
          </a:ln>
        </p:spPr>
      </p:sp>
      <p:sp>
        <p:nvSpPr>
          <p:cNvPr id="49" name="Text 47"/>
          <p:cNvSpPr txBox="1"/>
          <p:nvPr/>
        </p:nvSpPr>
        <p:spPr>
          <a:xfrm>
            <a:off x="10012680" y="5230368"/>
            <a:ext cx="1600200" cy="320040"/>
          </a:xfrm>
          <a:prstGeom prst="rect">
            <a:avLst/>
          </a:prstGeom>
          <a:noFill/>
          <a:ln/>
        </p:spPr>
        <p:txBody>
          <a:bodyPr wrap="square" lIns="0" tIns="0" rIns="0" bIns="0" rtlCol="0" anchor="t"/>
          <a:lstStyle/>
          <a:p>
            <a:pPr algn="ctr" indent="0" marL="0">
              <a:buNone/>
            </a:pPr>
            <a:r>
              <a:rPr lang="en-US" sz="1300" b="1" dirty="0">
                <a:solidFill>
                  <a:schemeClr val="accent2"/>
                </a:solidFill>
              </a:rPr>
              <a:t>Result</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Dataset: 4,092 labelled face images</a:t>
            </a:r>
            <a:endParaRPr lang="en-US" sz="3200" dirty="0"/>
          </a:p>
        </p:txBody>
      </p:sp>
      <p:sp>
        <p:nvSpPr>
          <p:cNvPr id="3" name="Text 1"/>
          <p:cNvSpPr txBox="1"/>
          <p:nvPr/>
        </p:nvSpPr>
        <p:spPr>
          <a:xfrm>
            <a:off x="548640" y="1371600"/>
            <a:ext cx="329184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2,162</a:t>
            </a:r>
            <a:endParaRPr lang="en-US" sz="4000" dirty="0"/>
          </a:p>
        </p:txBody>
      </p:sp>
      <p:sp>
        <p:nvSpPr>
          <p:cNvPr id="4" name="Text 2"/>
          <p:cNvSpPr txBox="1"/>
          <p:nvPr/>
        </p:nvSpPr>
        <p:spPr>
          <a:xfrm>
            <a:off x="548640" y="2011680"/>
            <a:ext cx="3291840" cy="320040"/>
          </a:xfrm>
          <a:prstGeom prst="rect">
            <a:avLst/>
          </a:prstGeom>
          <a:noFill/>
          <a:ln/>
        </p:spPr>
        <p:txBody>
          <a:bodyPr wrap="square" lIns="0" tIns="0" rIns="0" bIns="0" rtlCol="0" anchor="t"/>
          <a:lstStyle/>
          <a:p>
            <a:pPr indent="0" marL="0">
              <a:buNone/>
            </a:pPr>
            <a:r>
              <a:rPr lang="en-US" sz="1400" dirty="0">
                <a:solidFill>
                  <a:schemeClr val="tx2"/>
                </a:solidFill>
              </a:rPr>
              <a:t>images WITH a mask</a:t>
            </a:r>
            <a:endParaRPr lang="en-US" sz="1400" dirty="0"/>
          </a:p>
        </p:txBody>
      </p:sp>
      <p:sp>
        <p:nvSpPr>
          <p:cNvPr id="5" name="Text 3"/>
          <p:cNvSpPr txBox="1"/>
          <p:nvPr/>
        </p:nvSpPr>
        <p:spPr>
          <a:xfrm>
            <a:off x="548640" y="2514600"/>
            <a:ext cx="3291840" cy="64008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1,930</a:t>
            </a:r>
            <a:endParaRPr lang="en-US" sz="4000" dirty="0"/>
          </a:p>
        </p:txBody>
      </p:sp>
      <p:sp>
        <p:nvSpPr>
          <p:cNvPr id="6" name="Text 4"/>
          <p:cNvSpPr txBox="1"/>
          <p:nvPr/>
        </p:nvSpPr>
        <p:spPr>
          <a:xfrm>
            <a:off x="548640" y="3154680"/>
            <a:ext cx="3291840" cy="320040"/>
          </a:xfrm>
          <a:prstGeom prst="rect">
            <a:avLst/>
          </a:prstGeom>
          <a:noFill/>
          <a:ln/>
        </p:spPr>
        <p:txBody>
          <a:bodyPr wrap="square" lIns="0" tIns="0" rIns="0" bIns="0" rtlCol="0" anchor="t"/>
          <a:lstStyle/>
          <a:p>
            <a:pPr indent="0" marL="0">
              <a:buNone/>
            </a:pPr>
            <a:r>
              <a:rPr lang="en-US" sz="1400" dirty="0">
                <a:solidFill>
                  <a:schemeClr val="tx2"/>
                </a:solidFill>
              </a:rPr>
              <a:t>images WITHOUT a mask</a:t>
            </a:r>
            <a:endParaRPr lang="en-US" sz="1400" dirty="0"/>
          </a:p>
        </p:txBody>
      </p:sp>
      <p:sp>
        <p:nvSpPr>
          <p:cNvPr id="7" name="Text 5"/>
          <p:cNvSpPr txBox="1"/>
          <p:nvPr/>
        </p:nvSpPr>
        <p:spPr>
          <a:xfrm>
            <a:off x="548640" y="3657600"/>
            <a:ext cx="3291840" cy="64008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80 / 20</a:t>
            </a:r>
            <a:endParaRPr lang="en-US" sz="4000" dirty="0"/>
          </a:p>
        </p:txBody>
      </p:sp>
      <p:sp>
        <p:nvSpPr>
          <p:cNvPr id="8" name="Text 6"/>
          <p:cNvSpPr txBox="1"/>
          <p:nvPr/>
        </p:nvSpPr>
        <p:spPr>
          <a:xfrm>
            <a:off x="548640" y="4297680"/>
            <a:ext cx="3291840" cy="320040"/>
          </a:xfrm>
          <a:prstGeom prst="rect">
            <a:avLst/>
          </a:prstGeom>
          <a:noFill/>
          <a:ln/>
        </p:spPr>
        <p:txBody>
          <a:bodyPr wrap="square" lIns="0" tIns="0" rIns="0" bIns="0" rtlCol="0" anchor="t"/>
          <a:lstStyle/>
          <a:p>
            <a:pPr indent="0" marL="0">
              <a:buNone/>
            </a:pPr>
            <a:r>
              <a:rPr lang="en-US" sz="1400" dirty="0">
                <a:solidFill>
                  <a:schemeClr val="tx2"/>
                </a:solidFill>
              </a:rPr>
              <a:t>stratified train / test split</a:t>
            </a:r>
            <a:endParaRPr lang="en-US" sz="1400" dirty="0"/>
          </a:p>
        </p:txBody>
      </p:sp>
      <p:sp>
        <p:nvSpPr>
          <p:cNvPr id="9" name="Text 7"/>
          <p:cNvSpPr txBox="1"/>
          <p:nvPr/>
        </p:nvSpPr>
        <p:spPr>
          <a:xfrm>
            <a:off x="548640" y="4800600"/>
            <a:ext cx="3291840" cy="640080"/>
          </a:xfrm>
          <a:prstGeom prst="rect">
            <a:avLst/>
          </a:prstGeom>
          <a:noFill/>
          <a:ln/>
        </p:spPr>
        <p:txBody>
          <a:bodyPr wrap="square" lIns="0" tIns="0" rIns="0" bIns="0" rtlCol="0" anchor="t"/>
          <a:lstStyle/>
          <a:p>
            <a:pPr indent="0" marL="0">
              <a:buNone/>
            </a:pPr>
            <a:r>
              <a:rPr lang="en-US" sz="4000" b="1" dirty="0">
                <a:solidFill>
                  <a:schemeClr val="tx2"/>
                </a:solidFill>
                <a:latin typeface="Arial" pitchFamily="34" charset="0"/>
                <a:ea typeface="Arial" pitchFamily="34" charset="-122"/>
                <a:cs typeface="Arial" pitchFamily="34" charset="-120"/>
              </a:rPr>
              <a:t>819</a:t>
            </a:r>
            <a:endParaRPr lang="en-US" sz="4000" dirty="0"/>
          </a:p>
        </p:txBody>
      </p:sp>
      <p:sp>
        <p:nvSpPr>
          <p:cNvPr id="10" name="Text 8"/>
          <p:cNvSpPr txBox="1"/>
          <p:nvPr/>
        </p:nvSpPr>
        <p:spPr>
          <a:xfrm>
            <a:off x="548640" y="5440680"/>
            <a:ext cx="3291840" cy="320040"/>
          </a:xfrm>
          <a:prstGeom prst="rect">
            <a:avLst/>
          </a:prstGeom>
          <a:noFill/>
          <a:ln/>
        </p:spPr>
        <p:txBody>
          <a:bodyPr wrap="square" lIns="0" tIns="0" rIns="0" bIns="0" rtlCol="0" anchor="t"/>
          <a:lstStyle/>
          <a:p>
            <a:pPr indent="0" marL="0">
              <a:buNone/>
            </a:pPr>
            <a:r>
              <a:rPr lang="en-US" sz="1400" dirty="0">
                <a:solidFill>
                  <a:schemeClr val="tx2"/>
                </a:solidFill>
              </a:rPr>
              <a:t>held-out test images</a:t>
            </a:r>
            <a:endParaRPr lang="en-US" sz="1400" dirty="0"/>
          </a:p>
        </p:txBody>
      </p:sp>
      <p:sp>
        <p:nvSpPr>
          <p:cNvPr id="11" name="Text 9"/>
          <p:cNvSpPr txBox="1"/>
          <p:nvPr/>
        </p:nvSpPr>
        <p:spPr>
          <a:xfrm>
            <a:off x="4206240" y="1325880"/>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With mask</a:t>
            </a:r>
            <a:endParaRPr lang="en-US" sz="1600" dirty="0"/>
          </a:p>
        </p:txBody>
      </p:sp>
      <p:pic>
        <p:nvPicPr>
          <p:cNvPr id="12" name="Image 0" descr="Four sample training images of people wearing masks">    </p:cNvPr>
          <p:cNvPicPr>
            <a:picLocks noChangeAspect="1"/>
          </p:cNvPicPr>
          <p:nvPr/>
        </p:nvPicPr>
        <p:blipFill>
          <a:blip r:embed="rId1"/>
          <a:stretch>
            <a:fillRect/>
          </a:stretch>
        </p:blipFill>
        <p:spPr>
          <a:xfrm>
            <a:off x="4206240" y="1691640"/>
            <a:ext cx="7406640" cy="1851660"/>
          </a:xfrm>
          <a:prstGeom prst="rect">
            <a:avLst/>
          </a:prstGeom>
        </p:spPr>
      </p:pic>
      <p:sp>
        <p:nvSpPr>
          <p:cNvPr id="13" name="Text 10"/>
          <p:cNvSpPr txBox="1"/>
          <p:nvPr/>
        </p:nvSpPr>
        <p:spPr>
          <a:xfrm>
            <a:off x="4206240" y="37490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Without mask</a:t>
            </a:r>
            <a:endParaRPr lang="en-US" sz="1600" dirty="0"/>
          </a:p>
        </p:txBody>
      </p:sp>
      <p:pic>
        <p:nvPicPr>
          <p:cNvPr id="14" name="Image 1" descr="Four sample training images of people without masks">    </p:cNvPr>
          <p:cNvPicPr>
            <a:picLocks noChangeAspect="1"/>
          </p:cNvPicPr>
          <p:nvPr/>
        </p:nvPicPr>
        <p:blipFill>
          <a:blip r:embed="rId2"/>
          <a:stretch>
            <a:fillRect/>
          </a:stretch>
        </p:blipFill>
        <p:spPr>
          <a:xfrm>
            <a:off x="4206240" y="4114800"/>
            <a:ext cx="7406640" cy="1851660"/>
          </a:xfrm>
          <a:prstGeom prst="rect">
            <a:avLst/>
          </a:prstGeom>
        </p:spPr>
      </p:pic>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Preprocessing and data augmentation</a:t>
            </a:r>
            <a:endParaRPr lang="en-US" sz="3200" dirty="0"/>
          </a:p>
        </p:txBody>
      </p:sp>
      <p:sp>
        <p:nvSpPr>
          <p:cNvPr id="3" name="prep Read"/>
          <p:cNvSpPr/>
          <p:nvPr/>
        </p:nvSpPr>
        <p:spPr>
          <a:xfrm>
            <a:off x="640080" y="1371600"/>
            <a:ext cx="1920240" cy="960120"/>
          </a:xfrm>
          <a:prstGeom prst="roundRect">
            <a:avLst>
              <a:gd name="adj" fmla="val 7619"/>
            </a:avLst>
          </a:prstGeom>
          <a:solidFill>
            <a:schemeClr val="accent1"/>
          </a:solidFill>
          <a:ln/>
          <a:effectLst>
            <a:outerShdw sx="100000" sy="100000" kx="0" ky="0" algn="bl" rotWithShape="0" blurRad="76200" dist="25400" dir="5400000">
              <a:srgbClr val="000000">
                <a:alpha val="12000"/>
              </a:srgbClr>
            </a:outerShdw>
          </a:effectLst>
        </p:spPr>
      </p:sp>
      <p:sp>
        <p:nvSpPr>
          <p:cNvPr id="4" name="Text 2"/>
          <p:cNvSpPr txBox="1"/>
          <p:nvPr/>
        </p:nvSpPr>
        <p:spPr>
          <a:xfrm>
            <a:off x="731520" y="1371600"/>
            <a:ext cx="1737360" cy="960120"/>
          </a:xfrm>
          <a:prstGeom prst="rect">
            <a:avLst/>
          </a:prstGeom>
          <a:noFill/>
          <a:ln/>
        </p:spPr>
        <p:txBody>
          <a:bodyPr wrap="square" lIns="0" tIns="0" rIns="0" bIns="0" rtlCol="0" anchor="ctr"/>
          <a:lstStyle/>
          <a:p>
            <a:pPr algn="ctr" indent="0" marL="0">
              <a:buNone/>
            </a:pPr>
            <a:r>
              <a:rPr lang="en-US" sz="1400" b="1" dirty="0">
                <a:solidFill>
                  <a:schemeClr val="bg1"/>
                </a:solidFill>
              </a:rPr>
              <a:t>Read</a:t>
            </a:r>
            <a:endParaRPr lang="en-US" sz="1400" dirty="0"/>
          </a:p>
          <a:p>
            <a:pPr algn="ctr" indent="0" marL="0">
              <a:buNone/>
            </a:pPr>
            <a:r>
              <a:rPr lang="en-US" sz="1300" dirty="0">
                <a:solidFill>
                  <a:schemeClr val="bg1"/>
                </a:solidFill>
              </a:rPr>
              <a:t>decode JPG/PNG</a:t>
            </a:r>
            <a:endParaRPr lang="en-US" sz="1400" dirty="0"/>
          </a:p>
        </p:txBody>
      </p:sp>
      <p:sp>
        <p:nvSpPr>
          <p:cNvPr id="5" name="Shape 3"/>
          <p:cNvSpPr/>
          <p:nvPr/>
        </p:nvSpPr>
        <p:spPr>
          <a:xfrm>
            <a:off x="2596896" y="1847088"/>
            <a:ext cx="292608" cy="0"/>
          </a:xfrm>
          <a:prstGeom prst="line">
            <a:avLst/>
          </a:prstGeom>
          <a:noFill/>
          <a:ln w="25400">
            <a:solidFill>
              <a:schemeClr val="accent6"/>
            </a:solidFill>
            <a:prstDash val="solid"/>
            <a:tailEnd type="triangle"/>
          </a:ln>
        </p:spPr>
      </p:sp>
      <p:sp>
        <p:nvSpPr>
          <p:cNvPr id="6" name="prep Resize"/>
          <p:cNvSpPr/>
          <p:nvPr/>
        </p:nvSpPr>
        <p:spPr>
          <a:xfrm>
            <a:off x="2926080" y="1371600"/>
            <a:ext cx="1920240" cy="960120"/>
          </a:xfrm>
          <a:prstGeom prst="roundRect">
            <a:avLst>
              <a:gd name="adj" fmla="val 7619"/>
            </a:avLst>
          </a:prstGeom>
          <a:solidFill>
            <a:schemeClr val="accent1"/>
          </a:solidFill>
          <a:ln/>
          <a:effectLst>
            <a:outerShdw sx="100000" sy="100000" kx="0" ky="0" algn="bl" rotWithShape="0" blurRad="76200" dist="25400" dir="5400000">
              <a:srgbClr val="000000">
                <a:alpha val="12000"/>
              </a:srgbClr>
            </a:outerShdw>
          </a:effectLst>
        </p:spPr>
      </p:sp>
      <p:sp>
        <p:nvSpPr>
          <p:cNvPr id="7" name="Text 5"/>
          <p:cNvSpPr txBox="1"/>
          <p:nvPr/>
        </p:nvSpPr>
        <p:spPr>
          <a:xfrm>
            <a:off x="3017520" y="1371600"/>
            <a:ext cx="1737360" cy="960120"/>
          </a:xfrm>
          <a:prstGeom prst="rect">
            <a:avLst/>
          </a:prstGeom>
          <a:noFill/>
          <a:ln/>
        </p:spPr>
        <p:txBody>
          <a:bodyPr wrap="square" lIns="0" tIns="0" rIns="0" bIns="0" rtlCol="0" anchor="ctr"/>
          <a:lstStyle/>
          <a:p>
            <a:pPr algn="ctr" indent="0" marL="0">
              <a:buNone/>
            </a:pPr>
            <a:r>
              <a:rPr lang="en-US" sz="1400" b="1" dirty="0">
                <a:solidFill>
                  <a:schemeClr val="bg1"/>
                </a:solidFill>
              </a:rPr>
              <a:t>Resize</a:t>
            </a:r>
            <a:endParaRPr lang="en-US" sz="1400" dirty="0"/>
          </a:p>
          <a:p>
            <a:pPr algn="ctr" indent="0" marL="0">
              <a:buNone/>
            </a:pPr>
            <a:r>
              <a:rPr lang="en-US" sz="1300" dirty="0">
                <a:solidFill>
                  <a:schemeClr val="bg1"/>
                </a:solidFill>
              </a:rPr>
              <a:t>224 × 224 × 3</a:t>
            </a:r>
            <a:endParaRPr lang="en-US" sz="1400" dirty="0"/>
          </a:p>
        </p:txBody>
      </p:sp>
      <p:sp>
        <p:nvSpPr>
          <p:cNvPr id="8" name="Shape 6"/>
          <p:cNvSpPr/>
          <p:nvPr/>
        </p:nvSpPr>
        <p:spPr>
          <a:xfrm>
            <a:off x="4882896" y="1847088"/>
            <a:ext cx="292608" cy="0"/>
          </a:xfrm>
          <a:prstGeom prst="line">
            <a:avLst/>
          </a:prstGeom>
          <a:noFill/>
          <a:ln w="25400">
            <a:solidFill>
              <a:schemeClr val="accent6"/>
            </a:solidFill>
            <a:prstDash val="solid"/>
            <a:tailEnd type="triangle"/>
          </a:ln>
        </p:spPr>
      </p:sp>
      <p:sp>
        <p:nvSpPr>
          <p:cNvPr id="9" name="prep Augment"/>
          <p:cNvSpPr/>
          <p:nvPr/>
        </p:nvSpPr>
        <p:spPr>
          <a:xfrm>
            <a:off x="5212080" y="1371600"/>
            <a:ext cx="1920240" cy="960120"/>
          </a:xfrm>
          <a:prstGeom prst="roundRect">
            <a:avLst>
              <a:gd name="adj" fmla="val 7619"/>
            </a:avLst>
          </a:prstGeom>
          <a:solidFill>
            <a:schemeClr val="accent4"/>
          </a:solidFill>
          <a:ln/>
          <a:effectLst>
            <a:outerShdw sx="100000" sy="100000" kx="0" ky="0" algn="bl" rotWithShape="0" blurRad="76200" dist="25400" dir="5400000">
              <a:srgbClr val="000000">
                <a:alpha val="12000"/>
              </a:srgbClr>
            </a:outerShdw>
          </a:effectLst>
        </p:spPr>
      </p:sp>
      <p:sp>
        <p:nvSpPr>
          <p:cNvPr id="10" name="Text 8"/>
          <p:cNvSpPr txBox="1"/>
          <p:nvPr/>
        </p:nvSpPr>
        <p:spPr>
          <a:xfrm>
            <a:off x="5303520" y="1371600"/>
            <a:ext cx="1737360" cy="960120"/>
          </a:xfrm>
          <a:prstGeom prst="rect">
            <a:avLst/>
          </a:prstGeom>
          <a:noFill/>
          <a:ln/>
        </p:spPr>
        <p:txBody>
          <a:bodyPr wrap="square" lIns="0" tIns="0" rIns="0" bIns="0" rtlCol="0" anchor="ctr"/>
          <a:lstStyle/>
          <a:p>
            <a:pPr algn="ctr" indent="0" marL="0">
              <a:buNone/>
            </a:pPr>
            <a:r>
              <a:rPr lang="en-US" sz="1400" b="1" dirty="0">
                <a:solidFill>
                  <a:schemeClr val="tx1"/>
                </a:solidFill>
              </a:rPr>
              <a:t>Augment</a:t>
            </a:r>
            <a:endParaRPr lang="en-US" sz="1400" dirty="0"/>
          </a:p>
          <a:p>
            <a:pPr algn="ctr" indent="0" marL="0">
              <a:buNone/>
            </a:pPr>
            <a:r>
              <a:rPr lang="en-US" sz="1300" dirty="0">
                <a:solidFill>
                  <a:schemeClr val="tx1"/>
                </a:solidFill>
              </a:rPr>
              <a:t>train images only</a:t>
            </a:r>
            <a:endParaRPr lang="en-US" sz="1400" dirty="0"/>
          </a:p>
        </p:txBody>
      </p:sp>
      <p:sp>
        <p:nvSpPr>
          <p:cNvPr id="11" name="Shape 9"/>
          <p:cNvSpPr/>
          <p:nvPr/>
        </p:nvSpPr>
        <p:spPr>
          <a:xfrm>
            <a:off x="7168896" y="1847088"/>
            <a:ext cx="292608" cy="0"/>
          </a:xfrm>
          <a:prstGeom prst="line">
            <a:avLst/>
          </a:prstGeom>
          <a:noFill/>
          <a:ln w="25400">
            <a:solidFill>
              <a:schemeClr val="accent6"/>
            </a:solidFill>
            <a:prstDash val="solid"/>
            <a:tailEnd type="triangle"/>
          </a:ln>
        </p:spPr>
      </p:sp>
      <p:sp>
        <p:nvSpPr>
          <p:cNvPr id="12" name="prep Normalise"/>
          <p:cNvSpPr/>
          <p:nvPr/>
        </p:nvSpPr>
        <p:spPr>
          <a:xfrm>
            <a:off x="7498080" y="1371600"/>
            <a:ext cx="1920240" cy="960120"/>
          </a:xfrm>
          <a:prstGeom prst="roundRect">
            <a:avLst>
              <a:gd name="adj" fmla="val 7619"/>
            </a:avLst>
          </a:prstGeom>
          <a:solidFill>
            <a:schemeClr val="accent1"/>
          </a:solidFill>
          <a:ln/>
          <a:effectLst>
            <a:outerShdw sx="100000" sy="100000" kx="0" ky="0" algn="bl" rotWithShape="0" blurRad="76200" dist="25400" dir="5400000">
              <a:srgbClr val="000000">
                <a:alpha val="12000"/>
              </a:srgbClr>
            </a:outerShdw>
          </a:effectLst>
        </p:spPr>
      </p:sp>
      <p:sp>
        <p:nvSpPr>
          <p:cNvPr id="13" name="Text 11"/>
          <p:cNvSpPr txBox="1"/>
          <p:nvPr/>
        </p:nvSpPr>
        <p:spPr>
          <a:xfrm>
            <a:off x="7589520" y="1371600"/>
            <a:ext cx="1737360" cy="960120"/>
          </a:xfrm>
          <a:prstGeom prst="rect">
            <a:avLst/>
          </a:prstGeom>
          <a:noFill/>
          <a:ln/>
        </p:spPr>
        <p:txBody>
          <a:bodyPr wrap="square" lIns="0" tIns="0" rIns="0" bIns="0" rtlCol="0" anchor="ctr"/>
          <a:lstStyle/>
          <a:p>
            <a:pPr algn="ctr" indent="0" marL="0">
              <a:buNone/>
            </a:pPr>
            <a:r>
              <a:rPr lang="en-US" sz="1400" b="1" dirty="0">
                <a:solidFill>
                  <a:schemeClr val="bg1"/>
                </a:solidFill>
              </a:rPr>
              <a:t>Normalise</a:t>
            </a:r>
            <a:endParaRPr lang="en-US" sz="1400" dirty="0"/>
          </a:p>
          <a:p>
            <a:pPr algn="ctr" indent="0" marL="0">
              <a:buNone/>
            </a:pPr>
            <a:r>
              <a:rPr lang="en-US" sz="1300" dirty="0">
                <a:solidFill>
                  <a:schemeClr val="bg1"/>
                </a:solidFill>
              </a:rPr>
              <a:t>x / 127.5 − 1  →  [-1, 1]</a:t>
            </a:r>
            <a:endParaRPr lang="en-US" sz="1400" dirty="0"/>
          </a:p>
        </p:txBody>
      </p:sp>
      <p:sp>
        <p:nvSpPr>
          <p:cNvPr id="14" name="Shape 12"/>
          <p:cNvSpPr/>
          <p:nvPr/>
        </p:nvSpPr>
        <p:spPr>
          <a:xfrm>
            <a:off x="9454896" y="1847088"/>
            <a:ext cx="292608" cy="0"/>
          </a:xfrm>
          <a:prstGeom prst="line">
            <a:avLst/>
          </a:prstGeom>
          <a:noFill/>
          <a:ln w="25400">
            <a:solidFill>
              <a:schemeClr val="accent6"/>
            </a:solidFill>
            <a:prstDash val="solid"/>
            <a:tailEnd type="triangle"/>
          </a:ln>
        </p:spPr>
      </p:sp>
      <p:sp>
        <p:nvSpPr>
          <p:cNvPr id="15" name="prep Batch"/>
          <p:cNvSpPr/>
          <p:nvPr/>
        </p:nvSpPr>
        <p:spPr>
          <a:xfrm>
            <a:off x="9784080" y="1371600"/>
            <a:ext cx="1920240" cy="960120"/>
          </a:xfrm>
          <a:prstGeom prst="roundRect">
            <a:avLst>
              <a:gd name="adj" fmla="val 7619"/>
            </a:avLst>
          </a:prstGeom>
          <a:solidFill>
            <a:schemeClr val="accent1"/>
          </a:solidFill>
          <a:ln/>
          <a:effectLst>
            <a:outerShdw sx="100000" sy="100000" kx="0" ky="0" algn="bl" rotWithShape="0" blurRad="76200" dist="25400" dir="5400000">
              <a:srgbClr val="000000">
                <a:alpha val="12000"/>
              </a:srgbClr>
            </a:outerShdw>
          </a:effectLst>
        </p:spPr>
      </p:sp>
      <p:sp>
        <p:nvSpPr>
          <p:cNvPr id="16" name="Text 14"/>
          <p:cNvSpPr txBox="1"/>
          <p:nvPr/>
        </p:nvSpPr>
        <p:spPr>
          <a:xfrm>
            <a:off x="9875520" y="1371600"/>
            <a:ext cx="1737360" cy="960120"/>
          </a:xfrm>
          <a:prstGeom prst="rect">
            <a:avLst/>
          </a:prstGeom>
          <a:noFill/>
          <a:ln/>
        </p:spPr>
        <p:txBody>
          <a:bodyPr wrap="square" lIns="0" tIns="0" rIns="0" bIns="0" rtlCol="0" anchor="ctr"/>
          <a:lstStyle/>
          <a:p>
            <a:pPr algn="ctr" indent="0" marL="0">
              <a:buNone/>
            </a:pPr>
            <a:r>
              <a:rPr lang="en-US" sz="1400" b="1" dirty="0">
                <a:solidFill>
                  <a:schemeClr val="bg1"/>
                </a:solidFill>
              </a:rPr>
              <a:t>Batch</a:t>
            </a:r>
            <a:endParaRPr lang="en-US" sz="1400" dirty="0"/>
          </a:p>
          <a:p>
            <a:pPr algn="ctr" indent="0" marL="0">
              <a:buNone/>
            </a:pPr>
            <a:r>
              <a:rPr lang="en-US" sz="1300" dirty="0">
                <a:solidFill>
                  <a:schemeClr val="bg1"/>
                </a:solidFill>
              </a:rPr>
              <a:t>32 images per step</a:t>
            </a:r>
            <a:endParaRPr lang="en-US" sz="1400" dirty="0"/>
          </a:p>
        </p:txBody>
      </p:sp>
      <p:pic>
        <p:nvPicPr>
          <p:cNvPr id="17" name="Image 0" descr="Original augmentation example">    </p:cNvPr>
          <p:cNvPicPr>
            <a:picLocks noChangeAspect="1"/>
          </p:cNvPicPr>
          <p:nvPr/>
        </p:nvPicPr>
        <p:blipFill>
          <a:blip r:embed="rId1"/>
          <a:stretch>
            <a:fillRect/>
          </a:stretch>
        </p:blipFill>
        <p:spPr>
          <a:xfrm>
            <a:off x="929488" y="2743200"/>
            <a:ext cx="1737360" cy="1737360"/>
          </a:xfrm>
          <a:prstGeom prst="rect">
            <a:avLst/>
          </a:prstGeom>
        </p:spPr>
      </p:pic>
      <p:sp>
        <p:nvSpPr>
          <p:cNvPr id="18" name="Text 15"/>
          <p:cNvSpPr txBox="1"/>
          <p:nvPr/>
        </p:nvSpPr>
        <p:spPr>
          <a:xfrm>
            <a:off x="838048" y="4553712"/>
            <a:ext cx="1920240" cy="320040"/>
          </a:xfrm>
          <a:prstGeom prst="rect">
            <a:avLst/>
          </a:prstGeom>
          <a:noFill/>
          <a:ln/>
        </p:spPr>
        <p:txBody>
          <a:bodyPr wrap="square" lIns="0" tIns="0" rIns="0" bIns="0" rtlCol="0" anchor="t"/>
          <a:lstStyle/>
          <a:p>
            <a:pPr algn="ctr" indent="0" marL="0">
              <a:buNone/>
            </a:pPr>
            <a:r>
              <a:rPr lang="en-US" sz="1300" b="1" dirty="0">
                <a:solidFill>
                  <a:schemeClr val="tx2"/>
                </a:solidFill>
              </a:rPr>
              <a:t>Original</a:t>
            </a:r>
            <a:endParaRPr lang="en-US" sz="1300" dirty="0"/>
          </a:p>
        </p:txBody>
      </p:sp>
      <p:pic>
        <p:nvPicPr>
          <p:cNvPr id="19" name="Image 1" descr="Horizontal flip augmentation example">    </p:cNvPr>
          <p:cNvPicPr>
            <a:picLocks noChangeAspect="1"/>
          </p:cNvPicPr>
          <p:nvPr/>
        </p:nvPicPr>
        <p:blipFill>
          <a:blip r:embed="rId2"/>
          <a:stretch>
            <a:fillRect/>
          </a:stretch>
        </p:blipFill>
        <p:spPr>
          <a:xfrm>
            <a:off x="3078328" y="2743200"/>
            <a:ext cx="1737360" cy="1737360"/>
          </a:xfrm>
          <a:prstGeom prst="rect">
            <a:avLst/>
          </a:prstGeom>
        </p:spPr>
      </p:pic>
      <p:sp>
        <p:nvSpPr>
          <p:cNvPr id="20" name="Text 16"/>
          <p:cNvSpPr txBox="1"/>
          <p:nvPr/>
        </p:nvSpPr>
        <p:spPr>
          <a:xfrm>
            <a:off x="2986888" y="4553712"/>
            <a:ext cx="1920240" cy="320040"/>
          </a:xfrm>
          <a:prstGeom prst="rect">
            <a:avLst/>
          </a:prstGeom>
          <a:noFill/>
          <a:ln/>
        </p:spPr>
        <p:txBody>
          <a:bodyPr wrap="square" lIns="0" tIns="0" rIns="0" bIns="0" rtlCol="0" anchor="t"/>
          <a:lstStyle/>
          <a:p>
            <a:pPr algn="ctr" indent="0" marL="0">
              <a:buNone/>
            </a:pPr>
            <a:r>
              <a:rPr lang="en-US" sz="1300" dirty="0">
                <a:solidFill>
                  <a:schemeClr val="tx2"/>
                </a:solidFill>
              </a:rPr>
              <a:t>Horizontal flip</a:t>
            </a:r>
            <a:endParaRPr lang="en-US" sz="1300" dirty="0"/>
          </a:p>
        </p:txBody>
      </p:sp>
      <p:pic>
        <p:nvPicPr>
          <p:cNvPr id="21" name="Image 2" descr="Rotate ±6% (≈22°) augmentation example">    </p:cNvPr>
          <p:cNvPicPr>
            <a:picLocks noChangeAspect="1"/>
          </p:cNvPicPr>
          <p:nvPr/>
        </p:nvPicPr>
        <p:blipFill>
          <a:blip r:embed="rId3"/>
          <a:stretch>
            <a:fillRect/>
          </a:stretch>
        </p:blipFill>
        <p:spPr>
          <a:xfrm>
            <a:off x="5227168" y="2743200"/>
            <a:ext cx="1737360" cy="1737360"/>
          </a:xfrm>
          <a:prstGeom prst="rect">
            <a:avLst/>
          </a:prstGeom>
        </p:spPr>
      </p:pic>
      <p:sp>
        <p:nvSpPr>
          <p:cNvPr id="22" name="Text 17"/>
          <p:cNvSpPr txBox="1"/>
          <p:nvPr/>
        </p:nvSpPr>
        <p:spPr>
          <a:xfrm>
            <a:off x="5135728" y="4553712"/>
            <a:ext cx="1920240" cy="320040"/>
          </a:xfrm>
          <a:prstGeom prst="rect">
            <a:avLst/>
          </a:prstGeom>
          <a:noFill/>
          <a:ln/>
        </p:spPr>
        <p:txBody>
          <a:bodyPr wrap="square" lIns="0" tIns="0" rIns="0" bIns="0" rtlCol="0" anchor="t"/>
          <a:lstStyle/>
          <a:p>
            <a:pPr algn="ctr" indent="0" marL="0">
              <a:buNone/>
            </a:pPr>
            <a:r>
              <a:rPr lang="en-US" sz="1300" dirty="0">
                <a:solidFill>
                  <a:schemeClr val="tx2"/>
                </a:solidFill>
              </a:rPr>
              <a:t>Rotate ±6% (≈22°)</a:t>
            </a:r>
            <a:endParaRPr lang="en-US" sz="1300" dirty="0"/>
          </a:p>
        </p:txBody>
      </p:sp>
      <p:pic>
        <p:nvPicPr>
          <p:cNvPr id="23" name="Image 3" descr="Zoom ±15% augmentation example">    </p:cNvPr>
          <p:cNvPicPr>
            <a:picLocks noChangeAspect="1"/>
          </p:cNvPicPr>
          <p:nvPr/>
        </p:nvPicPr>
        <p:blipFill>
          <a:blip r:embed="rId4"/>
          <a:stretch>
            <a:fillRect/>
          </a:stretch>
        </p:blipFill>
        <p:spPr>
          <a:xfrm>
            <a:off x="7376008" y="2743200"/>
            <a:ext cx="1737360" cy="1737360"/>
          </a:xfrm>
          <a:prstGeom prst="rect">
            <a:avLst/>
          </a:prstGeom>
        </p:spPr>
      </p:pic>
      <p:sp>
        <p:nvSpPr>
          <p:cNvPr id="24" name="Text 18"/>
          <p:cNvSpPr txBox="1"/>
          <p:nvPr/>
        </p:nvSpPr>
        <p:spPr>
          <a:xfrm>
            <a:off x="7284568" y="4553712"/>
            <a:ext cx="1920240" cy="320040"/>
          </a:xfrm>
          <a:prstGeom prst="rect">
            <a:avLst/>
          </a:prstGeom>
          <a:noFill/>
          <a:ln/>
        </p:spPr>
        <p:txBody>
          <a:bodyPr wrap="square" lIns="0" tIns="0" rIns="0" bIns="0" rtlCol="0" anchor="t"/>
          <a:lstStyle/>
          <a:p>
            <a:pPr algn="ctr" indent="0" marL="0">
              <a:buNone/>
            </a:pPr>
            <a:r>
              <a:rPr lang="en-US" sz="1300" dirty="0">
                <a:solidFill>
                  <a:schemeClr val="tx2"/>
                </a:solidFill>
              </a:rPr>
              <a:t>Zoom ±15%</a:t>
            </a:r>
            <a:endParaRPr lang="en-US" sz="1300" dirty="0"/>
          </a:p>
        </p:txBody>
      </p:sp>
      <p:pic>
        <p:nvPicPr>
          <p:cNvPr id="25" name="Image 4" descr="Shift ±10% augmentation example">    </p:cNvPr>
          <p:cNvPicPr>
            <a:picLocks noChangeAspect="1"/>
          </p:cNvPicPr>
          <p:nvPr/>
        </p:nvPicPr>
        <p:blipFill>
          <a:blip r:embed="rId5"/>
          <a:stretch>
            <a:fillRect/>
          </a:stretch>
        </p:blipFill>
        <p:spPr>
          <a:xfrm>
            <a:off x="9524848" y="2743200"/>
            <a:ext cx="1737360" cy="1737360"/>
          </a:xfrm>
          <a:prstGeom prst="rect">
            <a:avLst/>
          </a:prstGeom>
        </p:spPr>
      </p:pic>
      <p:sp>
        <p:nvSpPr>
          <p:cNvPr id="26" name="Text 19"/>
          <p:cNvSpPr txBox="1"/>
          <p:nvPr/>
        </p:nvSpPr>
        <p:spPr>
          <a:xfrm>
            <a:off x="9433408" y="4553712"/>
            <a:ext cx="1920240" cy="320040"/>
          </a:xfrm>
          <a:prstGeom prst="rect">
            <a:avLst/>
          </a:prstGeom>
          <a:noFill/>
          <a:ln/>
        </p:spPr>
        <p:txBody>
          <a:bodyPr wrap="square" lIns="0" tIns="0" rIns="0" bIns="0" rtlCol="0" anchor="t"/>
          <a:lstStyle/>
          <a:p>
            <a:pPr algn="ctr" indent="0" marL="0">
              <a:buNone/>
            </a:pPr>
            <a:r>
              <a:rPr lang="en-US" sz="1300" dirty="0">
                <a:solidFill>
                  <a:schemeClr val="tx2"/>
                </a:solidFill>
              </a:rPr>
              <a:t>Shift ±10%</a:t>
            </a:r>
            <a:endParaRPr lang="en-US" sz="1300" dirty="0"/>
          </a:p>
        </p:txBody>
      </p:sp>
      <p:sp>
        <p:nvSpPr>
          <p:cNvPr id="27" name="augmentation takeaway"/>
          <p:cNvSpPr/>
          <p:nvPr/>
        </p:nvSpPr>
        <p:spPr>
          <a:xfrm>
            <a:off x="548640" y="5074920"/>
            <a:ext cx="11064240" cy="914400"/>
          </a:xfrm>
          <a:prstGeom prst="roundRect">
            <a:avLst>
              <a:gd name="adj" fmla="val 8000"/>
            </a:avLst>
          </a:prstGeom>
          <a:solidFill>
            <a:schemeClr val="bg2"/>
          </a:solidFill>
          <a:ln/>
        </p:spPr>
      </p:sp>
      <p:sp>
        <p:nvSpPr>
          <p:cNvPr id="28" name="Text 21"/>
          <p:cNvSpPr txBox="1"/>
          <p:nvPr/>
        </p:nvSpPr>
        <p:spPr>
          <a:xfrm>
            <a:off x="777240" y="5074920"/>
            <a:ext cx="10607040" cy="914400"/>
          </a:xfrm>
          <a:prstGeom prst="rect">
            <a:avLst/>
          </a:prstGeom>
          <a:noFill/>
          <a:ln/>
        </p:spPr>
        <p:txBody>
          <a:bodyPr wrap="square" lIns="0" tIns="0" rIns="0" bIns="0" rtlCol="0" anchor="ctr"/>
          <a:lstStyle/>
          <a:p>
            <a:pPr indent="0" marL="0">
              <a:buNone/>
            </a:pPr>
            <a:r>
              <a:rPr lang="en-US" sz="1400" b="1" dirty="0">
                <a:solidFill>
                  <a:schemeClr val="accent1"/>
                </a:solidFill>
              </a:rPr>
              <a:t>Why augment? </a:t>
            </a:r>
            <a:pPr indent="0" marL="0">
              <a:buNone/>
            </a:pPr>
            <a:r>
              <a:rPr lang="en-US" sz="1400" dirty="0">
                <a:solidFill>
                  <a:schemeClr val="tx1"/>
                </a:solidFill>
              </a:rPr>
              <a:t>Every epoch the model sees randomly flipped, rotated, zoomed and shifted versions of the same faces. This works like a much larger dataset and makes the model robust to head pose and to where the face sits in the crop.</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Stage A: Finding faces with an SSD detector</a:t>
            </a:r>
            <a:endParaRPr lang="en-US" sz="3200" dirty="0"/>
          </a:p>
        </p:txBody>
      </p:sp>
      <p:sp>
        <p:nvSpPr>
          <p:cNvPr id="3" name="Frame"/>
          <p:cNvSpPr/>
          <p:nvPr/>
        </p:nvSpPr>
        <p:spPr>
          <a:xfrm>
            <a:off x="548640" y="1737360"/>
            <a:ext cx="1828800" cy="1463040"/>
          </a:xfrm>
          <a:prstGeom prst="roundRect">
            <a:avLst>
              <a:gd name="adj" fmla="val 5000"/>
            </a:avLst>
          </a:prstGeom>
          <a:solidFill>
            <a:schemeClr val="accent5"/>
          </a:solidFill>
          <a:ln/>
          <a:effectLst>
            <a:outerShdw sx="100000" sy="100000" kx="0" ky="0" algn="bl" rotWithShape="0" blurRad="76200" dist="25400" dir="5400000">
              <a:srgbClr val="000000">
                <a:alpha val="12000"/>
              </a:srgbClr>
            </a:outerShdw>
          </a:effectLst>
        </p:spPr>
      </p:sp>
      <p:sp>
        <p:nvSpPr>
          <p:cNvPr id="4" name="Text 2"/>
          <p:cNvSpPr txBox="1"/>
          <p:nvPr/>
        </p:nvSpPr>
        <p:spPr>
          <a:xfrm>
            <a:off x="640080" y="1737360"/>
            <a:ext cx="1645920" cy="1463040"/>
          </a:xfrm>
          <a:prstGeom prst="rect">
            <a:avLst/>
          </a:prstGeom>
          <a:noFill/>
          <a:ln/>
        </p:spPr>
        <p:txBody>
          <a:bodyPr wrap="square" lIns="0" tIns="0" rIns="0" bIns="0" rtlCol="0" anchor="ctr"/>
          <a:lstStyle/>
          <a:p>
            <a:pPr algn="ctr" indent="0" marL="0">
              <a:buNone/>
            </a:pPr>
            <a:r>
              <a:rPr lang="en-US" sz="1400" b="1" dirty="0">
                <a:solidFill>
                  <a:schemeClr val="bg1"/>
                </a:solidFill>
              </a:rPr>
              <a:t>Frame</a:t>
            </a:r>
            <a:endParaRPr lang="en-US" sz="1400" dirty="0"/>
          </a:p>
          <a:p>
            <a:pPr algn="ctr" indent="0" marL="0">
              <a:buNone/>
            </a:pPr>
            <a:r>
              <a:rPr lang="en-US" sz="1200" dirty="0">
                <a:solidFill>
                  <a:schemeClr val="bg1"/>
                </a:solidFill>
              </a:rPr>
              <a:t>any size H × W</a:t>
            </a:r>
            <a:endParaRPr lang="en-US" sz="1400" dirty="0"/>
          </a:p>
        </p:txBody>
      </p:sp>
      <p:sp>
        <p:nvSpPr>
          <p:cNvPr id="5" name="Shape 3"/>
          <p:cNvSpPr/>
          <p:nvPr/>
        </p:nvSpPr>
        <p:spPr>
          <a:xfrm>
            <a:off x="2423160" y="2468880"/>
            <a:ext cx="411480" cy="0"/>
          </a:xfrm>
          <a:prstGeom prst="line">
            <a:avLst/>
          </a:prstGeom>
          <a:noFill/>
          <a:ln w="25400">
            <a:solidFill>
              <a:schemeClr val="accent6"/>
            </a:solidFill>
            <a:prstDash val="solid"/>
            <a:tailEnd type="triangle"/>
          </a:ln>
        </p:spPr>
      </p:sp>
      <p:sp>
        <p:nvSpPr>
          <p:cNvPr id="6" name="blob"/>
          <p:cNvSpPr/>
          <p:nvPr/>
        </p:nvSpPr>
        <p:spPr>
          <a:xfrm>
            <a:off x="2880360" y="1737360"/>
            <a:ext cx="2103120" cy="1463040"/>
          </a:xfrm>
          <a:prstGeom prst="roundRect">
            <a:avLst>
              <a:gd name="adj" fmla="val 5000"/>
            </a:avLst>
          </a:prstGeom>
          <a:solidFill>
            <a:schemeClr val="tx2"/>
          </a:solidFill>
          <a:ln/>
          <a:effectLst>
            <a:outerShdw sx="100000" sy="100000" kx="0" ky="0" algn="bl" rotWithShape="0" blurRad="76200" dist="25400" dir="5400000">
              <a:srgbClr val="000000">
                <a:alpha val="12000"/>
              </a:srgbClr>
            </a:outerShdw>
          </a:effectLst>
        </p:spPr>
      </p:sp>
      <p:sp>
        <p:nvSpPr>
          <p:cNvPr id="7" name="Text 5"/>
          <p:cNvSpPr txBox="1"/>
          <p:nvPr/>
        </p:nvSpPr>
        <p:spPr>
          <a:xfrm>
            <a:off x="2971800" y="1737360"/>
            <a:ext cx="1920240" cy="1463040"/>
          </a:xfrm>
          <a:prstGeom prst="rect">
            <a:avLst/>
          </a:prstGeom>
          <a:noFill/>
          <a:ln/>
        </p:spPr>
        <p:txBody>
          <a:bodyPr wrap="square" lIns="0" tIns="0" rIns="0" bIns="0" rtlCol="0" anchor="ctr"/>
          <a:lstStyle/>
          <a:p>
            <a:pPr algn="ctr" indent="0" marL="0">
              <a:buNone/>
            </a:pPr>
            <a:r>
              <a:rPr lang="en-US" sz="1400" b="1" dirty="0">
                <a:solidFill>
                  <a:schemeClr val="bg1"/>
                </a:solidFill>
              </a:rPr>
              <a:t>blobFromImage</a:t>
            </a:r>
            <a:endParaRPr lang="en-US" sz="1400" dirty="0"/>
          </a:p>
          <a:p>
            <a:pPr algn="ctr" indent="0" marL="0">
              <a:buNone/>
            </a:pPr>
            <a:r>
              <a:rPr lang="en-US" sz="1200" dirty="0">
                <a:solidFill>
                  <a:schemeClr val="bg1"/>
                </a:solidFill>
              </a:rPr>
              <a:t>resize 300×300, subtract mean (104,177,123)</a:t>
            </a:r>
            <a:endParaRPr lang="en-US" sz="1400" dirty="0"/>
          </a:p>
        </p:txBody>
      </p:sp>
      <p:sp>
        <p:nvSpPr>
          <p:cNvPr id="8" name="Shape 6"/>
          <p:cNvSpPr/>
          <p:nvPr/>
        </p:nvSpPr>
        <p:spPr>
          <a:xfrm>
            <a:off x="5029200" y="2468880"/>
            <a:ext cx="411480" cy="0"/>
          </a:xfrm>
          <a:prstGeom prst="line">
            <a:avLst/>
          </a:prstGeom>
          <a:noFill/>
          <a:ln w="25400">
            <a:solidFill>
              <a:schemeClr val="accent6"/>
            </a:solidFill>
            <a:prstDash val="solid"/>
            <a:tailEnd type="triangle"/>
          </a:ln>
        </p:spPr>
      </p:sp>
      <p:sp>
        <p:nvSpPr>
          <p:cNvPr id="9" name="ssd network"/>
          <p:cNvSpPr/>
          <p:nvPr/>
        </p:nvSpPr>
        <p:spPr>
          <a:xfrm>
            <a:off x="5486400" y="1417320"/>
            <a:ext cx="3291840" cy="2103120"/>
          </a:xfrm>
          <a:prstGeom prst="roundRect">
            <a:avLst>
              <a:gd name="adj" fmla="val 3478"/>
            </a:avLst>
          </a:prstGeom>
          <a:solidFill>
            <a:schemeClr val="bg2"/>
          </a:solidFill>
          <a:ln w="19050">
            <a:solidFill>
              <a:schemeClr val="tx2"/>
            </a:solidFill>
            <a:prstDash val="solid"/>
          </a:ln>
        </p:spPr>
      </p:sp>
      <p:sp>
        <p:nvSpPr>
          <p:cNvPr id="10" name="Text 8"/>
          <p:cNvSpPr txBox="1"/>
          <p:nvPr/>
        </p:nvSpPr>
        <p:spPr>
          <a:xfrm>
            <a:off x="5486400" y="1481328"/>
            <a:ext cx="3291840" cy="320040"/>
          </a:xfrm>
          <a:prstGeom prst="rect">
            <a:avLst/>
          </a:prstGeom>
          <a:noFill/>
          <a:ln/>
        </p:spPr>
        <p:txBody>
          <a:bodyPr wrap="square" lIns="0" tIns="0" rIns="0" bIns="0" rtlCol="0" anchor="t"/>
          <a:lstStyle/>
          <a:p>
            <a:pPr algn="ctr" indent="0" marL="0">
              <a:buNone/>
            </a:pPr>
            <a:r>
              <a:rPr lang="en-US" sz="1400" b="1" dirty="0">
                <a:solidFill>
                  <a:schemeClr val="tx2"/>
                </a:solidFill>
              </a:rPr>
              <a:t>ResNet-10 SSD</a:t>
            </a:r>
            <a:endParaRPr lang="en-US" sz="1400" dirty="0"/>
          </a:p>
        </p:txBody>
      </p:sp>
      <p:sp>
        <p:nvSpPr>
          <p:cNvPr id="11" name="feature map 0"/>
          <p:cNvSpPr/>
          <p:nvPr/>
        </p:nvSpPr>
        <p:spPr>
          <a:xfrm>
            <a:off x="5715000" y="1984248"/>
            <a:ext cx="521208" cy="877824"/>
          </a:xfrm>
          <a:prstGeom prst="rect">
            <a:avLst/>
          </a:prstGeom>
          <a:solidFill>
            <a:schemeClr val="accent1"/>
          </a:solidFill>
          <a:ln w="12700">
            <a:solidFill>
              <a:schemeClr val="bg1"/>
            </a:solidFill>
            <a:prstDash val="solid"/>
          </a:ln>
        </p:spPr>
      </p:sp>
      <p:sp>
        <p:nvSpPr>
          <p:cNvPr id="12" name="feature map 1"/>
          <p:cNvSpPr/>
          <p:nvPr/>
        </p:nvSpPr>
        <p:spPr>
          <a:xfrm>
            <a:off x="6318504" y="2075688"/>
            <a:ext cx="411480" cy="694944"/>
          </a:xfrm>
          <a:prstGeom prst="rect">
            <a:avLst/>
          </a:prstGeom>
          <a:solidFill>
            <a:schemeClr val="accent1">
              <a:alpha val="88000"/>
            </a:schemeClr>
          </a:solidFill>
          <a:ln w="12700">
            <a:solidFill>
              <a:schemeClr val="bg1"/>
            </a:solidFill>
            <a:prstDash val="solid"/>
          </a:ln>
        </p:spPr>
      </p:sp>
      <p:sp>
        <p:nvSpPr>
          <p:cNvPr id="13" name="feature map 2"/>
          <p:cNvSpPr/>
          <p:nvPr/>
        </p:nvSpPr>
        <p:spPr>
          <a:xfrm>
            <a:off x="6922008" y="2159813"/>
            <a:ext cx="301752" cy="526694"/>
          </a:xfrm>
          <a:prstGeom prst="rect">
            <a:avLst/>
          </a:prstGeom>
          <a:solidFill>
            <a:schemeClr val="accent1">
              <a:alpha val="76000"/>
            </a:schemeClr>
          </a:solidFill>
          <a:ln w="12700">
            <a:solidFill>
              <a:schemeClr val="bg1"/>
            </a:solidFill>
            <a:prstDash val="solid"/>
          </a:ln>
        </p:spPr>
      </p:sp>
      <p:sp>
        <p:nvSpPr>
          <p:cNvPr id="14" name="feature map 3"/>
          <p:cNvSpPr/>
          <p:nvPr/>
        </p:nvSpPr>
        <p:spPr>
          <a:xfrm>
            <a:off x="7525512" y="2240280"/>
            <a:ext cx="219456" cy="365760"/>
          </a:xfrm>
          <a:prstGeom prst="rect">
            <a:avLst/>
          </a:prstGeom>
          <a:solidFill>
            <a:schemeClr val="accent1">
              <a:alpha val="64000"/>
            </a:schemeClr>
          </a:solidFill>
          <a:ln w="12700">
            <a:solidFill>
              <a:schemeClr val="bg1"/>
            </a:solidFill>
            <a:prstDash val="solid"/>
          </a:ln>
        </p:spPr>
      </p:sp>
      <p:sp>
        <p:nvSpPr>
          <p:cNvPr id="15" name="feature map 4"/>
          <p:cNvSpPr/>
          <p:nvPr/>
        </p:nvSpPr>
        <p:spPr>
          <a:xfrm>
            <a:off x="8129016" y="2306117"/>
            <a:ext cx="153619" cy="234086"/>
          </a:xfrm>
          <a:prstGeom prst="rect">
            <a:avLst/>
          </a:prstGeom>
          <a:solidFill>
            <a:schemeClr val="accent1">
              <a:alpha val="52000"/>
            </a:schemeClr>
          </a:solidFill>
          <a:ln w="12700">
            <a:solidFill>
              <a:schemeClr val="bg1"/>
            </a:solidFill>
            <a:prstDash val="solid"/>
          </a:ln>
        </p:spPr>
      </p:sp>
      <p:sp>
        <p:nvSpPr>
          <p:cNvPr id="16" name="Text 14"/>
          <p:cNvSpPr txBox="1"/>
          <p:nvPr/>
        </p:nvSpPr>
        <p:spPr>
          <a:xfrm>
            <a:off x="5577840" y="3154680"/>
            <a:ext cx="3108960" cy="320040"/>
          </a:xfrm>
          <a:prstGeom prst="rect">
            <a:avLst/>
          </a:prstGeom>
          <a:noFill/>
          <a:ln/>
        </p:spPr>
        <p:txBody>
          <a:bodyPr wrap="square" lIns="0" tIns="0" rIns="0" bIns="0" rtlCol="0" anchor="t"/>
          <a:lstStyle/>
          <a:p>
            <a:pPr algn="ctr" indent="0" marL="0">
              <a:buNone/>
            </a:pPr>
            <a:r>
              <a:rPr lang="en-US" sz="1100" i="1" dirty="0">
                <a:solidFill>
                  <a:schemeClr val="tx2"/>
                </a:solidFill>
              </a:rPr>
              <a:t>multi-scale feature maps, each predicting boxes</a:t>
            </a:r>
            <a:endParaRPr lang="en-US" sz="1100" dirty="0"/>
          </a:p>
        </p:txBody>
      </p:sp>
      <p:sp>
        <p:nvSpPr>
          <p:cNvPr id="17" name="Shape 15"/>
          <p:cNvSpPr/>
          <p:nvPr/>
        </p:nvSpPr>
        <p:spPr>
          <a:xfrm>
            <a:off x="8823960" y="2468880"/>
            <a:ext cx="411480" cy="0"/>
          </a:xfrm>
          <a:prstGeom prst="line">
            <a:avLst/>
          </a:prstGeom>
          <a:noFill/>
          <a:ln w="25400">
            <a:solidFill>
              <a:schemeClr val="accent6"/>
            </a:solidFill>
            <a:prstDash val="solid"/>
            <a:tailEnd type="triangle"/>
          </a:ln>
        </p:spPr>
      </p:sp>
      <p:sp>
        <p:nvSpPr>
          <p:cNvPr id="18" name="filter"/>
          <p:cNvSpPr/>
          <p:nvPr/>
        </p:nvSpPr>
        <p:spPr>
          <a:xfrm>
            <a:off x="9281160" y="1737360"/>
            <a:ext cx="2331720" cy="1463040"/>
          </a:xfrm>
          <a:prstGeom prst="roundRect">
            <a:avLst>
              <a:gd name="adj" fmla="val 5000"/>
            </a:avLst>
          </a:prstGeom>
          <a:solidFill>
            <a:schemeClr val="accent2"/>
          </a:solidFill>
          <a:ln/>
          <a:effectLst>
            <a:outerShdw sx="100000" sy="100000" kx="0" ky="0" algn="bl" rotWithShape="0" blurRad="76200" dist="25400" dir="5400000">
              <a:srgbClr val="000000">
                <a:alpha val="12000"/>
              </a:srgbClr>
            </a:outerShdw>
          </a:effectLst>
        </p:spPr>
      </p:sp>
      <p:sp>
        <p:nvSpPr>
          <p:cNvPr id="19" name="Text 17"/>
          <p:cNvSpPr txBox="1"/>
          <p:nvPr/>
        </p:nvSpPr>
        <p:spPr>
          <a:xfrm>
            <a:off x="9372600" y="1737360"/>
            <a:ext cx="2148840" cy="1463040"/>
          </a:xfrm>
          <a:prstGeom prst="rect">
            <a:avLst/>
          </a:prstGeom>
          <a:noFill/>
          <a:ln/>
        </p:spPr>
        <p:txBody>
          <a:bodyPr wrap="square" lIns="0" tIns="0" rIns="0" bIns="0" rtlCol="0" anchor="ctr"/>
          <a:lstStyle/>
          <a:p>
            <a:pPr algn="ctr" indent="0" marL="0">
              <a:buNone/>
            </a:pPr>
            <a:r>
              <a:rPr lang="en-US" sz="1400" b="1" dirty="0">
                <a:solidFill>
                  <a:schemeClr val="bg1"/>
                </a:solidFill>
              </a:rPr>
              <a:t>Filter</a:t>
            </a:r>
            <a:endParaRPr lang="en-US" sz="1400" dirty="0"/>
          </a:p>
          <a:p>
            <a:pPr algn="ctr" indent="0" marL="0">
              <a:buNone/>
            </a:pPr>
            <a:r>
              <a:rPr lang="en-US" sz="1200" dirty="0">
                <a:solidFill>
                  <a:schemeClr val="bg1"/>
                </a:solidFill>
              </a:rPr>
              <a:t>keep confidence ≥ 0.5, scale to pixels, clip</a:t>
            </a:r>
            <a:endParaRPr lang="en-US" sz="1400" dirty="0"/>
          </a:p>
        </p:txBody>
      </p:sp>
      <p:sp>
        <p:nvSpPr>
          <p:cNvPr id="20" name="output tensor"/>
          <p:cNvSpPr/>
          <p:nvPr/>
        </p:nvSpPr>
        <p:spPr>
          <a:xfrm>
            <a:off x="548640" y="3886200"/>
            <a:ext cx="6400800" cy="2103120"/>
          </a:xfrm>
          <a:prstGeom prst="roundRect">
            <a:avLst>
              <a:gd name="adj" fmla="val 3478"/>
            </a:avLst>
          </a:prstGeom>
          <a:solidFill>
            <a:schemeClr val="bg2"/>
          </a:solidFill>
          <a:ln/>
        </p:spPr>
      </p:sp>
      <p:sp>
        <p:nvSpPr>
          <p:cNvPr id="21" name="Text 19"/>
          <p:cNvSpPr txBox="1"/>
          <p:nvPr/>
        </p:nvSpPr>
        <p:spPr>
          <a:xfrm>
            <a:off x="777240" y="4023360"/>
            <a:ext cx="5943600" cy="365760"/>
          </a:xfrm>
          <a:prstGeom prst="rect">
            <a:avLst/>
          </a:prstGeom>
          <a:noFill/>
          <a:ln/>
        </p:spPr>
        <p:txBody>
          <a:bodyPr wrap="square" lIns="0" tIns="0" rIns="0" bIns="0" rtlCol="0" anchor="t"/>
          <a:lstStyle/>
          <a:p>
            <a:pPr indent="0" marL="0">
              <a:buNone/>
            </a:pPr>
            <a:r>
              <a:rPr lang="en-US" sz="1600" b="1" dirty="0">
                <a:solidFill>
                  <a:schemeClr val="tx2"/>
                </a:solidFill>
              </a:rPr>
              <a:t>Raw output: 1 × 1 × N × 7</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4526280"/>
          <a:ext cx="5943600" cy="914400"/>
        </p:xfrm>
        <a:graphic>
          <a:graphicData uri="http://schemas.openxmlformats.org/drawingml/2006/table">
            <a:tbl>
              <a:tblPr/>
              <a:tblGrid>
                <a:gridCol w="849086"/>
                <a:gridCol w="849086"/>
                <a:gridCol w="849086"/>
                <a:gridCol w="849086"/>
                <a:gridCol w="849086"/>
                <a:gridCol w="849086"/>
                <a:gridCol w="849086"/>
              </a:tblGrid>
              <a:tr h="0">
                <a:tc>
                  <a:txBody>
                    <a:bodyPr/>
                    <a:lstStyle/>
                    <a:p>
                      <a:pPr algn="ctr" indent="0" marL="0">
                        <a:buNone/>
                      </a:pPr>
                      <a:r>
                        <a:rPr lang="en-US" sz="1300" b="1" dirty="0">
                          <a:solidFill>
                            <a:schemeClr val="bg1"/>
                          </a:solidFill>
                        </a:rPr>
                        <a:t>img id</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class</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conf</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bg1"/>
                          </a:solidFill>
                        </a:rPr>
                        <a:t>x1</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y1</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x2</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y2</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0">
                <a:tc>
                  <a:txBody>
                    <a:bodyPr/>
                    <a:lstStyle/>
                    <a:p>
                      <a:pPr algn="ctr" indent="0" marL="0">
                        <a:buNone/>
                      </a:pPr>
                      <a:r>
                        <a:rPr lang="en-US" sz="1300" dirty="0">
                          <a:solidFill>
                            <a:schemeClr val="tx1"/>
                          </a:solidFill>
                        </a:rPr>
                        <a:t>0</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1</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0.97</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0.41</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0.22</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0.63</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0.58</a:t>
                      </a:r>
                      <a:endParaRPr lang="en-US" sz="13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3" name="Text 20"/>
          <p:cNvSpPr txBox="1"/>
          <p:nvPr/>
        </p:nvSpPr>
        <p:spPr>
          <a:xfrm>
            <a:off x="777240" y="5349240"/>
            <a:ext cx="5943600" cy="457200"/>
          </a:xfrm>
          <a:prstGeom prst="rect">
            <a:avLst/>
          </a:prstGeom>
          <a:noFill/>
          <a:ln/>
        </p:spPr>
        <p:txBody>
          <a:bodyPr wrap="square" lIns="0" tIns="0" rIns="0" bIns="0" rtlCol="0" anchor="t"/>
          <a:lstStyle/>
          <a:p>
            <a:pPr indent="0" marL="0">
              <a:buNone/>
            </a:pPr>
            <a:r>
              <a:rPr lang="en-US" sz="1200" dirty="0">
                <a:solidFill>
                  <a:schemeClr val="tx2"/>
                </a:solidFill>
              </a:rPr>
              <a:t>Coordinates are fractions of the frame; we multiply by (W, H, W, H) to get pixels.</a:t>
            </a:r>
            <a:endParaRPr lang="en-US" sz="1200" dirty="0"/>
          </a:p>
        </p:txBody>
      </p:sp>
      <p:sp>
        <p:nvSpPr>
          <p:cNvPr id="24" name="why ssd"/>
          <p:cNvSpPr/>
          <p:nvPr/>
        </p:nvSpPr>
        <p:spPr>
          <a:xfrm>
            <a:off x="7223760" y="3886200"/>
            <a:ext cx="4389120" cy="2103120"/>
          </a:xfrm>
          <a:prstGeom prst="roundRect">
            <a:avLst>
              <a:gd name="adj" fmla="val 3478"/>
            </a:avLst>
          </a:prstGeom>
          <a:solidFill>
            <a:schemeClr val="tx2"/>
          </a:solidFill>
          <a:ln/>
        </p:spPr>
      </p:sp>
      <p:sp>
        <p:nvSpPr>
          <p:cNvPr id="25" name="Text 22"/>
          <p:cNvSpPr txBox="1"/>
          <p:nvPr/>
        </p:nvSpPr>
        <p:spPr>
          <a:xfrm>
            <a:off x="7452360" y="3886200"/>
            <a:ext cx="3931920" cy="2103120"/>
          </a:xfrm>
          <a:prstGeom prst="rect">
            <a:avLst/>
          </a:prstGeom>
          <a:noFill/>
          <a:ln/>
        </p:spPr>
        <p:txBody>
          <a:bodyPr wrap="square" lIns="0" tIns="0" rIns="0" bIns="0" rtlCol="0" anchor="ctr"/>
          <a:lstStyle/>
          <a:p>
            <a:pPr indent="0" marL="0">
              <a:spcAft>
                <a:spcPts val="600"/>
              </a:spcAft>
              <a:buNone/>
            </a:pPr>
            <a:r>
              <a:rPr lang="en-US" sz="1600" b="1" dirty="0">
                <a:solidFill>
                  <a:schemeClr val="bg1"/>
                </a:solidFill>
              </a:rPr>
              <a:t>Why a DNN detector, not Haar cascades?</a:t>
            </a:r>
            <a:endParaRPr lang="en-US" sz="1400" dirty="0"/>
          </a:p>
          <a:p>
            <a:pPr indent="0" marL="0">
              <a:spcAft>
                <a:spcPts val="600"/>
              </a:spcAft>
              <a:buNone/>
            </a:pPr>
            <a:r>
              <a:rPr lang="en-US" sz="1400" dirty="0">
                <a:solidFill>
                  <a:schemeClr val="bg1"/>
                </a:solidFill>
              </a:rPr>
              <a:t>Haar cascades look for the dark/light pattern of the mouth and nose, and a mask hides exactly that. The deep SSD detector still finds faces that are covered, turned or poorly lit.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Stage B: Transfer learning</a:t>
            </a:r>
            <a:endParaRPr lang="en-US" sz="3200" dirty="0"/>
          </a:p>
        </p:txBody>
      </p:sp>
      <p:sp>
        <p:nvSpPr>
          <p:cNvPr id="3" name="Text 1"/>
          <p:cNvSpPr txBox="1"/>
          <p:nvPr/>
        </p:nvSpPr>
        <p:spPr>
          <a:xfrm>
            <a:off x="548640" y="1325880"/>
            <a:ext cx="10972800" cy="365760"/>
          </a:xfrm>
          <a:prstGeom prst="rect">
            <a:avLst/>
          </a:prstGeom>
          <a:noFill/>
          <a:ln/>
        </p:spPr>
        <p:txBody>
          <a:bodyPr wrap="square" lIns="0" tIns="0" rIns="0" bIns="0" rtlCol="0" anchor="t"/>
          <a:lstStyle/>
          <a:p>
            <a:pPr indent="0" marL="0">
              <a:buNone/>
            </a:pPr>
            <a:r>
              <a:rPr lang="en-US" sz="1600" b="1" dirty="0">
                <a:solidFill>
                  <a:schemeClr val="tx2"/>
                </a:solidFill>
              </a:rPr>
              <a:t>Step 1: Pretrained by Google on ImageNet (1.28 M images, 1,000 classes)</a:t>
            </a:r>
            <a:endParaRPr lang="en-US" sz="1600" dirty="0"/>
          </a:p>
        </p:txBody>
      </p:sp>
      <p:sp>
        <p:nvSpPr>
          <p:cNvPr id="4" name="imagenet conv 1"/>
          <p:cNvSpPr/>
          <p:nvPr/>
        </p:nvSpPr>
        <p:spPr>
          <a:xfrm>
            <a:off x="548640" y="1783080"/>
            <a:ext cx="1417320" cy="1051560"/>
          </a:xfrm>
          <a:prstGeom prst="roundRect">
            <a:avLst>
              <a:gd name="adj" fmla="val 6957"/>
            </a:avLst>
          </a:prstGeom>
          <a:solidFill>
            <a:schemeClr val="accent5"/>
          </a:solidFill>
          <a:ln/>
          <a:effectLst>
            <a:outerShdw sx="100000" sy="100000" kx="0" ky="0" algn="bl" rotWithShape="0" blurRad="76200" dist="25400" dir="5400000">
              <a:srgbClr val="000000">
                <a:alpha val="12000"/>
              </a:srgbClr>
            </a:outerShdw>
          </a:effectLst>
        </p:spPr>
      </p:sp>
      <p:sp>
        <p:nvSpPr>
          <p:cNvPr id="5" name="Text 3"/>
          <p:cNvSpPr txBox="1"/>
          <p:nvPr/>
        </p:nvSpPr>
        <p:spPr>
          <a:xfrm>
            <a:off x="640080" y="178308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1</a:t>
            </a:r>
            <a:endParaRPr lang="en-US" sz="1400" dirty="0"/>
          </a:p>
          <a:p>
            <a:pPr algn="ctr" indent="0" marL="0">
              <a:buNone/>
            </a:pPr>
            <a:r>
              <a:rPr lang="en-US" sz="1200" dirty="0">
                <a:solidFill>
                  <a:schemeClr val="bg1"/>
                </a:solidFill>
              </a:rPr>
              <a:t>edges</a:t>
            </a:r>
            <a:endParaRPr lang="en-US" sz="1400" dirty="0"/>
          </a:p>
        </p:txBody>
      </p:sp>
      <p:sp>
        <p:nvSpPr>
          <p:cNvPr id="6" name="Shape 4"/>
          <p:cNvSpPr/>
          <p:nvPr/>
        </p:nvSpPr>
        <p:spPr>
          <a:xfrm>
            <a:off x="1984248" y="2304288"/>
            <a:ext cx="146304" cy="0"/>
          </a:xfrm>
          <a:prstGeom prst="line">
            <a:avLst/>
          </a:prstGeom>
          <a:noFill/>
          <a:ln w="25400">
            <a:solidFill>
              <a:schemeClr val="accent6"/>
            </a:solidFill>
            <a:prstDash val="solid"/>
            <a:tailEnd type="triangle"/>
          </a:ln>
        </p:spPr>
      </p:sp>
      <p:sp>
        <p:nvSpPr>
          <p:cNvPr id="7" name="imagenet conv 2"/>
          <p:cNvSpPr/>
          <p:nvPr/>
        </p:nvSpPr>
        <p:spPr>
          <a:xfrm>
            <a:off x="2148840" y="1783080"/>
            <a:ext cx="1417320" cy="1051560"/>
          </a:xfrm>
          <a:prstGeom prst="roundRect">
            <a:avLst>
              <a:gd name="adj" fmla="val 6957"/>
            </a:avLst>
          </a:prstGeom>
          <a:solidFill>
            <a:schemeClr val="accent5"/>
          </a:solidFill>
          <a:ln/>
          <a:effectLst>
            <a:outerShdw sx="100000" sy="100000" kx="0" ky="0" algn="bl" rotWithShape="0" blurRad="76200" dist="25400" dir="5400000">
              <a:srgbClr val="000000">
                <a:alpha val="12000"/>
              </a:srgbClr>
            </a:outerShdw>
          </a:effectLst>
        </p:spPr>
      </p:sp>
      <p:sp>
        <p:nvSpPr>
          <p:cNvPr id="8" name="Text 6"/>
          <p:cNvSpPr txBox="1"/>
          <p:nvPr/>
        </p:nvSpPr>
        <p:spPr>
          <a:xfrm>
            <a:off x="2240280" y="178308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2</a:t>
            </a:r>
            <a:endParaRPr lang="en-US" sz="1400" dirty="0"/>
          </a:p>
          <a:p>
            <a:pPr algn="ctr" indent="0" marL="0">
              <a:buNone/>
            </a:pPr>
            <a:r>
              <a:rPr lang="en-US" sz="1200" dirty="0">
                <a:solidFill>
                  <a:schemeClr val="bg1"/>
                </a:solidFill>
              </a:rPr>
              <a:t>textures</a:t>
            </a:r>
            <a:endParaRPr lang="en-US" sz="1400" dirty="0"/>
          </a:p>
        </p:txBody>
      </p:sp>
      <p:sp>
        <p:nvSpPr>
          <p:cNvPr id="9" name="Shape 7"/>
          <p:cNvSpPr/>
          <p:nvPr/>
        </p:nvSpPr>
        <p:spPr>
          <a:xfrm>
            <a:off x="3584448" y="2304288"/>
            <a:ext cx="146304" cy="0"/>
          </a:xfrm>
          <a:prstGeom prst="line">
            <a:avLst/>
          </a:prstGeom>
          <a:noFill/>
          <a:ln w="25400">
            <a:solidFill>
              <a:schemeClr val="accent6"/>
            </a:solidFill>
            <a:prstDash val="solid"/>
            <a:tailEnd type="triangle"/>
          </a:ln>
        </p:spPr>
      </p:sp>
      <p:sp>
        <p:nvSpPr>
          <p:cNvPr id="10" name="imagenet conv 3"/>
          <p:cNvSpPr/>
          <p:nvPr/>
        </p:nvSpPr>
        <p:spPr>
          <a:xfrm>
            <a:off x="3749040" y="1783080"/>
            <a:ext cx="1417320" cy="1051560"/>
          </a:xfrm>
          <a:prstGeom prst="roundRect">
            <a:avLst>
              <a:gd name="adj" fmla="val 6957"/>
            </a:avLst>
          </a:prstGeom>
          <a:solidFill>
            <a:schemeClr val="accent5"/>
          </a:solidFill>
          <a:ln/>
          <a:effectLst>
            <a:outerShdw sx="100000" sy="100000" kx="0" ky="0" algn="bl" rotWithShape="0" blurRad="76200" dist="25400" dir="5400000">
              <a:srgbClr val="000000">
                <a:alpha val="12000"/>
              </a:srgbClr>
            </a:outerShdw>
          </a:effectLst>
        </p:spPr>
      </p:sp>
      <p:sp>
        <p:nvSpPr>
          <p:cNvPr id="11" name="Text 9"/>
          <p:cNvSpPr txBox="1"/>
          <p:nvPr/>
        </p:nvSpPr>
        <p:spPr>
          <a:xfrm>
            <a:off x="3840480" y="178308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3</a:t>
            </a:r>
            <a:endParaRPr lang="en-US" sz="1400" dirty="0"/>
          </a:p>
          <a:p>
            <a:pPr algn="ctr" indent="0" marL="0">
              <a:buNone/>
            </a:pPr>
            <a:r>
              <a:rPr lang="en-US" sz="1200" dirty="0">
                <a:solidFill>
                  <a:schemeClr val="bg1"/>
                </a:solidFill>
              </a:rPr>
              <a:t>parts</a:t>
            </a:r>
            <a:endParaRPr lang="en-US" sz="1400" dirty="0"/>
          </a:p>
        </p:txBody>
      </p:sp>
      <p:sp>
        <p:nvSpPr>
          <p:cNvPr id="12" name="Shape 10"/>
          <p:cNvSpPr/>
          <p:nvPr/>
        </p:nvSpPr>
        <p:spPr>
          <a:xfrm>
            <a:off x="5184648" y="2304288"/>
            <a:ext cx="146304" cy="0"/>
          </a:xfrm>
          <a:prstGeom prst="line">
            <a:avLst/>
          </a:prstGeom>
          <a:noFill/>
          <a:ln w="25400">
            <a:solidFill>
              <a:schemeClr val="accent6"/>
            </a:solidFill>
            <a:prstDash val="solid"/>
            <a:tailEnd type="triangle"/>
          </a:ln>
        </p:spPr>
      </p:sp>
      <p:sp>
        <p:nvSpPr>
          <p:cNvPr id="13" name="imagenet conv 4"/>
          <p:cNvSpPr/>
          <p:nvPr/>
        </p:nvSpPr>
        <p:spPr>
          <a:xfrm>
            <a:off x="5349240" y="1783080"/>
            <a:ext cx="1417320" cy="1051560"/>
          </a:xfrm>
          <a:prstGeom prst="roundRect">
            <a:avLst>
              <a:gd name="adj" fmla="val 6957"/>
            </a:avLst>
          </a:prstGeom>
          <a:solidFill>
            <a:schemeClr val="accent5"/>
          </a:solidFill>
          <a:ln/>
          <a:effectLst>
            <a:outerShdw sx="100000" sy="100000" kx="0" ky="0" algn="bl" rotWithShape="0" blurRad="76200" dist="25400" dir="5400000">
              <a:srgbClr val="000000">
                <a:alpha val="12000"/>
              </a:srgbClr>
            </a:outerShdw>
          </a:effectLst>
        </p:spPr>
      </p:sp>
      <p:sp>
        <p:nvSpPr>
          <p:cNvPr id="14" name="Text 12"/>
          <p:cNvSpPr txBox="1"/>
          <p:nvPr/>
        </p:nvSpPr>
        <p:spPr>
          <a:xfrm>
            <a:off x="5440680" y="178308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4</a:t>
            </a:r>
            <a:endParaRPr lang="en-US" sz="1400" dirty="0"/>
          </a:p>
          <a:p>
            <a:pPr algn="ctr" indent="0" marL="0">
              <a:buNone/>
            </a:pPr>
            <a:r>
              <a:rPr lang="en-US" sz="1200" dirty="0">
                <a:solidFill>
                  <a:schemeClr val="bg1"/>
                </a:solidFill>
              </a:rPr>
              <a:t>objects</a:t>
            </a:r>
            <a:endParaRPr lang="en-US" sz="1400" dirty="0"/>
          </a:p>
        </p:txBody>
      </p:sp>
      <p:sp>
        <p:nvSpPr>
          <p:cNvPr id="15" name="Shape 13"/>
          <p:cNvSpPr/>
          <p:nvPr/>
        </p:nvSpPr>
        <p:spPr>
          <a:xfrm>
            <a:off x="6949440" y="2304288"/>
            <a:ext cx="365760" cy="0"/>
          </a:xfrm>
          <a:prstGeom prst="line">
            <a:avLst/>
          </a:prstGeom>
          <a:noFill/>
          <a:ln w="25400">
            <a:solidFill>
              <a:schemeClr val="accent6"/>
            </a:solidFill>
            <a:prstDash val="solid"/>
            <a:tailEnd type="triangle"/>
          </a:ln>
        </p:spPr>
      </p:sp>
      <p:sp>
        <p:nvSpPr>
          <p:cNvPr id="16" name="old head"/>
          <p:cNvSpPr/>
          <p:nvPr/>
        </p:nvSpPr>
        <p:spPr>
          <a:xfrm>
            <a:off x="7360920" y="1783080"/>
            <a:ext cx="2103120" cy="1051560"/>
          </a:xfrm>
          <a:prstGeom prst="roundRect">
            <a:avLst>
              <a:gd name="adj" fmla="val 6957"/>
            </a:avLst>
          </a:prstGeom>
          <a:solidFill>
            <a:schemeClr val="bg1"/>
          </a:solidFill>
          <a:ln w="19050">
            <a:solidFill>
              <a:schemeClr val="accent6"/>
            </a:solidFill>
            <a:prstDash val="dash"/>
          </a:ln>
        </p:spPr>
      </p:sp>
      <p:sp>
        <p:nvSpPr>
          <p:cNvPr id="17" name="Text 15"/>
          <p:cNvSpPr txBox="1"/>
          <p:nvPr/>
        </p:nvSpPr>
        <p:spPr>
          <a:xfrm>
            <a:off x="7452360" y="1783080"/>
            <a:ext cx="1920240" cy="1051560"/>
          </a:xfrm>
          <a:prstGeom prst="rect">
            <a:avLst/>
          </a:prstGeom>
          <a:noFill/>
          <a:ln/>
        </p:spPr>
        <p:txBody>
          <a:bodyPr wrap="square" lIns="0" tIns="0" rIns="0" bIns="0" rtlCol="0" anchor="ctr"/>
          <a:lstStyle/>
          <a:p>
            <a:pPr algn="ctr" indent="0" marL="0">
              <a:buNone/>
            </a:pPr>
            <a:r>
              <a:rPr lang="en-US" sz="1400" b="1" dirty="0">
                <a:solidFill>
                  <a:schemeClr val="accent6"/>
                </a:solidFill>
              </a:rPr>
              <a:t>1000-class head</a:t>
            </a:r>
            <a:endParaRPr lang="en-US" sz="1400" dirty="0"/>
          </a:p>
          <a:p>
            <a:pPr algn="ctr" indent="0" marL="0">
              <a:buNone/>
            </a:pPr>
            <a:r>
              <a:rPr lang="en-US" sz="1200" dirty="0">
                <a:solidFill>
                  <a:schemeClr val="accent6"/>
                </a:solidFill>
              </a:rPr>
              <a:t>dog, car, cup …</a:t>
            </a:r>
            <a:endParaRPr lang="en-US" sz="1400" dirty="0"/>
          </a:p>
        </p:txBody>
      </p:sp>
      <p:sp>
        <p:nvSpPr>
          <p:cNvPr id="18" name="Text 16"/>
          <p:cNvSpPr txBox="1"/>
          <p:nvPr/>
        </p:nvSpPr>
        <p:spPr>
          <a:xfrm>
            <a:off x="9601200" y="2103120"/>
            <a:ext cx="2011680" cy="411480"/>
          </a:xfrm>
          <a:prstGeom prst="rect">
            <a:avLst/>
          </a:prstGeom>
          <a:noFill/>
          <a:ln/>
        </p:spPr>
        <p:txBody>
          <a:bodyPr wrap="square" lIns="0" tIns="0" rIns="0" bIns="0" rtlCol="0" anchor="t"/>
          <a:lstStyle/>
          <a:p>
            <a:pPr indent="0" marL="0">
              <a:buNone/>
            </a:pPr>
            <a:r>
              <a:rPr lang="en-US" sz="1400" b="1" i="1" dirty="0">
                <a:solidFill>
                  <a:schemeClr val="accent3"/>
                </a:solidFill>
              </a:rPr>
              <a:t>thrown away</a:t>
            </a:r>
            <a:endParaRPr lang="en-US" sz="1400" dirty="0"/>
          </a:p>
        </p:txBody>
      </p:sp>
      <p:sp>
        <p:nvSpPr>
          <p:cNvPr id="19" name="Shape 17"/>
          <p:cNvSpPr/>
          <p:nvPr/>
        </p:nvSpPr>
        <p:spPr>
          <a:xfrm>
            <a:off x="3520440" y="2926080"/>
            <a:ext cx="0" cy="502920"/>
          </a:xfrm>
          <a:prstGeom prst="line">
            <a:avLst/>
          </a:prstGeom>
          <a:noFill/>
          <a:ln w="25400">
            <a:solidFill>
              <a:schemeClr val="accent1"/>
            </a:solidFill>
            <a:prstDash val="solid"/>
            <a:tailEnd type="triangle"/>
          </a:ln>
        </p:spPr>
      </p:sp>
      <p:sp>
        <p:nvSpPr>
          <p:cNvPr id="20" name="Text 18"/>
          <p:cNvSpPr txBox="1"/>
          <p:nvPr/>
        </p:nvSpPr>
        <p:spPr>
          <a:xfrm>
            <a:off x="3657600" y="2971800"/>
            <a:ext cx="2743200" cy="365760"/>
          </a:xfrm>
          <a:prstGeom prst="rect">
            <a:avLst/>
          </a:prstGeom>
          <a:noFill/>
          <a:ln/>
        </p:spPr>
        <p:txBody>
          <a:bodyPr wrap="square" lIns="0" tIns="0" rIns="0" bIns="0" rtlCol="0" anchor="t"/>
          <a:lstStyle/>
          <a:p>
            <a:pPr indent="0" marL="0">
              <a:buNone/>
            </a:pPr>
            <a:r>
              <a:rPr lang="en-US" sz="1300" i="1" dirty="0">
                <a:solidFill>
                  <a:schemeClr val="accent1"/>
                </a:solidFill>
              </a:rPr>
              <a:t>copy the learned weights</a:t>
            </a:r>
            <a:endParaRPr lang="en-US" sz="1300" dirty="0"/>
          </a:p>
        </p:txBody>
      </p:sp>
      <p:sp>
        <p:nvSpPr>
          <p:cNvPr id="21" name="Text 19"/>
          <p:cNvSpPr txBox="1"/>
          <p:nvPr/>
        </p:nvSpPr>
        <p:spPr>
          <a:xfrm>
            <a:off x="548640" y="3520440"/>
            <a:ext cx="10972800" cy="365760"/>
          </a:xfrm>
          <a:prstGeom prst="rect">
            <a:avLst/>
          </a:prstGeom>
          <a:noFill/>
          <a:ln/>
        </p:spPr>
        <p:txBody>
          <a:bodyPr wrap="square" lIns="0" tIns="0" rIns="0" bIns="0" rtlCol="0" anchor="t"/>
          <a:lstStyle/>
          <a:p>
            <a:pPr indent="0" marL="0">
              <a:buNone/>
            </a:pPr>
            <a:r>
              <a:rPr lang="en-US" sz="1600" b="1" dirty="0">
                <a:solidFill>
                  <a:schemeClr val="tx2"/>
                </a:solidFill>
              </a:rPr>
              <a:t>Step 2: Our task, 2 classes and ~3,300 training faces</a:t>
            </a:r>
            <a:endParaRPr lang="en-US" sz="1600" dirty="0"/>
          </a:p>
        </p:txBody>
      </p:sp>
      <p:sp>
        <p:nvSpPr>
          <p:cNvPr id="22" name="ours conv 1"/>
          <p:cNvSpPr/>
          <p:nvPr/>
        </p:nvSpPr>
        <p:spPr>
          <a:xfrm>
            <a:off x="548640" y="3977640"/>
            <a:ext cx="1417320" cy="1051560"/>
          </a:xfrm>
          <a:prstGeom prst="roundRect">
            <a:avLst>
              <a:gd name="adj" fmla="val 6957"/>
            </a:avLst>
          </a:prstGeom>
          <a:solidFill>
            <a:schemeClr val="tx2"/>
          </a:solidFill>
          <a:ln/>
          <a:effectLst>
            <a:outerShdw sx="100000" sy="100000" kx="0" ky="0" algn="bl" rotWithShape="0" blurRad="76200" dist="25400" dir="5400000">
              <a:srgbClr val="000000">
                <a:alpha val="12000"/>
              </a:srgbClr>
            </a:outerShdw>
          </a:effectLst>
        </p:spPr>
      </p:sp>
      <p:sp>
        <p:nvSpPr>
          <p:cNvPr id="23" name="Text 21"/>
          <p:cNvSpPr txBox="1"/>
          <p:nvPr/>
        </p:nvSpPr>
        <p:spPr>
          <a:xfrm>
            <a:off x="640080" y="397764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1</a:t>
            </a:r>
            <a:endParaRPr lang="en-US" sz="1400" dirty="0"/>
          </a:p>
          <a:p>
            <a:pPr algn="ctr" indent="0" marL="0">
              <a:buNone/>
            </a:pPr>
            <a:r>
              <a:rPr lang="en-US" sz="1200" dirty="0">
                <a:solidFill>
                  <a:schemeClr val="bg1"/>
                </a:solidFill>
              </a:rPr>
              <a:t>edges</a:t>
            </a:r>
            <a:endParaRPr lang="en-US" sz="1400" dirty="0"/>
          </a:p>
        </p:txBody>
      </p:sp>
      <p:sp>
        <p:nvSpPr>
          <p:cNvPr id="24" name="Shape 22"/>
          <p:cNvSpPr/>
          <p:nvPr/>
        </p:nvSpPr>
        <p:spPr>
          <a:xfrm>
            <a:off x="1984248" y="4498848"/>
            <a:ext cx="146304" cy="0"/>
          </a:xfrm>
          <a:prstGeom prst="line">
            <a:avLst/>
          </a:prstGeom>
          <a:noFill/>
          <a:ln w="25400">
            <a:solidFill>
              <a:schemeClr val="accent6"/>
            </a:solidFill>
            <a:prstDash val="solid"/>
            <a:tailEnd type="triangle"/>
          </a:ln>
        </p:spPr>
      </p:sp>
      <p:sp>
        <p:nvSpPr>
          <p:cNvPr id="25" name="ours conv 2"/>
          <p:cNvSpPr/>
          <p:nvPr/>
        </p:nvSpPr>
        <p:spPr>
          <a:xfrm>
            <a:off x="2148840" y="3977640"/>
            <a:ext cx="1417320" cy="1051560"/>
          </a:xfrm>
          <a:prstGeom prst="roundRect">
            <a:avLst>
              <a:gd name="adj" fmla="val 6957"/>
            </a:avLst>
          </a:prstGeom>
          <a:solidFill>
            <a:schemeClr val="tx2"/>
          </a:solidFill>
          <a:ln/>
          <a:effectLst>
            <a:outerShdw sx="100000" sy="100000" kx="0" ky="0" algn="bl" rotWithShape="0" blurRad="76200" dist="25400" dir="5400000">
              <a:srgbClr val="000000">
                <a:alpha val="12000"/>
              </a:srgbClr>
            </a:outerShdw>
          </a:effectLst>
        </p:spPr>
      </p:sp>
      <p:sp>
        <p:nvSpPr>
          <p:cNvPr id="26" name="Text 24"/>
          <p:cNvSpPr txBox="1"/>
          <p:nvPr/>
        </p:nvSpPr>
        <p:spPr>
          <a:xfrm>
            <a:off x="2240280" y="397764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2</a:t>
            </a:r>
            <a:endParaRPr lang="en-US" sz="1400" dirty="0"/>
          </a:p>
          <a:p>
            <a:pPr algn="ctr" indent="0" marL="0">
              <a:buNone/>
            </a:pPr>
            <a:r>
              <a:rPr lang="en-US" sz="1200" dirty="0">
                <a:solidFill>
                  <a:schemeClr val="bg1"/>
                </a:solidFill>
              </a:rPr>
              <a:t>textures</a:t>
            </a:r>
            <a:endParaRPr lang="en-US" sz="1400" dirty="0"/>
          </a:p>
        </p:txBody>
      </p:sp>
      <p:sp>
        <p:nvSpPr>
          <p:cNvPr id="27" name="Shape 25"/>
          <p:cNvSpPr/>
          <p:nvPr/>
        </p:nvSpPr>
        <p:spPr>
          <a:xfrm>
            <a:off x="3584448" y="4498848"/>
            <a:ext cx="146304" cy="0"/>
          </a:xfrm>
          <a:prstGeom prst="line">
            <a:avLst/>
          </a:prstGeom>
          <a:noFill/>
          <a:ln w="25400">
            <a:solidFill>
              <a:schemeClr val="accent6"/>
            </a:solidFill>
            <a:prstDash val="solid"/>
            <a:tailEnd type="triangle"/>
          </a:ln>
        </p:spPr>
      </p:sp>
      <p:sp>
        <p:nvSpPr>
          <p:cNvPr id="28" name="ours conv 3"/>
          <p:cNvSpPr/>
          <p:nvPr/>
        </p:nvSpPr>
        <p:spPr>
          <a:xfrm>
            <a:off x="3749040" y="3977640"/>
            <a:ext cx="1417320" cy="1051560"/>
          </a:xfrm>
          <a:prstGeom prst="roundRect">
            <a:avLst>
              <a:gd name="adj" fmla="val 6957"/>
            </a:avLst>
          </a:prstGeom>
          <a:solidFill>
            <a:schemeClr val="tx2"/>
          </a:solidFill>
          <a:ln/>
          <a:effectLst>
            <a:outerShdw sx="100000" sy="100000" kx="0" ky="0" algn="bl" rotWithShape="0" blurRad="76200" dist="25400" dir="5400000">
              <a:srgbClr val="000000">
                <a:alpha val="12000"/>
              </a:srgbClr>
            </a:outerShdw>
          </a:effectLst>
        </p:spPr>
      </p:sp>
      <p:sp>
        <p:nvSpPr>
          <p:cNvPr id="29" name="Text 27"/>
          <p:cNvSpPr txBox="1"/>
          <p:nvPr/>
        </p:nvSpPr>
        <p:spPr>
          <a:xfrm>
            <a:off x="3840480" y="397764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3</a:t>
            </a:r>
            <a:endParaRPr lang="en-US" sz="1400" dirty="0"/>
          </a:p>
          <a:p>
            <a:pPr algn="ctr" indent="0" marL="0">
              <a:buNone/>
            </a:pPr>
            <a:r>
              <a:rPr lang="en-US" sz="1200" dirty="0">
                <a:solidFill>
                  <a:schemeClr val="bg1"/>
                </a:solidFill>
              </a:rPr>
              <a:t>parts</a:t>
            </a:r>
            <a:endParaRPr lang="en-US" sz="1400" dirty="0"/>
          </a:p>
        </p:txBody>
      </p:sp>
      <p:sp>
        <p:nvSpPr>
          <p:cNvPr id="30" name="Shape 28"/>
          <p:cNvSpPr/>
          <p:nvPr/>
        </p:nvSpPr>
        <p:spPr>
          <a:xfrm>
            <a:off x="5184648" y="4498848"/>
            <a:ext cx="146304" cy="0"/>
          </a:xfrm>
          <a:prstGeom prst="line">
            <a:avLst/>
          </a:prstGeom>
          <a:noFill/>
          <a:ln w="25400">
            <a:solidFill>
              <a:schemeClr val="accent6"/>
            </a:solidFill>
            <a:prstDash val="solid"/>
            <a:tailEnd type="triangle"/>
          </a:ln>
        </p:spPr>
      </p:sp>
      <p:sp>
        <p:nvSpPr>
          <p:cNvPr id="31" name="ours conv 4"/>
          <p:cNvSpPr/>
          <p:nvPr/>
        </p:nvSpPr>
        <p:spPr>
          <a:xfrm>
            <a:off x="5349240" y="3977640"/>
            <a:ext cx="1417320" cy="1051560"/>
          </a:xfrm>
          <a:prstGeom prst="roundRect">
            <a:avLst>
              <a:gd name="adj" fmla="val 6957"/>
            </a:avLst>
          </a:prstGeom>
          <a:solidFill>
            <a:schemeClr val="tx2"/>
          </a:solidFill>
          <a:ln/>
          <a:effectLst>
            <a:outerShdw sx="100000" sy="100000" kx="0" ky="0" algn="bl" rotWithShape="0" blurRad="76200" dist="25400" dir="5400000">
              <a:srgbClr val="000000">
                <a:alpha val="12000"/>
              </a:srgbClr>
            </a:outerShdw>
          </a:effectLst>
        </p:spPr>
      </p:sp>
      <p:sp>
        <p:nvSpPr>
          <p:cNvPr id="32" name="Text 30"/>
          <p:cNvSpPr txBox="1"/>
          <p:nvPr/>
        </p:nvSpPr>
        <p:spPr>
          <a:xfrm>
            <a:off x="5440680" y="3977640"/>
            <a:ext cx="1234440" cy="1051560"/>
          </a:xfrm>
          <a:prstGeom prst="rect">
            <a:avLst/>
          </a:prstGeom>
          <a:noFill/>
          <a:ln/>
        </p:spPr>
        <p:txBody>
          <a:bodyPr wrap="square" lIns="0" tIns="0" rIns="0" bIns="0" rtlCol="0" anchor="ctr"/>
          <a:lstStyle/>
          <a:p>
            <a:pPr algn="ctr" indent="0" marL="0">
              <a:buNone/>
            </a:pPr>
            <a:r>
              <a:rPr lang="en-US" sz="1400" b="1" dirty="0">
                <a:solidFill>
                  <a:schemeClr val="bg1"/>
                </a:solidFill>
              </a:rPr>
              <a:t>Conv block 4</a:t>
            </a:r>
            <a:endParaRPr lang="en-US" sz="1400" dirty="0"/>
          </a:p>
          <a:p>
            <a:pPr algn="ctr" indent="0" marL="0">
              <a:buNone/>
            </a:pPr>
            <a:r>
              <a:rPr lang="en-US" sz="1200" dirty="0">
                <a:solidFill>
                  <a:schemeClr val="bg1"/>
                </a:solidFill>
              </a:rPr>
              <a:t>objects</a:t>
            </a:r>
            <a:endParaRPr lang="en-US" sz="1400" dirty="0"/>
          </a:p>
        </p:txBody>
      </p:sp>
      <p:sp>
        <p:nvSpPr>
          <p:cNvPr id="33" name="frozen label"/>
          <p:cNvSpPr/>
          <p:nvPr/>
        </p:nvSpPr>
        <p:spPr>
          <a:xfrm>
            <a:off x="457200" y="5120640"/>
            <a:ext cx="6355080" cy="457200"/>
          </a:xfrm>
          <a:prstGeom prst="roundRect">
            <a:avLst>
              <a:gd name="adj" fmla="val 16000"/>
            </a:avLst>
          </a:prstGeom>
          <a:solidFill>
            <a:schemeClr val="bg2"/>
          </a:solidFill>
          <a:ln/>
        </p:spPr>
      </p:sp>
      <p:sp>
        <p:nvSpPr>
          <p:cNvPr id="34" name="Text 32"/>
          <p:cNvSpPr txBox="1"/>
          <p:nvPr/>
        </p:nvSpPr>
        <p:spPr>
          <a:xfrm>
            <a:off x="457200" y="5120640"/>
            <a:ext cx="6355080" cy="457200"/>
          </a:xfrm>
          <a:prstGeom prst="rect">
            <a:avLst/>
          </a:prstGeom>
          <a:noFill/>
          <a:ln/>
        </p:spPr>
        <p:txBody>
          <a:bodyPr wrap="square" lIns="0" tIns="0" rIns="0" bIns="0" rtlCol="0" anchor="ctr"/>
          <a:lstStyle/>
          <a:p>
            <a:pPr algn="ctr" indent="0" marL="0">
              <a:buNone/>
            </a:pPr>
            <a:r>
              <a:rPr lang="en-US" sz="1400" b="1" dirty="0">
                <a:solidFill>
                  <a:schemeClr val="tx2"/>
                </a:solidFill>
              </a:rPr>
              <a:t>FROZEN · 2,257,984 weights not updated</a:t>
            </a:r>
            <a:endParaRPr lang="en-US" sz="1400" dirty="0"/>
          </a:p>
        </p:txBody>
      </p:sp>
      <p:sp>
        <p:nvSpPr>
          <p:cNvPr id="35" name="Shape 33"/>
          <p:cNvSpPr/>
          <p:nvPr/>
        </p:nvSpPr>
        <p:spPr>
          <a:xfrm>
            <a:off x="6949440" y="4498848"/>
            <a:ext cx="365760" cy="0"/>
          </a:xfrm>
          <a:prstGeom prst="line">
            <a:avLst/>
          </a:prstGeom>
          <a:noFill/>
          <a:ln w="25400">
            <a:solidFill>
              <a:schemeClr val="accent6"/>
            </a:solidFill>
            <a:prstDash val="solid"/>
            <a:tailEnd type="triangle"/>
          </a:ln>
        </p:spPr>
      </p:sp>
      <p:sp>
        <p:nvSpPr>
          <p:cNvPr id="36" name="New 2-class head"/>
          <p:cNvSpPr/>
          <p:nvPr/>
        </p:nvSpPr>
        <p:spPr>
          <a:xfrm>
            <a:off x="7360920" y="3977640"/>
            <a:ext cx="2103120" cy="1051560"/>
          </a:xfrm>
          <a:prstGeom prst="roundRect">
            <a:avLst>
              <a:gd name="adj" fmla="val 6957"/>
            </a:avLst>
          </a:prstGeom>
          <a:solidFill>
            <a:schemeClr val="accent2"/>
          </a:solidFill>
          <a:ln/>
          <a:effectLst>
            <a:outerShdw sx="100000" sy="100000" kx="0" ky="0" algn="bl" rotWithShape="0" blurRad="76200" dist="25400" dir="5400000">
              <a:srgbClr val="000000">
                <a:alpha val="12000"/>
              </a:srgbClr>
            </a:outerShdw>
          </a:effectLst>
        </p:spPr>
      </p:sp>
      <p:sp>
        <p:nvSpPr>
          <p:cNvPr id="37" name="Text 35"/>
          <p:cNvSpPr txBox="1"/>
          <p:nvPr/>
        </p:nvSpPr>
        <p:spPr>
          <a:xfrm>
            <a:off x="7452360" y="3977640"/>
            <a:ext cx="1920240" cy="1051560"/>
          </a:xfrm>
          <a:prstGeom prst="rect">
            <a:avLst/>
          </a:prstGeom>
          <a:noFill/>
          <a:ln/>
        </p:spPr>
        <p:txBody>
          <a:bodyPr wrap="square" lIns="0" tIns="0" rIns="0" bIns="0" rtlCol="0" anchor="ctr"/>
          <a:lstStyle/>
          <a:p>
            <a:pPr algn="ctr" indent="0" marL="0">
              <a:buNone/>
            </a:pPr>
            <a:r>
              <a:rPr lang="en-US" sz="1400" b="1" dirty="0">
                <a:solidFill>
                  <a:schemeClr val="bg1"/>
                </a:solidFill>
              </a:rPr>
              <a:t>New 2-class head</a:t>
            </a:r>
            <a:endParaRPr lang="en-US" sz="1400" dirty="0"/>
          </a:p>
          <a:p>
            <a:pPr algn="ctr" indent="0" marL="0">
              <a:buNone/>
            </a:pPr>
            <a:r>
              <a:rPr lang="en-US" sz="1200" dirty="0">
                <a:solidFill>
                  <a:schemeClr val="bg1"/>
                </a:solidFill>
              </a:rPr>
              <a:t>mask / no mask</a:t>
            </a:r>
            <a:endParaRPr lang="en-US" sz="1400" dirty="0"/>
          </a:p>
        </p:txBody>
      </p:sp>
      <p:sp>
        <p:nvSpPr>
          <p:cNvPr id="38" name="trainable label"/>
          <p:cNvSpPr/>
          <p:nvPr/>
        </p:nvSpPr>
        <p:spPr>
          <a:xfrm>
            <a:off x="7360920" y="5120640"/>
            <a:ext cx="2103120" cy="457200"/>
          </a:xfrm>
          <a:prstGeom prst="roundRect">
            <a:avLst>
              <a:gd name="adj" fmla="val 16000"/>
            </a:avLst>
          </a:prstGeom>
          <a:solidFill>
            <a:schemeClr val="bg2"/>
          </a:solidFill>
          <a:ln/>
        </p:spPr>
      </p:sp>
      <p:sp>
        <p:nvSpPr>
          <p:cNvPr id="39" name="Text 37"/>
          <p:cNvSpPr txBox="1"/>
          <p:nvPr/>
        </p:nvSpPr>
        <p:spPr>
          <a:xfrm>
            <a:off x="7360920" y="5120640"/>
            <a:ext cx="2103120" cy="457200"/>
          </a:xfrm>
          <a:prstGeom prst="rect">
            <a:avLst/>
          </a:prstGeom>
          <a:noFill/>
          <a:ln/>
        </p:spPr>
        <p:txBody>
          <a:bodyPr wrap="square" lIns="0" tIns="0" rIns="0" bIns="0" rtlCol="0" anchor="ctr"/>
          <a:lstStyle/>
          <a:p>
            <a:pPr algn="ctr" indent="0" marL="0">
              <a:buNone/>
            </a:pPr>
            <a:r>
              <a:rPr lang="en-US" sz="1400" b="1" dirty="0">
                <a:solidFill>
                  <a:schemeClr val="accent2"/>
                </a:solidFill>
              </a:rPr>
              <a:t>TRAINED · 164,226</a:t>
            </a:r>
            <a:endParaRPr lang="en-US" sz="1400" dirty="0"/>
          </a:p>
        </p:txBody>
      </p:sp>
      <p:sp>
        <p:nvSpPr>
          <p:cNvPr id="40" name="Text 38"/>
          <p:cNvSpPr txBox="1"/>
          <p:nvPr/>
        </p:nvSpPr>
        <p:spPr>
          <a:xfrm>
            <a:off x="9692640" y="3520440"/>
            <a:ext cx="1920240" cy="2377440"/>
          </a:xfrm>
          <a:prstGeom prst="rect">
            <a:avLst/>
          </a:prstGeom>
          <a:noFill/>
          <a:ln/>
        </p:spPr>
        <p:txBody>
          <a:bodyPr wrap="square" lIns="0" tIns="0" rIns="0" bIns="0" rtlCol="0" anchor="t"/>
          <a:lstStyle/>
          <a:p>
            <a:pPr indent="0" marL="0">
              <a:buNone/>
            </a:pPr>
            <a:r>
              <a:rPr lang="en-US" sz="1300" b="1" dirty="0">
                <a:solidFill>
                  <a:schemeClr val="accent1"/>
                </a:solidFill>
              </a:rPr>
              <a:t>Why it works: </a:t>
            </a:r>
            <a:endParaRPr lang="en-US" sz="1300" dirty="0"/>
          </a:p>
          <a:p>
            <a:pPr indent="0" marL="0">
              <a:buNone/>
            </a:pPr>
            <a:r>
              <a:rPr lang="en-US" sz="1300" dirty="0">
                <a:solidFill>
                  <a:schemeClr val="tx1"/>
                </a:solidFill>
              </a:rPr>
              <a:t>Features like edges, fabric texture and face shape are general. We reuse them and only learn the final decision, so we need less data and minutes of CPU time instead of days of GPU time.</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Model architecture, layer by layer</a:t>
            </a:r>
            <a:endParaRPr lang="en-US" sz="3200" dirty="0"/>
          </a:p>
        </p:txBody>
      </p:sp>
      <p:sp>
        <p:nvSpPr>
          <p:cNvPr id="3" name="layer Input"/>
          <p:cNvSpPr/>
          <p:nvPr/>
        </p:nvSpPr>
        <p:spPr>
          <a:xfrm>
            <a:off x="548640" y="1651406"/>
            <a:ext cx="1188720" cy="2092147"/>
          </a:xfrm>
          <a:prstGeom prst="roundRect">
            <a:avLst>
              <a:gd name="adj" fmla="val 6154"/>
            </a:avLst>
          </a:prstGeom>
          <a:solidFill>
            <a:schemeClr val="accent5"/>
          </a:solidFill>
          <a:ln/>
          <a:effectLst>
            <a:outerShdw sx="100000" sy="100000" kx="0" ky="0" algn="bl" rotWithShape="0" blurRad="76200" dist="25400" dir="5400000">
              <a:srgbClr val="000000">
                <a:alpha val="12000"/>
              </a:srgbClr>
            </a:outerShdw>
          </a:effectLst>
        </p:spPr>
      </p:sp>
      <p:sp>
        <p:nvSpPr>
          <p:cNvPr id="4" name="Text 2"/>
          <p:cNvSpPr txBox="1"/>
          <p:nvPr/>
        </p:nvSpPr>
        <p:spPr>
          <a:xfrm>
            <a:off x="594360" y="1651406"/>
            <a:ext cx="1097280" cy="2092147"/>
          </a:xfrm>
          <a:prstGeom prst="rect">
            <a:avLst/>
          </a:prstGeom>
          <a:noFill/>
          <a:ln/>
        </p:spPr>
        <p:txBody>
          <a:bodyPr wrap="square" lIns="0" tIns="0" rIns="0" bIns="0" rtlCol="0" anchor="ctr"/>
          <a:lstStyle/>
          <a:p>
            <a:pPr algn="ctr" indent="0" marL="0">
              <a:buNone/>
            </a:pPr>
            <a:r>
              <a:rPr lang="en-US" sz="1300" b="1" dirty="0">
                <a:solidFill>
                  <a:schemeClr val="bg1"/>
                </a:solidFill>
              </a:rPr>
              <a:t>Input</a:t>
            </a:r>
            <a:endParaRPr lang="en-US" sz="1300" dirty="0"/>
          </a:p>
        </p:txBody>
      </p:sp>
      <p:sp>
        <p:nvSpPr>
          <p:cNvPr id="5" name="Shape 3"/>
          <p:cNvSpPr/>
          <p:nvPr/>
        </p:nvSpPr>
        <p:spPr>
          <a:xfrm>
            <a:off x="1755648" y="2697480"/>
            <a:ext cx="182880" cy="0"/>
          </a:xfrm>
          <a:prstGeom prst="line">
            <a:avLst/>
          </a:prstGeom>
          <a:noFill/>
          <a:ln w="25400">
            <a:solidFill>
              <a:schemeClr val="accent6"/>
            </a:solidFill>
            <a:prstDash val="solid"/>
            <a:tailEnd type="triangle"/>
          </a:ln>
        </p:spPr>
      </p:sp>
      <p:sp>
        <p:nvSpPr>
          <p:cNvPr id="6" name="Text 4"/>
          <p:cNvSpPr txBox="1"/>
          <p:nvPr/>
        </p:nvSpPr>
        <p:spPr>
          <a:xfrm>
            <a:off x="502920"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224×224×3</a:t>
            </a:r>
            <a:endParaRPr lang="en-US" sz="1300" dirty="0"/>
          </a:p>
        </p:txBody>
      </p:sp>
      <p:sp>
        <p:nvSpPr>
          <p:cNvPr id="7" name="Text 5"/>
          <p:cNvSpPr txBox="1"/>
          <p:nvPr/>
        </p:nvSpPr>
        <p:spPr>
          <a:xfrm>
            <a:off x="502920"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RGB face</a:t>
            </a:r>
            <a:endParaRPr lang="en-US" sz="1100" dirty="0"/>
          </a:p>
        </p:txBody>
      </p:sp>
      <p:sp>
        <p:nvSpPr>
          <p:cNvPr id="8" name="Text 6"/>
          <p:cNvSpPr txBox="1"/>
          <p:nvPr/>
        </p:nvSpPr>
        <p:spPr>
          <a:xfrm>
            <a:off x="502920" y="493776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9" name="layer Augmentation"/>
          <p:cNvSpPr/>
          <p:nvPr/>
        </p:nvSpPr>
        <p:spPr>
          <a:xfrm>
            <a:off x="1956816" y="1651406"/>
            <a:ext cx="1188720" cy="2092147"/>
          </a:xfrm>
          <a:prstGeom prst="roundRect">
            <a:avLst>
              <a:gd name="adj" fmla="val 6154"/>
            </a:avLst>
          </a:prstGeom>
          <a:solidFill>
            <a:schemeClr val="accent4"/>
          </a:solidFill>
          <a:ln/>
          <a:effectLst>
            <a:outerShdw sx="100000" sy="100000" kx="0" ky="0" algn="bl" rotWithShape="0" blurRad="76200" dist="25400" dir="5400000">
              <a:srgbClr val="000000">
                <a:alpha val="12000"/>
              </a:srgbClr>
            </a:outerShdw>
          </a:effectLst>
        </p:spPr>
      </p:sp>
      <p:sp>
        <p:nvSpPr>
          <p:cNvPr id="10" name="Text 8"/>
          <p:cNvSpPr txBox="1"/>
          <p:nvPr/>
        </p:nvSpPr>
        <p:spPr>
          <a:xfrm>
            <a:off x="2002536" y="1651406"/>
            <a:ext cx="1097280" cy="2092147"/>
          </a:xfrm>
          <a:prstGeom prst="rect">
            <a:avLst/>
          </a:prstGeom>
          <a:noFill/>
          <a:ln/>
        </p:spPr>
        <p:txBody>
          <a:bodyPr wrap="square" lIns="0" tIns="0" rIns="0" bIns="0" rtlCol="0" anchor="ctr"/>
          <a:lstStyle/>
          <a:p>
            <a:pPr algn="ctr" indent="0" marL="0">
              <a:buNone/>
            </a:pPr>
            <a:r>
              <a:rPr lang="en-US" sz="1300" b="1" dirty="0">
                <a:solidFill>
                  <a:schemeClr val="tx1"/>
                </a:solidFill>
              </a:rPr>
              <a:t>Augmentation</a:t>
            </a:r>
            <a:endParaRPr lang="en-US" sz="1300" dirty="0"/>
          </a:p>
        </p:txBody>
      </p:sp>
      <p:sp>
        <p:nvSpPr>
          <p:cNvPr id="11" name="Shape 9"/>
          <p:cNvSpPr/>
          <p:nvPr/>
        </p:nvSpPr>
        <p:spPr>
          <a:xfrm>
            <a:off x="3163824" y="2697480"/>
            <a:ext cx="182880" cy="0"/>
          </a:xfrm>
          <a:prstGeom prst="line">
            <a:avLst/>
          </a:prstGeom>
          <a:noFill/>
          <a:ln w="25400">
            <a:solidFill>
              <a:schemeClr val="accent6"/>
            </a:solidFill>
            <a:prstDash val="solid"/>
            <a:tailEnd type="triangle"/>
          </a:ln>
        </p:spPr>
      </p:sp>
      <p:sp>
        <p:nvSpPr>
          <p:cNvPr id="12" name="Text 10"/>
          <p:cNvSpPr txBox="1"/>
          <p:nvPr/>
        </p:nvSpPr>
        <p:spPr>
          <a:xfrm>
            <a:off x="1911096"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224×224×3</a:t>
            </a:r>
            <a:endParaRPr lang="en-US" sz="1300" dirty="0"/>
          </a:p>
        </p:txBody>
      </p:sp>
      <p:sp>
        <p:nvSpPr>
          <p:cNvPr id="13" name="Text 11"/>
          <p:cNvSpPr txBox="1"/>
          <p:nvPr/>
        </p:nvSpPr>
        <p:spPr>
          <a:xfrm>
            <a:off x="1911096"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train only</a:t>
            </a:r>
            <a:endParaRPr lang="en-US" sz="1100" dirty="0"/>
          </a:p>
        </p:txBody>
      </p:sp>
      <p:sp>
        <p:nvSpPr>
          <p:cNvPr id="14" name="Text 12"/>
          <p:cNvSpPr txBox="1"/>
          <p:nvPr/>
        </p:nvSpPr>
        <p:spPr>
          <a:xfrm>
            <a:off x="1911096" y="493776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15" name="layer MobileNetV2 base"/>
          <p:cNvSpPr/>
          <p:nvPr/>
        </p:nvSpPr>
        <p:spPr>
          <a:xfrm>
            <a:off x="3364992" y="1892808"/>
            <a:ext cx="1188720" cy="1609344"/>
          </a:xfrm>
          <a:prstGeom prst="roundRect">
            <a:avLst>
              <a:gd name="adj" fmla="val 6154"/>
            </a:avLst>
          </a:prstGeom>
          <a:solidFill>
            <a:schemeClr val="tx2"/>
          </a:solidFill>
          <a:ln/>
          <a:effectLst>
            <a:outerShdw sx="100000" sy="100000" kx="0" ky="0" algn="bl" rotWithShape="0" blurRad="76200" dist="25400" dir="5400000">
              <a:srgbClr val="000000">
                <a:alpha val="12000"/>
              </a:srgbClr>
            </a:outerShdw>
          </a:effectLst>
        </p:spPr>
      </p:sp>
      <p:sp>
        <p:nvSpPr>
          <p:cNvPr id="16" name="Text 14"/>
          <p:cNvSpPr txBox="1"/>
          <p:nvPr/>
        </p:nvSpPr>
        <p:spPr>
          <a:xfrm>
            <a:off x="3410712" y="1892808"/>
            <a:ext cx="1097280" cy="1609344"/>
          </a:xfrm>
          <a:prstGeom prst="rect">
            <a:avLst/>
          </a:prstGeom>
          <a:noFill/>
          <a:ln/>
        </p:spPr>
        <p:txBody>
          <a:bodyPr wrap="square" lIns="0" tIns="0" rIns="0" bIns="0" rtlCol="0" anchor="ctr"/>
          <a:lstStyle/>
          <a:p>
            <a:pPr algn="ctr" indent="0" marL="0">
              <a:buNone/>
            </a:pPr>
            <a:r>
              <a:rPr lang="en-US" sz="1300" b="1" dirty="0">
                <a:solidFill>
                  <a:schemeClr val="bg1"/>
                </a:solidFill>
              </a:rPr>
              <a:t>MobileNetV2 base</a:t>
            </a:r>
            <a:endParaRPr lang="en-US" sz="1300" dirty="0"/>
          </a:p>
        </p:txBody>
      </p:sp>
      <p:sp>
        <p:nvSpPr>
          <p:cNvPr id="17" name="Shape 15"/>
          <p:cNvSpPr/>
          <p:nvPr/>
        </p:nvSpPr>
        <p:spPr>
          <a:xfrm>
            <a:off x="4572000" y="2697480"/>
            <a:ext cx="182880" cy="0"/>
          </a:xfrm>
          <a:prstGeom prst="line">
            <a:avLst/>
          </a:prstGeom>
          <a:noFill/>
          <a:ln w="25400">
            <a:solidFill>
              <a:schemeClr val="accent6"/>
            </a:solidFill>
            <a:prstDash val="solid"/>
            <a:tailEnd type="triangle"/>
          </a:ln>
        </p:spPr>
      </p:sp>
      <p:sp>
        <p:nvSpPr>
          <p:cNvPr id="18" name="Text 16"/>
          <p:cNvSpPr txBox="1"/>
          <p:nvPr/>
        </p:nvSpPr>
        <p:spPr>
          <a:xfrm>
            <a:off x="3319272"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7×7×1280</a:t>
            </a:r>
            <a:endParaRPr lang="en-US" sz="1300" dirty="0"/>
          </a:p>
        </p:txBody>
      </p:sp>
      <p:sp>
        <p:nvSpPr>
          <p:cNvPr id="19" name="Text 17"/>
          <p:cNvSpPr txBox="1"/>
          <p:nvPr/>
        </p:nvSpPr>
        <p:spPr>
          <a:xfrm>
            <a:off x="3319272"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frozen</a:t>
            </a:r>
            <a:endParaRPr lang="en-US" sz="1100" dirty="0"/>
          </a:p>
        </p:txBody>
      </p:sp>
      <p:sp>
        <p:nvSpPr>
          <p:cNvPr id="20" name="Text 18"/>
          <p:cNvSpPr txBox="1"/>
          <p:nvPr/>
        </p:nvSpPr>
        <p:spPr>
          <a:xfrm>
            <a:off x="3319272" y="4937760"/>
            <a:ext cx="1280160" cy="274320"/>
          </a:xfrm>
          <a:prstGeom prst="rect">
            <a:avLst/>
          </a:prstGeom>
          <a:noFill/>
          <a:ln/>
        </p:spPr>
        <p:txBody>
          <a:bodyPr wrap="square" lIns="0" tIns="0" rIns="0" bIns="0" rtlCol="0" anchor="t"/>
          <a:lstStyle/>
          <a:p>
            <a:pPr algn="ctr" indent="0" marL="0">
              <a:buNone/>
            </a:pPr>
            <a:r>
              <a:rPr lang="en-US" sz="1200" b="1" dirty="0">
                <a:solidFill>
                  <a:schemeClr val="tx1"/>
                </a:solidFill>
              </a:rPr>
              <a:t>2,257,984</a:t>
            </a:r>
            <a:endParaRPr lang="en-US" sz="1200" dirty="0"/>
          </a:p>
        </p:txBody>
      </p:sp>
      <p:sp>
        <p:nvSpPr>
          <p:cNvPr id="21" name="layer AvgPool 7×7"/>
          <p:cNvSpPr/>
          <p:nvPr/>
        </p:nvSpPr>
        <p:spPr>
          <a:xfrm>
            <a:off x="4773168" y="2093976"/>
            <a:ext cx="1188720" cy="1207008"/>
          </a:xfrm>
          <a:prstGeom prst="roundRect">
            <a:avLst>
              <a:gd name="adj" fmla="val 6154"/>
            </a:avLst>
          </a:prstGeom>
          <a:solidFill>
            <a:schemeClr val="accent1"/>
          </a:solidFill>
          <a:ln/>
          <a:effectLst>
            <a:outerShdw sx="100000" sy="100000" kx="0" ky="0" algn="bl" rotWithShape="0" blurRad="76200" dist="25400" dir="5400000">
              <a:srgbClr val="000000">
                <a:alpha val="12000"/>
              </a:srgbClr>
            </a:outerShdw>
          </a:effectLst>
        </p:spPr>
      </p:sp>
      <p:sp>
        <p:nvSpPr>
          <p:cNvPr id="22" name="Text 20"/>
          <p:cNvSpPr txBox="1"/>
          <p:nvPr/>
        </p:nvSpPr>
        <p:spPr>
          <a:xfrm>
            <a:off x="4818888" y="2093976"/>
            <a:ext cx="1097280" cy="1207008"/>
          </a:xfrm>
          <a:prstGeom prst="rect">
            <a:avLst/>
          </a:prstGeom>
          <a:noFill/>
          <a:ln/>
        </p:spPr>
        <p:txBody>
          <a:bodyPr wrap="square" lIns="0" tIns="0" rIns="0" bIns="0" rtlCol="0" anchor="ctr"/>
          <a:lstStyle/>
          <a:p>
            <a:pPr algn="ctr" indent="0" marL="0">
              <a:buNone/>
            </a:pPr>
            <a:r>
              <a:rPr lang="en-US" sz="1300" b="1" dirty="0">
                <a:solidFill>
                  <a:schemeClr val="bg1"/>
                </a:solidFill>
              </a:rPr>
              <a:t>AvgPool 7×7</a:t>
            </a:r>
            <a:endParaRPr lang="en-US" sz="1300" dirty="0"/>
          </a:p>
        </p:txBody>
      </p:sp>
      <p:sp>
        <p:nvSpPr>
          <p:cNvPr id="23" name="Shape 21"/>
          <p:cNvSpPr/>
          <p:nvPr/>
        </p:nvSpPr>
        <p:spPr>
          <a:xfrm>
            <a:off x="5980176" y="2697480"/>
            <a:ext cx="182880" cy="0"/>
          </a:xfrm>
          <a:prstGeom prst="line">
            <a:avLst/>
          </a:prstGeom>
          <a:noFill/>
          <a:ln w="25400">
            <a:solidFill>
              <a:schemeClr val="accent6"/>
            </a:solidFill>
            <a:prstDash val="solid"/>
            <a:tailEnd type="triangle"/>
          </a:ln>
        </p:spPr>
      </p:sp>
      <p:sp>
        <p:nvSpPr>
          <p:cNvPr id="24" name="Text 22"/>
          <p:cNvSpPr txBox="1"/>
          <p:nvPr/>
        </p:nvSpPr>
        <p:spPr>
          <a:xfrm>
            <a:off x="4727448"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1×1×1280</a:t>
            </a:r>
            <a:endParaRPr lang="en-US" sz="1300" dirty="0"/>
          </a:p>
        </p:txBody>
      </p:sp>
      <p:sp>
        <p:nvSpPr>
          <p:cNvPr id="25" name="Text 23"/>
          <p:cNvSpPr txBox="1"/>
          <p:nvPr/>
        </p:nvSpPr>
        <p:spPr>
          <a:xfrm>
            <a:off x="4727448"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summarise</a:t>
            </a:r>
            <a:endParaRPr lang="en-US" sz="1100" dirty="0"/>
          </a:p>
        </p:txBody>
      </p:sp>
      <p:sp>
        <p:nvSpPr>
          <p:cNvPr id="26" name="Text 24"/>
          <p:cNvSpPr txBox="1"/>
          <p:nvPr/>
        </p:nvSpPr>
        <p:spPr>
          <a:xfrm>
            <a:off x="4727448" y="493776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27" name="layer Flatten"/>
          <p:cNvSpPr/>
          <p:nvPr/>
        </p:nvSpPr>
        <p:spPr>
          <a:xfrm>
            <a:off x="6181344" y="2174443"/>
            <a:ext cx="1188720" cy="1046074"/>
          </a:xfrm>
          <a:prstGeom prst="roundRect">
            <a:avLst>
              <a:gd name="adj" fmla="val 6993"/>
            </a:avLst>
          </a:prstGeom>
          <a:solidFill>
            <a:schemeClr val="accent1"/>
          </a:solidFill>
          <a:ln/>
          <a:effectLst>
            <a:outerShdw sx="100000" sy="100000" kx="0" ky="0" algn="bl" rotWithShape="0" blurRad="76200" dist="25400" dir="5400000">
              <a:srgbClr val="000000">
                <a:alpha val="12000"/>
              </a:srgbClr>
            </a:outerShdw>
          </a:effectLst>
        </p:spPr>
      </p:sp>
      <p:sp>
        <p:nvSpPr>
          <p:cNvPr id="28" name="Text 26"/>
          <p:cNvSpPr txBox="1"/>
          <p:nvPr/>
        </p:nvSpPr>
        <p:spPr>
          <a:xfrm>
            <a:off x="6227064" y="2174443"/>
            <a:ext cx="1097280" cy="1046074"/>
          </a:xfrm>
          <a:prstGeom prst="rect">
            <a:avLst/>
          </a:prstGeom>
          <a:noFill/>
          <a:ln/>
        </p:spPr>
        <p:txBody>
          <a:bodyPr wrap="square" lIns="0" tIns="0" rIns="0" bIns="0" rtlCol="0" anchor="ctr"/>
          <a:lstStyle/>
          <a:p>
            <a:pPr algn="ctr" indent="0" marL="0">
              <a:buNone/>
            </a:pPr>
            <a:r>
              <a:rPr lang="en-US" sz="1300" b="1" dirty="0">
                <a:solidFill>
                  <a:schemeClr val="bg1"/>
                </a:solidFill>
              </a:rPr>
              <a:t>Flatten</a:t>
            </a:r>
            <a:endParaRPr lang="en-US" sz="1300" dirty="0"/>
          </a:p>
        </p:txBody>
      </p:sp>
      <p:sp>
        <p:nvSpPr>
          <p:cNvPr id="29" name="Shape 27"/>
          <p:cNvSpPr/>
          <p:nvPr/>
        </p:nvSpPr>
        <p:spPr>
          <a:xfrm>
            <a:off x="7388352" y="2697480"/>
            <a:ext cx="182880" cy="0"/>
          </a:xfrm>
          <a:prstGeom prst="line">
            <a:avLst/>
          </a:prstGeom>
          <a:noFill/>
          <a:ln w="25400">
            <a:solidFill>
              <a:schemeClr val="accent6"/>
            </a:solidFill>
            <a:prstDash val="solid"/>
            <a:tailEnd type="triangle"/>
          </a:ln>
        </p:spPr>
      </p:sp>
      <p:sp>
        <p:nvSpPr>
          <p:cNvPr id="30" name="Text 28"/>
          <p:cNvSpPr txBox="1"/>
          <p:nvPr/>
        </p:nvSpPr>
        <p:spPr>
          <a:xfrm>
            <a:off x="6135624"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1280</a:t>
            </a:r>
            <a:endParaRPr lang="en-US" sz="1300" dirty="0"/>
          </a:p>
        </p:txBody>
      </p:sp>
      <p:sp>
        <p:nvSpPr>
          <p:cNvPr id="31" name="Text 29"/>
          <p:cNvSpPr txBox="1"/>
          <p:nvPr/>
        </p:nvSpPr>
        <p:spPr>
          <a:xfrm>
            <a:off x="6135624"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to vector</a:t>
            </a:r>
            <a:endParaRPr lang="en-US" sz="1100" dirty="0"/>
          </a:p>
        </p:txBody>
      </p:sp>
      <p:sp>
        <p:nvSpPr>
          <p:cNvPr id="32" name="Text 30"/>
          <p:cNvSpPr txBox="1"/>
          <p:nvPr/>
        </p:nvSpPr>
        <p:spPr>
          <a:xfrm>
            <a:off x="6135624" y="493776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33" name="layer Dense + ReLU"/>
          <p:cNvSpPr/>
          <p:nvPr/>
        </p:nvSpPr>
        <p:spPr>
          <a:xfrm>
            <a:off x="7589520" y="2295144"/>
            <a:ext cx="1188720" cy="804672"/>
          </a:xfrm>
          <a:prstGeom prst="roundRect">
            <a:avLst>
              <a:gd name="adj" fmla="val 9091"/>
            </a:avLst>
          </a:prstGeom>
          <a:solidFill>
            <a:schemeClr val="accent2"/>
          </a:solidFill>
          <a:ln/>
          <a:effectLst>
            <a:outerShdw sx="100000" sy="100000" kx="0" ky="0" algn="bl" rotWithShape="0" blurRad="76200" dist="25400" dir="5400000">
              <a:srgbClr val="000000">
                <a:alpha val="12000"/>
              </a:srgbClr>
            </a:outerShdw>
          </a:effectLst>
        </p:spPr>
      </p:sp>
      <p:sp>
        <p:nvSpPr>
          <p:cNvPr id="34" name="Text 32"/>
          <p:cNvSpPr txBox="1"/>
          <p:nvPr/>
        </p:nvSpPr>
        <p:spPr>
          <a:xfrm>
            <a:off x="7635240" y="2295144"/>
            <a:ext cx="1097280" cy="804672"/>
          </a:xfrm>
          <a:prstGeom prst="rect">
            <a:avLst/>
          </a:prstGeom>
          <a:noFill/>
          <a:ln/>
        </p:spPr>
        <p:txBody>
          <a:bodyPr wrap="square" lIns="0" tIns="0" rIns="0" bIns="0" rtlCol="0" anchor="ctr"/>
          <a:lstStyle/>
          <a:p>
            <a:pPr algn="ctr" indent="0" marL="0">
              <a:buNone/>
            </a:pPr>
            <a:r>
              <a:rPr lang="en-US" sz="1300" b="1" dirty="0">
                <a:solidFill>
                  <a:schemeClr val="bg1"/>
                </a:solidFill>
              </a:rPr>
              <a:t>Dense + ReLU</a:t>
            </a:r>
            <a:endParaRPr lang="en-US" sz="1300" dirty="0"/>
          </a:p>
        </p:txBody>
      </p:sp>
      <p:sp>
        <p:nvSpPr>
          <p:cNvPr id="35" name="Shape 33"/>
          <p:cNvSpPr/>
          <p:nvPr/>
        </p:nvSpPr>
        <p:spPr>
          <a:xfrm>
            <a:off x="8796528" y="2697480"/>
            <a:ext cx="182880" cy="0"/>
          </a:xfrm>
          <a:prstGeom prst="line">
            <a:avLst/>
          </a:prstGeom>
          <a:noFill/>
          <a:ln w="25400">
            <a:solidFill>
              <a:schemeClr val="accent6"/>
            </a:solidFill>
            <a:prstDash val="solid"/>
            <a:tailEnd type="triangle"/>
          </a:ln>
        </p:spPr>
      </p:sp>
      <p:sp>
        <p:nvSpPr>
          <p:cNvPr id="36" name="Text 34"/>
          <p:cNvSpPr txBox="1"/>
          <p:nvPr/>
        </p:nvSpPr>
        <p:spPr>
          <a:xfrm>
            <a:off x="7543800"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128</a:t>
            </a:r>
            <a:endParaRPr lang="en-US" sz="1300" dirty="0"/>
          </a:p>
        </p:txBody>
      </p:sp>
      <p:sp>
        <p:nvSpPr>
          <p:cNvPr id="37" name="Text 35"/>
          <p:cNvSpPr txBox="1"/>
          <p:nvPr/>
        </p:nvSpPr>
        <p:spPr>
          <a:xfrm>
            <a:off x="7543800"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learn combos</a:t>
            </a:r>
            <a:endParaRPr lang="en-US" sz="1100" dirty="0"/>
          </a:p>
        </p:txBody>
      </p:sp>
      <p:sp>
        <p:nvSpPr>
          <p:cNvPr id="38" name="Text 36"/>
          <p:cNvSpPr txBox="1"/>
          <p:nvPr/>
        </p:nvSpPr>
        <p:spPr>
          <a:xfrm>
            <a:off x="7543800" y="4937760"/>
            <a:ext cx="1280160" cy="274320"/>
          </a:xfrm>
          <a:prstGeom prst="rect">
            <a:avLst/>
          </a:prstGeom>
          <a:noFill/>
          <a:ln/>
        </p:spPr>
        <p:txBody>
          <a:bodyPr wrap="square" lIns="0" tIns="0" rIns="0" bIns="0" rtlCol="0" anchor="t"/>
          <a:lstStyle/>
          <a:p>
            <a:pPr algn="ctr" indent="0" marL="0">
              <a:buNone/>
            </a:pPr>
            <a:r>
              <a:rPr lang="en-US" sz="1200" b="1" dirty="0">
                <a:solidFill>
                  <a:schemeClr val="tx1"/>
                </a:solidFill>
              </a:rPr>
              <a:t>163,968</a:t>
            </a:r>
            <a:endParaRPr lang="en-US" sz="1200" dirty="0"/>
          </a:p>
        </p:txBody>
      </p:sp>
      <p:sp>
        <p:nvSpPr>
          <p:cNvPr id="39" name="layer Dropout 0.5"/>
          <p:cNvSpPr/>
          <p:nvPr/>
        </p:nvSpPr>
        <p:spPr>
          <a:xfrm>
            <a:off x="8997696" y="2295144"/>
            <a:ext cx="1188720" cy="804672"/>
          </a:xfrm>
          <a:prstGeom prst="roundRect">
            <a:avLst>
              <a:gd name="adj" fmla="val 9091"/>
            </a:avLst>
          </a:prstGeom>
          <a:solidFill>
            <a:schemeClr val="accent2"/>
          </a:solidFill>
          <a:ln/>
          <a:effectLst>
            <a:outerShdw sx="100000" sy="100000" kx="0" ky="0" algn="bl" rotWithShape="0" blurRad="76200" dist="25400" dir="5400000">
              <a:srgbClr val="000000">
                <a:alpha val="12000"/>
              </a:srgbClr>
            </a:outerShdw>
          </a:effectLst>
        </p:spPr>
      </p:sp>
      <p:sp>
        <p:nvSpPr>
          <p:cNvPr id="40" name="Text 38"/>
          <p:cNvSpPr txBox="1"/>
          <p:nvPr/>
        </p:nvSpPr>
        <p:spPr>
          <a:xfrm>
            <a:off x="9043416" y="2295144"/>
            <a:ext cx="1097280" cy="804672"/>
          </a:xfrm>
          <a:prstGeom prst="rect">
            <a:avLst/>
          </a:prstGeom>
          <a:noFill/>
          <a:ln/>
        </p:spPr>
        <p:txBody>
          <a:bodyPr wrap="square" lIns="0" tIns="0" rIns="0" bIns="0" rtlCol="0" anchor="ctr"/>
          <a:lstStyle/>
          <a:p>
            <a:pPr algn="ctr" indent="0" marL="0">
              <a:buNone/>
            </a:pPr>
            <a:r>
              <a:rPr lang="en-US" sz="1300" b="1" dirty="0">
                <a:solidFill>
                  <a:schemeClr val="bg1"/>
                </a:solidFill>
              </a:rPr>
              <a:t>Dropout 0.5</a:t>
            </a:r>
            <a:endParaRPr lang="en-US" sz="1300" dirty="0"/>
          </a:p>
        </p:txBody>
      </p:sp>
      <p:sp>
        <p:nvSpPr>
          <p:cNvPr id="41" name="Shape 39"/>
          <p:cNvSpPr/>
          <p:nvPr/>
        </p:nvSpPr>
        <p:spPr>
          <a:xfrm>
            <a:off x="10204704" y="2697480"/>
            <a:ext cx="182880" cy="0"/>
          </a:xfrm>
          <a:prstGeom prst="line">
            <a:avLst/>
          </a:prstGeom>
          <a:noFill/>
          <a:ln w="25400">
            <a:solidFill>
              <a:schemeClr val="accent6"/>
            </a:solidFill>
            <a:prstDash val="solid"/>
            <a:tailEnd type="triangle"/>
          </a:ln>
        </p:spPr>
      </p:sp>
      <p:sp>
        <p:nvSpPr>
          <p:cNvPr id="42" name="Text 40"/>
          <p:cNvSpPr txBox="1"/>
          <p:nvPr/>
        </p:nvSpPr>
        <p:spPr>
          <a:xfrm>
            <a:off x="8951976"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128</a:t>
            </a:r>
            <a:endParaRPr lang="en-US" sz="1300" dirty="0"/>
          </a:p>
        </p:txBody>
      </p:sp>
      <p:sp>
        <p:nvSpPr>
          <p:cNvPr id="43" name="Text 41"/>
          <p:cNvSpPr txBox="1"/>
          <p:nvPr/>
        </p:nvSpPr>
        <p:spPr>
          <a:xfrm>
            <a:off x="8951976"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regularise</a:t>
            </a:r>
            <a:endParaRPr lang="en-US" sz="1100" dirty="0"/>
          </a:p>
        </p:txBody>
      </p:sp>
      <p:sp>
        <p:nvSpPr>
          <p:cNvPr id="44" name="Text 42"/>
          <p:cNvSpPr txBox="1"/>
          <p:nvPr/>
        </p:nvSpPr>
        <p:spPr>
          <a:xfrm>
            <a:off x="8951976" y="493776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0</a:t>
            </a:r>
            <a:endParaRPr lang="en-US" sz="1200" dirty="0"/>
          </a:p>
        </p:txBody>
      </p:sp>
      <p:sp>
        <p:nvSpPr>
          <p:cNvPr id="45" name="layer Dense + Softmax"/>
          <p:cNvSpPr/>
          <p:nvPr/>
        </p:nvSpPr>
        <p:spPr>
          <a:xfrm>
            <a:off x="10405872" y="2456078"/>
            <a:ext cx="1188720" cy="482803"/>
          </a:xfrm>
          <a:prstGeom prst="roundRect">
            <a:avLst>
              <a:gd name="adj" fmla="val 15152"/>
            </a:avLst>
          </a:prstGeom>
          <a:solidFill>
            <a:schemeClr val="accent2"/>
          </a:solidFill>
          <a:ln/>
          <a:effectLst>
            <a:outerShdw sx="100000" sy="100000" kx="0" ky="0" algn="bl" rotWithShape="0" blurRad="76200" dist="25400" dir="5400000">
              <a:srgbClr val="000000">
                <a:alpha val="12000"/>
              </a:srgbClr>
            </a:outerShdw>
          </a:effectLst>
        </p:spPr>
      </p:sp>
      <p:sp>
        <p:nvSpPr>
          <p:cNvPr id="46" name="Text 44"/>
          <p:cNvSpPr txBox="1"/>
          <p:nvPr/>
        </p:nvSpPr>
        <p:spPr>
          <a:xfrm>
            <a:off x="10451592" y="2456078"/>
            <a:ext cx="1097280" cy="482803"/>
          </a:xfrm>
          <a:prstGeom prst="rect">
            <a:avLst/>
          </a:prstGeom>
          <a:noFill/>
          <a:ln/>
        </p:spPr>
        <p:txBody>
          <a:bodyPr wrap="square" lIns="0" tIns="0" rIns="0" bIns="0" rtlCol="0" anchor="ctr"/>
          <a:lstStyle/>
          <a:p>
            <a:pPr algn="ctr" indent="0" marL="0">
              <a:buNone/>
            </a:pPr>
            <a:r>
              <a:rPr lang="en-US" sz="1300" b="1" dirty="0">
                <a:solidFill>
                  <a:schemeClr val="bg1"/>
                </a:solidFill>
              </a:rPr>
              <a:t>Dense + Softmax</a:t>
            </a:r>
            <a:endParaRPr lang="en-US" sz="1300" dirty="0"/>
          </a:p>
        </p:txBody>
      </p:sp>
      <p:sp>
        <p:nvSpPr>
          <p:cNvPr id="47" name="Text 45"/>
          <p:cNvSpPr txBox="1"/>
          <p:nvPr/>
        </p:nvSpPr>
        <p:spPr>
          <a:xfrm>
            <a:off x="10360152" y="4160520"/>
            <a:ext cx="1280160" cy="320040"/>
          </a:xfrm>
          <a:prstGeom prst="rect">
            <a:avLst/>
          </a:prstGeom>
          <a:noFill/>
          <a:ln/>
        </p:spPr>
        <p:txBody>
          <a:bodyPr wrap="square" lIns="0" tIns="0" rIns="0" bIns="0" rtlCol="0" anchor="t"/>
          <a:lstStyle/>
          <a:p>
            <a:pPr algn="ctr" indent="0" marL="0">
              <a:buNone/>
            </a:pPr>
            <a:r>
              <a:rPr lang="en-US" sz="1300" b="1" dirty="0">
                <a:solidFill>
                  <a:schemeClr val="tx2"/>
                </a:solidFill>
              </a:rPr>
              <a:t>2</a:t>
            </a:r>
            <a:endParaRPr lang="en-US" sz="1300" dirty="0"/>
          </a:p>
        </p:txBody>
      </p:sp>
      <p:sp>
        <p:nvSpPr>
          <p:cNvPr id="48" name="Text 46"/>
          <p:cNvSpPr txBox="1"/>
          <p:nvPr/>
        </p:nvSpPr>
        <p:spPr>
          <a:xfrm>
            <a:off x="10360152" y="4526280"/>
            <a:ext cx="1280160" cy="274320"/>
          </a:xfrm>
          <a:prstGeom prst="rect">
            <a:avLst/>
          </a:prstGeom>
          <a:noFill/>
          <a:ln/>
        </p:spPr>
        <p:txBody>
          <a:bodyPr wrap="square" lIns="0" tIns="0" rIns="0" bIns="0" rtlCol="0" anchor="t"/>
          <a:lstStyle/>
          <a:p>
            <a:pPr algn="ctr" indent="0" marL="0">
              <a:buNone/>
            </a:pPr>
            <a:r>
              <a:rPr lang="en-US" sz="1100" dirty="0">
                <a:solidFill>
                  <a:schemeClr val="accent6"/>
                </a:solidFill>
              </a:rPr>
              <a:t>probabilities</a:t>
            </a:r>
            <a:endParaRPr lang="en-US" sz="1100" dirty="0"/>
          </a:p>
        </p:txBody>
      </p:sp>
      <p:sp>
        <p:nvSpPr>
          <p:cNvPr id="49" name="Text 47"/>
          <p:cNvSpPr txBox="1"/>
          <p:nvPr/>
        </p:nvSpPr>
        <p:spPr>
          <a:xfrm>
            <a:off x="10360152" y="4937760"/>
            <a:ext cx="1280160" cy="274320"/>
          </a:xfrm>
          <a:prstGeom prst="rect">
            <a:avLst/>
          </a:prstGeom>
          <a:noFill/>
          <a:ln/>
        </p:spPr>
        <p:txBody>
          <a:bodyPr wrap="square" lIns="0" tIns="0" rIns="0" bIns="0" rtlCol="0" anchor="t"/>
          <a:lstStyle/>
          <a:p>
            <a:pPr algn="ctr" indent="0" marL="0">
              <a:buNone/>
            </a:pPr>
            <a:r>
              <a:rPr lang="en-US" sz="1200" b="1" dirty="0">
                <a:solidFill>
                  <a:schemeClr val="tx1"/>
                </a:solidFill>
              </a:rPr>
              <a:t>258</a:t>
            </a:r>
            <a:endParaRPr lang="en-US" sz="1200" dirty="0"/>
          </a:p>
        </p:txBody>
      </p:sp>
      <p:sp>
        <p:nvSpPr>
          <p:cNvPr id="50" name="Text 48"/>
          <p:cNvSpPr txBox="1"/>
          <p:nvPr/>
        </p:nvSpPr>
        <p:spPr>
          <a:xfrm>
            <a:off x="548640" y="3904488"/>
            <a:ext cx="2743200" cy="228600"/>
          </a:xfrm>
          <a:prstGeom prst="rect">
            <a:avLst/>
          </a:prstGeom>
          <a:noFill/>
          <a:ln/>
        </p:spPr>
        <p:txBody>
          <a:bodyPr wrap="square" lIns="0" tIns="0" rIns="0" bIns="0" rtlCol="0" anchor="t"/>
          <a:lstStyle/>
          <a:p>
            <a:pPr indent="0" marL="0">
              <a:buNone/>
            </a:pPr>
            <a:r>
              <a:rPr lang="en-US" sz="1000" i="1" dirty="0">
                <a:solidFill>
                  <a:schemeClr val="accent6"/>
                </a:solidFill>
              </a:rPr>
              <a:t>output shape</a:t>
            </a:r>
            <a:endParaRPr lang="en-US" sz="1000" dirty="0"/>
          </a:p>
        </p:txBody>
      </p:sp>
      <p:sp>
        <p:nvSpPr>
          <p:cNvPr id="51" name="Text 49"/>
          <p:cNvSpPr txBox="1"/>
          <p:nvPr/>
        </p:nvSpPr>
        <p:spPr>
          <a:xfrm>
            <a:off x="548640" y="5212080"/>
            <a:ext cx="3657600" cy="228600"/>
          </a:xfrm>
          <a:prstGeom prst="rect">
            <a:avLst/>
          </a:prstGeom>
          <a:noFill/>
          <a:ln/>
        </p:spPr>
        <p:txBody>
          <a:bodyPr wrap="square" lIns="0" tIns="0" rIns="0" bIns="0" rtlCol="0" anchor="t"/>
          <a:lstStyle/>
          <a:p>
            <a:pPr indent="0" marL="0">
              <a:buNone/>
            </a:pPr>
            <a:r>
              <a:rPr lang="en-US" sz="1000" i="1" dirty="0">
                <a:solidFill>
                  <a:schemeClr val="accent6"/>
                </a:solidFill>
              </a:rPr>
              <a:t>trainable / frozen parameters</a:t>
            </a:r>
            <a:endParaRPr lang="en-US" sz="1000" dirty="0"/>
          </a:p>
        </p:txBody>
      </p:sp>
      <p:sp>
        <p:nvSpPr>
          <p:cNvPr id="52" name="param summary"/>
          <p:cNvSpPr/>
          <p:nvPr/>
        </p:nvSpPr>
        <p:spPr>
          <a:xfrm>
            <a:off x="548640" y="5532120"/>
            <a:ext cx="11064240" cy="640080"/>
          </a:xfrm>
          <a:prstGeom prst="roundRect">
            <a:avLst>
              <a:gd name="adj" fmla="val 11429"/>
            </a:avLst>
          </a:prstGeom>
          <a:solidFill>
            <a:schemeClr val="bg2"/>
          </a:solidFill>
          <a:ln/>
        </p:spPr>
      </p:sp>
      <p:sp>
        <p:nvSpPr>
          <p:cNvPr id="53" name="Text 51"/>
          <p:cNvSpPr txBox="1"/>
          <p:nvPr/>
        </p:nvSpPr>
        <p:spPr>
          <a:xfrm>
            <a:off x="777240" y="5532120"/>
            <a:ext cx="10607040" cy="640080"/>
          </a:xfrm>
          <a:prstGeom prst="rect">
            <a:avLst/>
          </a:prstGeom>
          <a:noFill/>
          <a:ln/>
        </p:spPr>
        <p:txBody>
          <a:bodyPr wrap="square" lIns="0" tIns="0" rIns="0" bIns="0" rtlCol="0" anchor="ctr"/>
          <a:lstStyle/>
          <a:p>
            <a:pPr indent="0" marL="0">
              <a:buNone/>
            </a:pPr>
            <a:r>
              <a:rPr lang="en-US" sz="1400" b="1" dirty="0">
                <a:solidFill>
                  <a:schemeClr val="tx1"/>
                </a:solidFill>
              </a:rPr>
              <a:t>Total 2,422,210 parameters  ·  </a:t>
            </a:r>
            <a:pPr indent="0" marL="0">
              <a:buNone/>
            </a:pPr>
            <a:r>
              <a:rPr lang="en-US" sz="1400" b="1" dirty="0">
                <a:solidFill>
                  <a:schemeClr val="accent2"/>
                </a:solidFill>
              </a:rPr>
              <a:t>Trainable 164,226  ·  </a:t>
            </a:r>
            <a:pPr indent="0" marL="0">
              <a:buNone/>
            </a:pPr>
            <a:r>
              <a:rPr lang="en-US" sz="1400" b="1" dirty="0">
                <a:solidFill>
                  <a:schemeClr val="tx2"/>
                </a:solidFill>
              </a:rPr>
              <a:t>Frozen 2,257,984</a:t>
            </a:r>
            <a:pPr indent="0" marL="0">
              <a:buNone/>
            </a:pPr>
            <a:r>
              <a:rPr lang="en-US" sz="1200" i="1" dirty="0">
                <a:solidFill>
                  <a:schemeClr val="accent6"/>
                </a:solidFill>
              </a:rPr>
              <a:t>    Box height ≈ how much spatial information is left at each stage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Inside MobileNetV2: the inverted residual block</a:t>
            </a:r>
            <a:endParaRPr lang="en-US" sz="3200" dirty="0"/>
          </a:p>
        </p:txBody>
      </p:sp>
      <p:sp>
        <p:nvSpPr>
          <p:cNvPr id="3" name="block Input"/>
          <p:cNvSpPr/>
          <p:nvPr/>
        </p:nvSpPr>
        <p:spPr>
          <a:xfrm>
            <a:off x="822960" y="1325880"/>
            <a:ext cx="4023360" cy="713232"/>
          </a:xfrm>
          <a:prstGeom prst="roundRect">
            <a:avLst>
              <a:gd name="adj" fmla="val 10256"/>
            </a:avLst>
          </a:prstGeom>
          <a:solidFill>
            <a:schemeClr val="accent5"/>
          </a:solidFill>
          <a:ln/>
          <a:effectLst>
            <a:outerShdw sx="100000" sy="100000" kx="0" ky="0" algn="bl" rotWithShape="0" blurRad="76200" dist="25400" dir="5400000">
              <a:srgbClr val="000000">
                <a:alpha val="12000"/>
              </a:srgbClr>
            </a:outerShdw>
          </a:effectLst>
        </p:spPr>
      </p:sp>
      <p:sp>
        <p:nvSpPr>
          <p:cNvPr id="4" name="Text 2"/>
          <p:cNvSpPr txBox="1"/>
          <p:nvPr/>
        </p:nvSpPr>
        <p:spPr>
          <a:xfrm>
            <a:off x="914400" y="1325880"/>
            <a:ext cx="3840480" cy="713232"/>
          </a:xfrm>
          <a:prstGeom prst="rect">
            <a:avLst/>
          </a:prstGeom>
          <a:noFill/>
          <a:ln/>
        </p:spPr>
        <p:txBody>
          <a:bodyPr wrap="square" lIns="0" tIns="0" rIns="0" bIns="0" rtlCol="0" anchor="ctr"/>
          <a:lstStyle/>
          <a:p>
            <a:pPr algn="ctr" indent="0" marL="0">
              <a:buNone/>
            </a:pPr>
            <a:r>
              <a:rPr lang="en-US" sz="1400" b="1" dirty="0">
                <a:solidFill>
                  <a:schemeClr val="bg1"/>
                </a:solidFill>
              </a:rPr>
              <a:t>Input</a:t>
            </a:r>
            <a:endParaRPr lang="en-US" sz="1400" dirty="0"/>
          </a:p>
          <a:p>
            <a:pPr algn="ctr" indent="0" marL="0">
              <a:buNone/>
            </a:pPr>
            <a:r>
              <a:rPr lang="en-US" sz="1200" dirty="0">
                <a:solidFill>
                  <a:schemeClr val="bg1"/>
                </a:solidFill>
              </a:rPr>
              <a:t>narrow: e.g. 24 channels</a:t>
            </a:r>
            <a:endParaRPr lang="en-US" sz="1400" dirty="0"/>
          </a:p>
        </p:txBody>
      </p:sp>
      <p:sp>
        <p:nvSpPr>
          <p:cNvPr id="5" name="Shape 3"/>
          <p:cNvSpPr/>
          <p:nvPr/>
        </p:nvSpPr>
        <p:spPr>
          <a:xfrm>
            <a:off x="2834640" y="2057400"/>
            <a:ext cx="0" cy="210312"/>
          </a:xfrm>
          <a:prstGeom prst="line">
            <a:avLst/>
          </a:prstGeom>
          <a:noFill/>
          <a:ln w="25400">
            <a:solidFill>
              <a:schemeClr val="accent6"/>
            </a:solidFill>
            <a:prstDash val="solid"/>
            <a:tailEnd type="triangle"/>
          </a:ln>
        </p:spPr>
      </p:sp>
      <p:sp>
        <p:nvSpPr>
          <p:cNvPr id="6" name="block 1×1 Conv, expand ×6"/>
          <p:cNvSpPr/>
          <p:nvPr/>
        </p:nvSpPr>
        <p:spPr>
          <a:xfrm>
            <a:off x="822960" y="2286000"/>
            <a:ext cx="4023360" cy="713232"/>
          </a:xfrm>
          <a:prstGeom prst="roundRect">
            <a:avLst>
              <a:gd name="adj" fmla="val 10256"/>
            </a:avLst>
          </a:prstGeom>
          <a:solidFill>
            <a:schemeClr val="accent1"/>
          </a:solidFill>
          <a:ln/>
          <a:effectLst>
            <a:outerShdw sx="100000" sy="100000" kx="0" ky="0" algn="bl" rotWithShape="0" blurRad="76200" dist="25400" dir="5400000">
              <a:srgbClr val="000000">
                <a:alpha val="12000"/>
              </a:srgbClr>
            </a:outerShdw>
          </a:effectLst>
        </p:spPr>
      </p:sp>
      <p:sp>
        <p:nvSpPr>
          <p:cNvPr id="7" name="Text 5"/>
          <p:cNvSpPr txBox="1"/>
          <p:nvPr/>
        </p:nvSpPr>
        <p:spPr>
          <a:xfrm>
            <a:off x="914400" y="2286000"/>
            <a:ext cx="3840480" cy="713232"/>
          </a:xfrm>
          <a:prstGeom prst="rect">
            <a:avLst/>
          </a:prstGeom>
          <a:noFill/>
          <a:ln/>
        </p:spPr>
        <p:txBody>
          <a:bodyPr wrap="square" lIns="0" tIns="0" rIns="0" bIns="0" rtlCol="0" anchor="ctr"/>
          <a:lstStyle/>
          <a:p>
            <a:pPr algn="ctr" indent="0" marL="0">
              <a:buNone/>
            </a:pPr>
            <a:r>
              <a:rPr lang="en-US" sz="1400" b="1" dirty="0">
                <a:solidFill>
                  <a:schemeClr val="bg1"/>
                </a:solidFill>
              </a:rPr>
              <a:t>1×1 Conv, expand ×6</a:t>
            </a:r>
            <a:endParaRPr lang="en-US" sz="1400" dirty="0"/>
          </a:p>
          <a:p>
            <a:pPr algn="ctr" indent="0" marL="0">
              <a:buNone/>
            </a:pPr>
            <a:r>
              <a:rPr lang="en-US" sz="1200" dirty="0">
                <a:solidFill>
                  <a:schemeClr val="bg1"/>
                </a:solidFill>
              </a:rPr>
              <a:t>→ 144 channels + BatchNorm + ReLU6</a:t>
            </a:r>
            <a:endParaRPr lang="en-US" sz="1400" dirty="0"/>
          </a:p>
        </p:txBody>
      </p:sp>
      <p:sp>
        <p:nvSpPr>
          <p:cNvPr id="8" name="Shape 6"/>
          <p:cNvSpPr/>
          <p:nvPr/>
        </p:nvSpPr>
        <p:spPr>
          <a:xfrm>
            <a:off x="2834640" y="3017520"/>
            <a:ext cx="0" cy="210312"/>
          </a:xfrm>
          <a:prstGeom prst="line">
            <a:avLst/>
          </a:prstGeom>
          <a:noFill/>
          <a:ln w="25400">
            <a:solidFill>
              <a:schemeClr val="accent6"/>
            </a:solidFill>
            <a:prstDash val="solid"/>
            <a:tailEnd type="triangle"/>
          </a:ln>
        </p:spPr>
      </p:sp>
      <p:sp>
        <p:nvSpPr>
          <p:cNvPr id="9" name="block 3×3 Depthwise Conv"/>
          <p:cNvSpPr/>
          <p:nvPr/>
        </p:nvSpPr>
        <p:spPr>
          <a:xfrm>
            <a:off x="822960" y="3246120"/>
            <a:ext cx="4023360" cy="713232"/>
          </a:xfrm>
          <a:prstGeom prst="roundRect">
            <a:avLst>
              <a:gd name="adj" fmla="val 10256"/>
            </a:avLst>
          </a:prstGeom>
          <a:solidFill>
            <a:schemeClr val="tx2"/>
          </a:solidFill>
          <a:ln/>
          <a:effectLst>
            <a:outerShdw sx="100000" sy="100000" kx="0" ky="0" algn="bl" rotWithShape="0" blurRad="76200" dist="25400" dir="5400000">
              <a:srgbClr val="000000">
                <a:alpha val="12000"/>
              </a:srgbClr>
            </a:outerShdw>
          </a:effectLst>
        </p:spPr>
      </p:sp>
      <p:sp>
        <p:nvSpPr>
          <p:cNvPr id="10" name="Text 8"/>
          <p:cNvSpPr txBox="1"/>
          <p:nvPr/>
        </p:nvSpPr>
        <p:spPr>
          <a:xfrm>
            <a:off x="914400" y="3246120"/>
            <a:ext cx="3840480" cy="713232"/>
          </a:xfrm>
          <a:prstGeom prst="rect">
            <a:avLst/>
          </a:prstGeom>
          <a:noFill/>
          <a:ln/>
        </p:spPr>
        <p:txBody>
          <a:bodyPr wrap="square" lIns="0" tIns="0" rIns="0" bIns="0" rtlCol="0" anchor="ctr"/>
          <a:lstStyle/>
          <a:p>
            <a:pPr algn="ctr" indent="0" marL="0">
              <a:buNone/>
            </a:pPr>
            <a:r>
              <a:rPr lang="en-US" sz="1400" b="1" dirty="0">
                <a:solidFill>
                  <a:schemeClr val="bg1"/>
                </a:solidFill>
              </a:rPr>
              <a:t>3×3 Depthwise Conv</a:t>
            </a:r>
            <a:endParaRPr lang="en-US" sz="1400" dirty="0"/>
          </a:p>
          <a:p>
            <a:pPr algn="ctr" indent="0" marL="0">
              <a:buNone/>
            </a:pPr>
            <a:r>
              <a:rPr lang="en-US" sz="1200" dirty="0">
                <a:solidFill>
                  <a:schemeClr val="bg1"/>
                </a:solidFill>
              </a:rPr>
              <a:t>one filter per channel + BN + ReLU6</a:t>
            </a:r>
            <a:endParaRPr lang="en-US" sz="1400" dirty="0"/>
          </a:p>
        </p:txBody>
      </p:sp>
      <p:sp>
        <p:nvSpPr>
          <p:cNvPr id="11" name="Shape 9"/>
          <p:cNvSpPr/>
          <p:nvPr/>
        </p:nvSpPr>
        <p:spPr>
          <a:xfrm>
            <a:off x="2834640" y="3977640"/>
            <a:ext cx="0" cy="210312"/>
          </a:xfrm>
          <a:prstGeom prst="line">
            <a:avLst/>
          </a:prstGeom>
          <a:noFill/>
          <a:ln w="25400">
            <a:solidFill>
              <a:schemeClr val="accent6"/>
            </a:solidFill>
            <a:prstDash val="solid"/>
            <a:tailEnd type="triangle"/>
          </a:ln>
        </p:spPr>
      </p:sp>
      <p:sp>
        <p:nvSpPr>
          <p:cNvPr id="12" name="block 1×1 Conv, project"/>
          <p:cNvSpPr/>
          <p:nvPr/>
        </p:nvSpPr>
        <p:spPr>
          <a:xfrm>
            <a:off x="822960" y="4206240"/>
            <a:ext cx="4023360" cy="713232"/>
          </a:xfrm>
          <a:prstGeom prst="roundRect">
            <a:avLst>
              <a:gd name="adj" fmla="val 10256"/>
            </a:avLst>
          </a:prstGeom>
          <a:solidFill>
            <a:schemeClr val="accent1"/>
          </a:solidFill>
          <a:ln/>
          <a:effectLst>
            <a:outerShdw sx="100000" sy="100000" kx="0" ky="0" algn="bl" rotWithShape="0" blurRad="76200" dist="25400" dir="5400000">
              <a:srgbClr val="000000">
                <a:alpha val="12000"/>
              </a:srgbClr>
            </a:outerShdw>
          </a:effectLst>
        </p:spPr>
      </p:sp>
      <p:sp>
        <p:nvSpPr>
          <p:cNvPr id="13" name="Text 11"/>
          <p:cNvSpPr txBox="1"/>
          <p:nvPr/>
        </p:nvSpPr>
        <p:spPr>
          <a:xfrm>
            <a:off x="914400" y="4206240"/>
            <a:ext cx="3840480" cy="713232"/>
          </a:xfrm>
          <a:prstGeom prst="rect">
            <a:avLst/>
          </a:prstGeom>
          <a:noFill/>
          <a:ln/>
        </p:spPr>
        <p:txBody>
          <a:bodyPr wrap="square" lIns="0" tIns="0" rIns="0" bIns="0" rtlCol="0" anchor="ctr"/>
          <a:lstStyle/>
          <a:p>
            <a:pPr algn="ctr" indent="0" marL="0">
              <a:buNone/>
            </a:pPr>
            <a:r>
              <a:rPr lang="en-US" sz="1400" b="1" dirty="0">
                <a:solidFill>
                  <a:schemeClr val="bg1"/>
                </a:solidFill>
              </a:rPr>
              <a:t>1×1 Conv, project</a:t>
            </a:r>
            <a:endParaRPr lang="en-US" sz="1400" dirty="0"/>
          </a:p>
          <a:p>
            <a:pPr algn="ctr" indent="0" marL="0">
              <a:buNone/>
            </a:pPr>
            <a:r>
              <a:rPr lang="en-US" sz="1200" dirty="0">
                <a:solidFill>
                  <a:schemeClr val="bg1"/>
                </a:solidFill>
              </a:rPr>
              <a:t>→ 24 channels, linear (no ReLU)</a:t>
            </a:r>
            <a:endParaRPr lang="en-US" sz="1400" dirty="0"/>
          </a:p>
        </p:txBody>
      </p:sp>
      <p:sp>
        <p:nvSpPr>
          <p:cNvPr id="14" name="Shape 12"/>
          <p:cNvSpPr/>
          <p:nvPr/>
        </p:nvSpPr>
        <p:spPr>
          <a:xfrm>
            <a:off x="2834640" y="4937760"/>
            <a:ext cx="0" cy="210312"/>
          </a:xfrm>
          <a:prstGeom prst="line">
            <a:avLst/>
          </a:prstGeom>
          <a:noFill/>
          <a:ln w="25400">
            <a:solidFill>
              <a:schemeClr val="accent6"/>
            </a:solidFill>
            <a:prstDash val="solid"/>
            <a:tailEnd type="triangle"/>
          </a:ln>
        </p:spPr>
      </p:sp>
      <p:sp>
        <p:nvSpPr>
          <p:cNvPr id="15" name="block Add (+)"/>
          <p:cNvSpPr/>
          <p:nvPr/>
        </p:nvSpPr>
        <p:spPr>
          <a:xfrm>
            <a:off x="822960" y="5166360"/>
            <a:ext cx="4023360" cy="713232"/>
          </a:xfrm>
          <a:prstGeom prst="roundRect">
            <a:avLst>
              <a:gd name="adj" fmla="val 10256"/>
            </a:avLst>
          </a:prstGeom>
          <a:solidFill>
            <a:schemeClr val="accent2"/>
          </a:solidFill>
          <a:ln/>
          <a:effectLst>
            <a:outerShdw sx="100000" sy="100000" kx="0" ky="0" algn="bl" rotWithShape="0" blurRad="76200" dist="25400" dir="5400000">
              <a:srgbClr val="000000">
                <a:alpha val="12000"/>
              </a:srgbClr>
            </a:outerShdw>
          </a:effectLst>
        </p:spPr>
      </p:sp>
      <p:sp>
        <p:nvSpPr>
          <p:cNvPr id="16" name="Text 14"/>
          <p:cNvSpPr txBox="1"/>
          <p:nvPr/>
        </p:nvSpPr>
        <p:spPr>
          <a:xfrm>
            <a:off x="914400" y="5166360"/>
            <a:ext cx="3840480" cy="713232"/>
          </a:xfrm>
          <a:prstGeom prst="rect">
            <a:avLst/>
          </a:prstGeom>
          <a:noFill/>
          <a:ln/>
        </p:spPr>
        <p:txBody>
          <a:bodyPr wrap="square" lIns="0" tIns="0" rIns="0" bIns="0" rtlCol="0" anchor="ctr"/>
          <a:lstStyle/>
          <a:p>
            <a:pPr algn="ctr" indent="0" marL="0">
              <a:buNone/>
            </a:pPr>
            <a:r>
              <a:rPr lang="en-US" sz="1400" b="1" dirty="0">
                <a:solidFill>
                  <a:schemeClr val="bg1"/>
                </a:solidFill>
              </a:rPr>
              <a:t>Add (+)</a:t>
            </a:r>
            <a:endParaRPr lang="en-US" sz="1400" dirty="0"/>
          </a:p>
          <a:p>
            <a:pPr algn="ctr" indent="0" marL="0">
              <a:buNone/>
            </a:pPr>
            <a:r>
              <a:rPr lang="en-US" sz="1200" dirty="0">
                <a:solidFill>
                  <a:schemeClr val="bg1"/>
                </a:solidFill>
              </a:rPr>
              <a:t>output = input + block(input)</a:t>
            </a:r>
            <a:endParaRPr lang="en-US" sz="1400" dirty="0"/>
          </a:p>
        </p:txBody>
      </p:sp>
      <p:sp>
        <p:nvSpPr>
          <p:cNvPr id="17" name="Shape 15"/>
          <p:cNvSpPr/>
          <p:nvPr/>
        </p:nvSpPr>
        <p:spPr>
          <a:xfrm>
            <a:off x="4846320" y="1682496"/>
            <a:ext cx="457200" cy="0"/>
          </a:xfrm>
          <a:prstGeom prst="line">
            <a:avLst/>
          </a:prstGeom>
          <a:noFill/>
          <a:ln w="25400">
            <a:solidFill>
              <a:schemeClr val="accent2"/>
            </a:solidFill>
            <a:prstDash val="dash"/>
          </a:ln>
        </p:spPr>
      </p:sp>
      <p:sp>
        <p:nvSpPr>
          <p:cNvPr id="18" name="Shape 16"/>
          <p:cNvSpPr/>
          <p:nvPr/>
        </p:nvSpPr>
        <p:spPr>
          <a:xfrm>
            <a:off x="5303520" y="1682496"/>
            <a:ext cx="0" cy="3840480"/>
          </a:xfrm>
          <a:prstGeom prst="line">
            <a:avLst/>
          </a:prstGeom>
          <a:noFill/>
          <a:ln w="25400">
            <a:solidFill>
              <a:schemeClr val="accent2"/>
            </a:solidFill>
            <a:prstDash val="dash"/>
          </a:ln>
        </p:spPr>
      </p:sp>
      <p:sp>
        <p:nvSpPr>
          <p:cNvPr id="19" name="Shape 17"/>
          <p:cNvSpPr/>
          <p:nvPr/>
        </p:nvSpPr>
        <p:spPr>
          <a:xfrm flipH="1">
            <a:off x="4864608" y="5522976"/>
            <a:ext cx="438912" cy="0"/>
          </a:xfrm>
          <a:prstGeom prst="line">
            <a:avLst/>
          </a:prstGeom>
          <a:noFill/>
          <a:ln w="25400">
            <a:solidFill>
              <a:schemeClr val="accent2"/>
            </a:solidFill>
            <a:prstDash val="dash"/>
            <a:tailEnd type="triangle"/>
          </a:ln>
        </p:spPr>
      </p:sp>
      <p:sp>
        <p:nvSpPr>
          <p:cNvPr id="20" name="Text 18"/>
          <p:cNvSpPr txBox="1"/>
          <p:nvPr/>
        </p:nvSpPr>
        <p:spPr>
          <a:xfrm>
            <a:off x="5394960" y="3419856"/>
            <a:ext cx="914400" cy="548640"/>
          </a:xfrm>
          <a:prstGeom prst="rect">
            <a:avLst/>
          </a:prstGeom>
          <a:noFill/>
          <a:ln/>
        </p:spPr>
        <p:txBody>
          <a:bodyPr wrap="square" lIns="0" tIns="0" rIns="0" bIns="0" rtlCol="0" anchor="t"/>
          <a:lstStyle/>
          <a:p>
            <a:pPr indent="0" marL="0">
              <a:buNone/>
            </a:pPr>
            <a:r>
              <a:rPr lang="en-US" sz="1200" i="1" dirty="0">
                <a:solidFill>
                  <a:schemeClr val="accent2"/>
                </a:solidFill>
              </a:rPr>
              <a:t>skip connection</a:t>
            </a:r>
            <a:endParaRPr lang="en-US" sz="1200" dirty="0"/>
          </a:p>
        </p:txBody>
      </p:sp>
      <p:sp>
        <p:nvSpPr>
          <p:cNvPr id="21" name="depthwise explainer"/>
          <p:cNvSpPr/>
          <p:nvPr/>
        </p:nvSpPr>
        <p:spPr>
          <a:xfrm>
            <a:off x="6492240" y="1325880"/>
            <a:ext cx="5120640" cy="2240280"/>
          </a:xfrm>
          <a:prstGeom prst="roundRect">
            <a:avLst>
              <a:gd name="adj" fmla="val 3265"/>
            </a:avLst>
          </a:prstGeom>
          <a:solidFill>
            <a:schemeClr val="bg2"/>
          </a:solidFill>
          <a:ln/>
        </p:spPr>
      </p:sp>
      <p:sp>
        <p:nvSpPr>
          <p:cNvPr id="22" name="Text 20"/>
          <p:cNvSpPr txBox="1"/>
          <p:nvPr/>
        </p:nvSpPr>
        <p:spPr>
          <a:xfrm>
            <a:off x="6720840" y="1463040"/>
            <a:ext cx="4663440" cy="201168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Why it's fast: depthwise-separable convolution</a:t>
            </a:r>
            <a:endParaRPr lang="en-US" sz="1300" dirty="0"/>
          </a:p>
          <a:p>
            <a:pPr indent="0" marL="0">
              <a:spcAft>
                <a:spcPts val="300"/>
              </a:spcAft>
              <a:buNone/>
            </a:pPr>
            <a:r>
              <a:rPr lang="en-US" sz="1300" dirty="0">
                <a:solidFill>
                  <a:schemeClr val="tx1"/>
                </a:solidFill>
              </a:rPr>
              <a:t>A normal 3×3 conv mixes every input channel with every output channel at once:</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cost ∝ 9 · Cin · Cout</a:t>
            </a:r>
            <a:endParaRPr lang="en-US" sz="1300" dirty="0"/>
          </a:p>
          <a:p>
            <a:pPr indent="0" marL="0">
              <a:spcAft>
                <a:spcPts val="300"/>
              </a:spcAft>
              <a:buNone/>
            </a:pPr>
            <a:r>
              <a:rPr lang="en-US" sz="1300" dirty="0">
                <a:solidFill>
                  <a:schemeClr val="tx1"/>
                </a:solidFill>
              </a:rPr>
              <a:t>Depthwise (spatial) + 1×1 (channel mixing) does the same job in two cheap steps:</a:t>
            </a:r>
            <a:endParaRPr lang="en-US" sz="1300" dirty="0"/>
          </a:p>
          <a:p>
            <a:pPr indent="0" marL="0">
              <a:spcAft>
                <a:spcPts val="300"/>
              </a:spcAft>
              <a:buNone/>
            </a:pPr>
            <a:r>
              <a:rPr lang="en-US" sz="1300" b="1" dirty="0">
                <a:solidFill>
                  <a:schemeClr val="tx1"/>
                </a:solidFill>
                <a:latin typeface="Courier New" pitchFamily="34" charset="0"/>
                <a:ea typeface="Courier New" pitchFamily="34" charset="-122"/>
                <a:cs typeface="Courier New" pitchFamily="34" charset="-120"/>
              </a:rPr>
              <a:t>cost ∝ 9 · Cin + Cin · Cout</a:t>
            </a:r>
            <a:endParaRPr lang="en-US" sz="1300" dirty="0"/>
          </a:p>
        </p:txBody>
      </p:sp>
      <p:sp>
        <p:nvSpPr>
          <p:cNvPr id="23" name="Text 21"/>
          <p:cNvSpPr txBox="1"/>
          <p:nvPr/>
        </p:nvSpPr>
        <p:spPr>
          <a:xfrm>
            <a:off x="6492240" y="379476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 8–9×</a:t>
            </a:r>
            <a:endParaRPr lang="en-US" sz="2800" dirty="0"/>
          </a:p>
        </p:txBody>
      </p:sp>
      <p:sp>
        <p:nvSpPr>
          <p:cNvPr id="24" name="Text 22"/>
          <p:cNvSpPr txBox="1"/>
          <p:nvPr/>
        </p:nvSpPr>
        <p:spPr>
          <a:xfrm>
            <a:off x="6492240" y="4389120"/>
            <a:ext cx="1600200" cy="822960"/>
          </a:xfrm>
          <a:prstGeom prst="rect">
            <a:avLst/>
          </a:prstGeom>
          <a:noFill/>
          <a:ln/>
        </p:spPr>
        <p:txBody>
          <a:bodyPr wrap="square" lIns="0" tIns="0" rIns="0" bIns="0" rtlCol="0" anchor="t"/>
          <a:lstStyle/>
          <a:p>
            <a:pPr indent="0" marL="0">
              <a:buNone/>
            </a:pPr>
            <a:r>
              <a:rPr lang="en-US" sz="1200" dirty="0">
                <a:solidFill>
                  <a:schemeClr val="tx2"/>
                </a:solidFill>
              </a:rPr>
              <a:t>fewer multiply-adds than normal 3×3 convs</a:t>
            </a:r>
            <a:endParaRPr lang="en-US" sz="1200" dirty="0"/>
          </a:p>
        </p:txBody>
      </p:sp>
      <p:sp>
        <p:nvSpPr>
          <p:cNvPr id="25" name="Text 23"/>
          <p:cNvSpPr txBox="1"/>
          <p:nvPr/>
        </p:nvSpPr>
        <p:spPr>
          <a:xfrm>
            <a:off x="8275320" y="379476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17</a:t>
            </a:r>
            <a:endParaRPr lang="en-US" sz="2800" dirty="0"/>
          </a:p>
        </p:txBody>
      </p:sp>
      <p:sp>
        <p:nvSpPr>
          <p:cNvPr id="26" name="Text 24"/>
          <p:cNvSpPr txBox="1"/>
          <p:nvPr/>
        </p:nvSpPr>
        <p:spPr>
          <a:xfrm>
            <a:off x="8275320" y="4389120"/>
            <a:ext cx="1600200" cy="822960"/>
          </a:xfrm>
          <a:prstGeom prst="rect">
            <a:avLst/>
          </a:prstGeom>
          <a:noFill/>
          <a:ln/>
        </p:spPr>
        <p:txBody>
          <a:bodyPr wrap="square" lIns="0" tIns="0" rIns="0" bIns="0" rtlCol="0" anchor="t"/>
          <a:lstStyle/>
          <a:p>
            <a:pPr indent="0" marL="0">
              <a:buNone/>
            </a:pPr>
            <a:r>
              <a:rPr lang="en-US" sz="1200" dirty="0">
                <a:solidFill>
                  <a:schemeClr val="tx2"/>
                </a:solidFill>
              </a:rPr>
              <a:t>inverted residual blocks stacked</a:t>
            </a:r>
            <a:endParaRPr lang="en-US" sz="1200" dirty="0"/>
          </a:p>
        </p:txBody>
      </p:sp>
      <p:sp>
        <p:nvSpPr>
          <p:cNvPr id="27" name="Text 25"/>
          <p:cNvSpPr txBox="1"/>
          <p:nvPr/>
        </p:nvSpPr>
        <p:spPr>
          <a:xfrm>
            <a:off x="10058400" y="3794760"/>
            <a:ext cx="164592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3.5 M</a:t>
            </a:r>
            <a:endParaRPr lang="en-US" sz="2800" dirty="0"/>
          </a:p>
        </p:txBody>
      </p:sp>
      <p:sp>
        <p:nvSpPr>
          <p:cNvPr id="28" name="Text 26"/>
          <p:cNvSpPr txBox="1"/>
          <p:nvPr/>
        </p:nvSpPr>
        <p:spPr>
          <a:xfrm>
            <a:off x="10058400" y="4389120"/>
            <a:ext cx="1600200" cy="822960"/>
          </a:xfrm>
          <a:prstGeom prst="rect">
            <a:avLst/>
          </a:prstGeom>
          <a:noFill/>
          <a:ln/>
        </p:spPr>
        <p:txBody>
          <a:bodyPr wrap="square" lIns="0" tIns="0" rIns="0" bIns="0" rtlCol="0" anchor="t"/>
          <a:lstStyle/>
          <a:p>
            <a:pPr indent="0" marL="0">
              <a:buNone/>
            </a:pPr>
            <a:r>
              <a:rPr lang="en-US" sz="1200" dirty="0">
                <a:solidFill>
                  <a:schemeClr val="tx2"/>
                </a:solidFill>
              </a:rPr>
              <a:t>parameters in the full network</a:t>
            </a:r>
            <a:endParaRPr lang="en-US" sz="1200" dirty="0"/>
          </a:p>
        </p:txBody>
      </p:sp>
      <p:sp>
        <p:nvSpPr>
          <p:cNvPr id="29" name="Text 27"/>
          <p:cNvSpPr txBox="1"/>
          <p:nvPr/>
        </p:nvSpPr>
        <p:spPr>
          <a:xfrm>
            <a:off x="6492240" y="5303520"/>
            <a:ext cx="5120640" cy="685800"/>
          </a:xfrm>
          <a:prstGeom prst="rect">
            <a:avLst/>
          </a:prstGeom>
          <a:noFill/>
          <a:ln/>
        </p:spPr>
        <p:txBody>
          <a:bodyPr wrap="square" lIns="0" tIns="0" rIns="0" bIns="0" rtlCol="0" anchor="t"/>
          <a:lstStyle/>
          <a:p>
            <a:pPr indent="0" marL="0">
              <a:buNone/>
            </a:pPr>
            <a:r>
              <a:rPr lang="en-US" sz="1400" i="1" dirty="0">
                <a:solidFill>
                  <a:schemeClr val="tx1"/>
                </a:solidFill>
              </a:rPr>
              <a:t>Result: a small, accurate network that runs in real time on a laptop CPU, which is why we chose it over VGG16 or ResNet-50.</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Training setup</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1737360"/>
                <a:gridCol w="3657600"/>
              </a:tblGrid>
              <a:tr h="621792">
                <a:tc>
                  <a:txBody>
                    <a:bodyPr/>
                    <a:lstStyle/>
                    <a:p>
                      <a:pPr indent="0" marL="0">
                        <a:buNone/>
                      </a:pPr>
                      <a:r>
                        <a:rPr lang="en-US" sz="1400" b="1" dirty="0">
                          <a:solidFill>
                            <a:schemeClr val="tx2"/>
                          </a:solidFill>
                        </a:rPr>
                        <a:t>Optimizer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c>
                  <a:txBody>
                    <a:bodyPr/>
                    <a:lstStyle/>
                    <a:p>
                      <a:pPr indent="0" marL="0">
                        <a:buNone/>
                      </a:pPr>
                      <a:r>
                        <a:rPr lang="en-US" sz="1400" dirty="0">
                          <a:solidFill>
                            <a:schemeClr val="tx1"/>
                          </a:solidFill>
                        </a:rPr>
                        <a:t>Adam, learning rate 1e-4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r>
              <a:tr h="621792">
                <a:tc>
                  <a:txBody>
                    <a:bodyPr/>
                    <a:lstStyle/>
                    <a:p>
                      <a:pPr indent="0" marL="0">
                        <a:buNone/>
                      </a:pPr>
                      <a:r>
                        <a:rPr lang="en-US" sz="1400" b="1" dirty="0">
                          <a:solidFill>
                            <a:schemeClr val="tx2"/>
                          </a:solidFill>
                        </a:rPr>
                        <a:t>Loss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Sparse categorical cross-entropy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400" b="1" dirty="0">
                          <a:solidFill>
                            <a:schemeClr val="tx2"/>
                          </a:solidFill>
                        </a:rPr>
                        <a:t>Batch size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c>
                  <a:txBody>
                    <a:bodyPr/>
                    <a:lstStyle/>
                    <a:p>
                      <a:pPr indent="0" marL="0">
                        <a:buNone/>
                      </a:pPr>
                      <a:r>
                        <a:rPr lang="en-US" sz="1400" dirty="0">
                          <a:solidFill>
                            <a:schemeClr val="tx1"/>
                          </a:solidFill>
                        </a:rPr>
                        <a:t>32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r>
              <a:tr h="621792">
                <a:tc>
                  <a:txBody>
                    <a:bodyPr/>
                    <a:lstStyle/>
                    <a:p>
                      <a:pPr indent="0" marL="0">
                        <a:buNone/>
                      </a:pPr>
                      <a:r>
                        <a:rPr lang="en-US" sz="1400" b="1" dirty="0">
                          <a:solidFill>
                            <a:schemeClr val="tx2"/>
                          </a:solidFill>
                        </a:rPr>
                        <a:t>Max epochs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20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400" b="1" dirty="0">
                          <a:solidFill>
                            <a:schemeClr val="tx2"/>
                          </a:solidFill>
                        </a:rPr>
                        <a:t>Early stopping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c>
                  <a:txBody>
                    <a:bodyPr/>
                    <a:lstStyle/>
                    <a:p>
                      <a:pPr indent="0" marL="0">
                        <a:buNone/>
                      </a:pPr>
                      <a:r>
                        <a:rPr lang="en-US" sz="1400" dirty="0">
                          <a:solidFill>
                            <a:schemeClr val="tx1"/>
                          </a:solidFill>
                        </a:rPr>
                        <a:t>stop if val loss doesn't improve for 4 epochs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r>
              <a:tr h="621792">
                <a:tc>
                  <a:txBody>
                    <a:bodyPr/>
                    <a:lstStyle/>
                    <a:p>
                      <a:pPr indent="0" marL="0">
                        <a:buNone/>
                      </a:pPr>
                      <a:r>
                        <a:rPr lang="en-US" sz="1400" b="1" dirty="0">
                          <a:solidFill>
                            <a:schemeClr val="tx2"/>
                          </a:solidFill>
                        </a:rPr>
                        <a:t>Checkpoint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save the model with the best val accuracy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400" b="1" dirty="0">
                          <a:solidFill>
                            <a:schemeClr val="tx2"/>
                          </a:solidFill>
                        </a:rPr>
                        <a:t>Hardware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c>
                  <a:txBody>
                    <a:bodyPr/>
                    <a:lstStyle/>
                    <a:p>
                      <a:pPr indent="0" marL="0">
                        <a:buNone/>
                      </a:pPr>
                      <a:r>
                        <a:rPr lang="en-US" sz="1400" dirty="0">
                          <a:solidFill>
                            <a:schemeClr val="tx1"/>
                          </a:solidFill>
                        </a:rPr>
                        <a:t>laptop CPU, no GPU needed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rgbClr val="EEF5F5"/>
                    </a:solidFill>
                  </a:tcPr>
                </a:tc>
              </a:tr>
            </a:tbl>
          </a:graphicData>
        </a:graphic>
      </p:graphicFrame>
      <p:sp>
        <p:nvSpPr>
          <p:cNvPr id="4" name="1. Forward pass"/>
          <p:cNvSpPr/>
          <p:nvPr/>
        </p:nvSpPr>
        <p:spPr>
          <a:xfrm>
            <a:off x="6583680" y="1417320"/>
            <a:ext cx="2194560" cy="914400"/>
          </a:xfrm>
          <a:prstGeom prst="roundRect">
            <a:avLst>
              <a:gd name="adj" fmla="val 8000"/>
            </a:avLst>
          </a:prstGeom>
          <a:solidFill>
            <a:schemeClr val="accent1"/>
          </a:solidFill>
          <a:ln/>
          <a:effectLst>
            <a:outerShdw sx="100000" sy="100000" kx="0" ky="0" algn="bl" rotWithShape="0" blurRad="76200" dist="25400" dir="5400000">
              <a:srgbClr val="000000">
                <a:alpha val="12000"/>
              </a:srgbClr>
            </a:outerShdw>
          </a:effectLst>
        </p:spPr>
      </p:sp>
      <p:sp>
        <p:nvSpPr>
          <p:cNvPr id="5" name="Text 2"/>
          <p:cNvSpPr txBox="1"/>
          <p:nvPr/>
        </p:nvSpPr>
        <p:spPr>
          <a:xfrm>
            <a:off x="6675120" y="1417320"/>
            <a:ext cx="2011680" cy="914400"/>
          </a:xfrm>
          <a:prstGeom prst="rect">
            <a:avLst/>
          </a:prstGeom>
          <a:noFill/>
          <a:ln/>
        </p:spPr>
        <p:txBody>
          <a:bodyPr wrap="square" lIns="0" tIns="0" rIns="0" bIns="0" rtlCol="0" anchor="ctr"/>
          <a:lstStyle/>
          <a:p>
            <a:pPr algn="ctr" indent="0" marL="0">
              <a:buNone/>
            </a:pPr>
            <a:r>
              <a:rPr lang="en-US" sz="1400" b="1" dirty="0">
                <a:solidFill>
                  <a:schemeClr val="bg1"/>
                </a:solidFill>
              </a:rPr>
              <a:t>1. Forward pass</a:t>
            </a:r>
            <a:endParaRPr lang="en-US" sz="1400" dirty="0"/>
          </a:p>
          <a:p>
            <a:pPr algn="ctr" indent="0" marL="0">
              <a:buNone/>
            </a:pPr>
            <a:r>
              <a:rPr lang="en-US" sz="1200" dirty="0">
                <a:solidFill>
                  <a:schemeClr val="bg1"/>
                </a:solidFill>
              </a:rPr>
              <a:t>batch of 32 faces</a:t>
            </a:r>
            <a:endParaRPr lang="en-US" sz="1400" dirty="0"/>
          </a:p>
        </p:txBody>
      </p:sp>
      <p:sp>
        <p:nvSpPr>
          <p:cNvPr id="6" name="2. Loss"/>
          <p:cNvSpPr/>
          <p:nvPr/>
        </p:nvSpPr>
        <p:spPr>
          <a:xfrm>
            <a:off x="9418320" y="1417320"/>
            <a:ext cx="2194560" cy="914400"/>
          </a:xfrm>
          <a:prstGeom prst="roundRect">
            <a:avLst>
              <a:gd name="adj" fmla="val 8000"/>
            </a:avLst>
          </a:prstGeom>
          <a:solidFill>
            <a:schemeClr val="accent4"/>
          </a:solidFill>
          <a:ln/>
          <a:effectLst>
            <a:outerShdw sx="100000" sy="100000" kx="0" ky="0" algn="bl" rotWithShape="0" blurRad="76200" dist="25400" dir="5400000">
              <a:srgbClr val="000000">
                <a:alpha val="12000"/>
              </a:srgbClr>
            </a:outerShdw>
          </a:effectLst>
        </p:spPr>
      </p:sp>
      <p:sp>
        <p:nvSpPr>
          <p:cNvPr id="7" name="Text 4"/>
          <p:cNvSpPr txBox="1"/>
          <p:nvPr/>
        </p:nvSpPr>
        <p:spPr>
          <a:xfrm>
            <a:off x="9509760" y="1417320"/>
            <a:ext cx="2011680" cy="914400"/>
          </a:xfrm>
          <a:prstGeom prst="rect">
            <a:avLst/>
          </a:prstGeom>
          <a:noFill/>
          <a:ln/>
        </p:spPr>
        <p:txBody>
          <a:bodyPr wrap="square" lIns="0" tIns="0" rIns="0" bIns="0" rtlCol="0" anchor="ctr"/>
          <a:lstStyle/>
          <a:p>
            <a:pPr algn="ctr" indent="0" marL="0">
              <a:buNone/>
            </a:pPr>
            <a:r>
              <a:rPr lang="en-US" sz="1400" b="1" dirty="0">
                <a:solidFill>
                  <a:schemeClr val="tx1"/>
                </a:solidFill>
              </a:rPr>
              <a:t>2. Loss</a:t>
            </a:r>
            <a:endParaRPr lang="en-US" sz="1400" dirty="0"/>
          </a:p>
          <a:p>
            <a:pPr algn="ctr" indent="0" marL="0">
              <a:buNone/>
            </a:pPr>
            <a:r>
              <a:rPr lang="en-US" sz="1200" dirty="0">
                <a:solidFill>
                  <a:schemeClr val="tx1"/>
                </a:solidFill>
              </a:rPr>
              <a:t>−log P(true class)</a:t>
            </a:r>
            <a:endParaRPr lang="en-US" sz="1400" dirty="0"/>
          </a:p>
        </p:txBody>
      </p:sp>
      <p:sp>
        <p:nvSpPr>
          <p:cNvPr id="8" name="3. Backpropagation"/>
          <p:cNvSpPr/>
          <p:nvPr/>
        </p:nvSpPr>
        <p:spPr>
          <a:xfrm>
            <a:off x="9418320" y="3246120"/>
            <a:ext cx="2194560" cy="914400"/>
          </a:xfrm>
          <a:prstGeom prst="roundRect">
            <a:avLst>
              <a:gd name="adj" fmla="val 8000"/>
            </a:avLst>
          </a:prstGeom>
          <a:solidFill>
            <a:schemeClr val="tx2"/>
          </a:solidFill>
          <a:ln/>
          <a:effectLst>
            <a:outerShdw sx="100000" sy="100000" kx="0" ky="0" algn="bl" rotWithShape="0" blurRad="76200" dist="25400" dir="5400000">
              <a:srgbClr val="000000">
                <a:alpha val="12000"/>
              </a:srgbClr>
            </a:outerShdw>
          </a:effectLst>
        </p:spPr>
      </p:sp>
      <p:sp>
        <p:nvSpPr>
          <p:cNvPr id="9" name="Text 6"/>
          <p:cNvSpPr txBox="1"/>
          <p:nvPr/>
        </p:nvSpPr>
        <p:spPr>
          <a:xfrm>
            <a:off x="9509760" y="3246120"/>
            <a:ext cx="2011680" cy="914400"/>
          </a:xfrm>
          <a:prstGeom prst="rect">
            <a:avLst/>
          </a:prstGeom>
          <a:noFill/>
          <a:ln/>
        </p:spPr>
        <p:txBody>
          <a:bodyPr wrap="square" lIns="0" tIns="0" rIns="0" bIns="0" rtlCol="0" anchor="ctr"/>
          <a:lstStyle/>
          <a:p>
            <a:pPr algn="ctr" indent="0" marL="0">
              <a:buNone/>
            </a:pPr>
            <a:r>
              <a:rPr lang="en-US" sz="1400" b="1" dirty="0">
                <a:solidFill>
                  <a:schemeClr val="bg1"/>
                </a:solidFill>
              </a:rPr>
              <a:t>3. Backpropagation</a:t>
            </a:r>
            <a:endParaRPr lang="en-US" sz="1400" dirty="0"/>
          </a:p>
          <a:p>
            <a:pPr algn="ctr" indent="0" marL="0">
              <a:buNone/>
            </a:pPr>
            <a:r>
              <a:rPr lang="en-US" sz="1200" dirty="0">
                <a:solidFill>
                  <a:schemeClr val="bg1"/>
                </a:solidFill>
              </a:rPr>
              <a:t>gradients for the head only</a:t>
            </a:r>
            <a:endParaRPr lang="en-US" sz="1400" dirty="0"/>
          </a:p>
        </p:txBody>
      </p:sp>
      <p:sp>
        <p:nvSpPr>
          <p:cNvPr id="10" name="4. Adam update"/>
          <p:cNvSpPr/>
          <p:nvPr/>
        </p:nvSpPr>
        <p:spPr>
          <a:xfrm>
            <a:off x="6583680" y="3246120"/>
            <a:ext cx="2194560" cy="914400"/>
          </a:xfrm>
          <a:prstGeom prst="roundRect">
            <a:avLst>
              <a:gd name="adj" fmla="val 8000"/>
            </a:avLst>
          </a:prstGeom>
          <a:solidFill>
            <a:schemeClr val="accent2"/>
          </a:solidFill>
          <a:ln/>
          <a:effectLst>
            <a:outerShdw sx="100000" sy="100000" kx="0" ky="0" algn="bl" rotWithShape="0" blurRad="76200" dist="25400" dir="5400000">
              <a:srgbClr val="000000">
                <a:alpha val="12000"/>
              </a:srgbClr>
            </a:outerShdw>
          </a:effectLst>
        </p:spPr>
      </p:sp>
      <p:sp>
        <p:nvSpPr>
          <p:cNvPr id="11" name="Text 8"/>
          <p:cNvSpPr txBox="1"/>
          <p:nvPr/>
        </p:nvSpPr>
        <p:spPr>
          <a:xfrm>
            <a:off x="6675120" y="3246120"/>
            <a:ext cx="2011680" cy="914400"/>
          </a:xfrm>
          <a:prstGeom prst="rect">
            <a:avLst/>
          </a:prstGeom>
          <a:noFill/>
          <a:ln/>
        </p:spPr>
        <p:txBody>
          <a:bodyPr wrap="square" lIns="0" tIns="0" rIns="0" bIns="0" rtlCol="0" anchor="ctr"/>
          <a:lstStyle/>
          <a:p>
            <a:pPr algn="ctr" indent="0" marL="0">
              <a:buNone/>
            </a:pPr>
            <a:r>
              <a:rPr lang="en-US" sz="1400" b="1" dirty="0">
                <a:solidFill>
                  <a:schemeClr val="bg1"/>
                </a:solidFill>
              </a:rPr>
              <a:t>4. Adam update</a:t>
            </a:r>
            <a:endParaRPr lang="en-US" sz="1400" dirty="0"/>
          </a:p>
          <a:p>
            <a:pPr algn="ctr" indent="0" marL="0">
              <a:buNone/>
            </a:pPr>
            <a:r>
              <a:rPr lang="en-US" sz="1200" dirty="0">
                <a:solidFill>
                  <a:schemeClr val="bg1"/>
                </a:solidFill>
              </a:rPr>
              <a:t>w ← w − lr · step</a:t>
            </a:r>
            <a:endParaRPr lang="en-US" sz="1400" dirty="0"/>
          </a:p>
        </p:txBody>
      </p:sp>
      <p:sp>
        <p:nvSpPr>
          <p:cNvPr id="12" name="Shape 9"/>
          <p:cNvSpPr/>
          <p:nvPr/>
        </p:nvSpPr>
        <p:spPr>
          <a:xfrm>
            <a:off x="8823960" y="1874520"/>
            <a:ext cx="548640" cy="0"/>
          </a:xfrm>
          <a:prstGeom prst="line">
            <a:avLst/>
          </a:prstGeom>
          <a:noFill/>
          <a:ln w="25400">
            <a:solidFill>
              <a:schemeClr val="accent6"/>
            </a:solidFill>
            <a:prstDash val="solid"/>
            <a:tailEnd type="triangle"/>
          </a:ln>
        </p:spPr>
      </p:sp>
      <p:sp>
        <p:nvSpPr>
          <p:cNvPr id="13" name="Shape 10"/>
          <p:cNvSpPr/>
          <p:nvPr/>
        </p:nvSpPr>
        <p:spPr>
          <a:xfrm>
            <a:off x="10515600" y="2377440"/>
            <a:ext cx="0" cy="822960"/>
          </a:xfrm>
          <a:prstGeom prst="line">
            <a:avLst/>
          </a:prstGeom>
          <a:noFill/>
          <a:ln w="25400">
            <a:solidFill>
              <a:schemeClr val="accent6"/>
            </a:solidFill>
            <a:prstDash val="solid"/>
            <a:tailEnd type="triangle"/>
          </a:ln>
        </p:spPr>
      </p:sp>
      <p:sp>
        <p:nvSpPr>
          <p:cNvPr id="14" name="Shape 11"/>
          <p:cNvSpPr/>
          <p:nvPr/>
        </p:nvSpPr>
        <p:spPr>
          <a:xfrm flipH="1">
            <a:off x="8823960" y="3703320"/>
            <a:ext cx="548640" cy="0"/>
          </a:xfrm>
          <a:prstGeom prst="line">
            <a:avLst/>
          </a:prstGeom>
          <a:noFill/>
          <a:ln w="25400">
            <a:solidFill>
              <a:schemeClr val="accent6"/>
            </a:solidFill>
            <a:prstDash val="solid"/>
            <a:tailEnd type="triangle"/>
          </a:ln>
        </p:spPr>
      </p:sp>
      <p:sp>
        <p:nvSpPr>
          <p:cNvPr id="15" name="Shape 12"/>
          <p:cNvSpPr/>
          <p:nvPr/>
        </p:nvSpPr>
        <p:spPr>
          <a:xfrm flipV="1">
            <a:off x="7680960" y="2377440"/>
            <a:ext cx="0" cy="822960"/>
          </a:xfrm>
          <a:prstGeom prst="line">
            <a:avLst/>
          </a:prstGeom>
          <a:noFill/>
          <a:ln w="25400">
            <a:solidFill>
              <a:schemeClr val="accent6"/>
            </a:solidFill>
            <a:prstDash val="solid"/>
            <a:tailEnd type="triangle"/>
          </a:ln>
        </p:spPr>
      </p:sp>
      <p:sp>
        <p:nvSpPr>
          <p:cNvPr id="16" name="Text 13"/>
          <p:cNvSpPr txBox="1"/>
          <p:nvPr/>
        </p:nvSpPr>
        <p:spPr>
          <a:xfrm>
            <a:off x="8001000" y="2468880"/>
            <a:ext cx="2194560" cy="640080"/>
          </a:xfrm>
          <a:prstGeom prst="rect">
            <a:avLst/>
          </a:prstGeom>
          <a:noFill/>
          <a:ln/>
        </p:spPr>
        <p:txBody>
          <a:bodyPr wrap="square" lIns="0" tIns="0" rIns="0" bIns="0" rtlCol="0" anchor="ctr"/>
          <a:lstStyle/>
          <a:p>
            <a:pPr algn="ctr" indent="0" marL="0">
              <a:buNone/>
            </a:pPr>
            <a:r>
              <a:rPr lang="en-US" sz="1300" i="1" dirty="0">
                <a:solidFill>
                  <a:schemeClr val="accent6"/>
                </a:solidFill>
              </a:rPr>
              <a:t>×103 steps</a:t>
            </a:r>
            <a:endParaRPr lang="en-US" sz="1300" dirty="0"/>
          </a:p>
          <a:p>
            <a:pPr algn="ctr" indent="0" marL="0">
              <a:buNone/>
            </a:pPr>
            <a:r>
              <a:rPr lang="en-US" sz="1300" i="1" dirty="0">
                <a:solidFill>
                  <a:schemeClr val="accent6"/>
                </a:solidFill>
              </a:rPr>
              <a:t>per epoch</a:t>
            </a:r>
            <a:endParaRPr lang="en-US" sz="1300" dirty="0"/>
          </a:p>
        </p:txBody>
      </p:sp>
      <p:sp>
        <p:nvSpPr>
          <p:cNvPr id="17" name="epoch end"/>
          <p:cNvSpPr/>
          <p:nvPr/>
        </p:nvSpPr>
        <p:spPr>
          <a:xfrm>
            <a:off x="6583680" y="4434840"/>
            <a:ext cx="5029200" cy="1325880"/>
          </a:xfrm>
          <a:prstGeom prst="roundRect">
            <a:avLst>
              <a:gd name="adj" fmla="val 5517"/>
            </a:avLst>
          </a:prstGeom>
          <a:solidFill>
            <a:schemeClr val="bg2"/>
          </a:solidFill>
          <a:ln/>
        </p:spPr>
      </p:sp>
      <p:sp>
        <p:nvSpPr>
          <p:cNvPr id="18" name="Text 15"/>
          <p:cNvSpPr txBox="1"/>
          <p:nvPr/>
        </p:nvSpPr>
        <p:spPr>
          <a:xfrm>
            <a:off x="6812280" y="4434840"/>
            <a:ext cx="4572000" cy="1325880"/>
          </a:xfrm>
          <a:prstGeom prst="rect">
            <a:avLst/>
          </a:prstGeom>
          <a:noFill/>
          <a:ln/>
        </p:spPr>
        <p:txBody>
          <a:bodyPr wrap="square" lIns="0" tIns="0" rIns="0" bIns="0" rtlCol="0" anchor="ctr"/>
          <a:lstStyle/>
          <a:p>
            <a:pPr indent="0" marL="0">
              <a:buNone/>
            </a:pPr>
            <a:r>
              <a:rPr lang="en-US" sz="1400" b="1" dirty="0">
                <a:solidFill>
                  <a:schemeClr val="tx2"/>
                </a:solidFill>
              </a:rPr>
              <a:t>After each epoch: </a:t>
            </a:r>
            <a:pPr indent="0" marL="0">
              <a:buNone/>
            </a:pPr>
            <a:r>
              <a:rPr lang="en-US" sz="1400" dirty="0">
                <a:solidFill>
                  <a:schemeClr val="tx1"/>
                </a:solidFill>
              </a:rPr>
              <a:t>evaluate on the test split → save if val accuracy is a new best → stop early if val loss has stopped falling.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Learning curves: accuracy rises, loss falls</a:t>
            </a:r>
            <a:endParaRPr lang="en-US" sz="3200" dirty="0"/>
          </a:p>
        </p:txBody>
      </p:sp>
      <p:graphicFrame>
        <p:nvGraphicFramePr>
          <p:cNvPr id="3" name="Chart 0" descr=""/>
          <p:cNvGraphicFramePr/>
          <p:nvPr/>
        </p:nvGraphicFramePr>
        <p:xfrm>
          <a:off x="548640" y="128016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28016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curve takeaway"/>
          <p:cNvSpPr/>
          <p:nvPr/>
        </p:nvSpPr>
        <p:spPr>
          <a:xfrm>
            <a:off x="548640" y="5394960"/>
            <a:ext cx="11064240" cy="777240"/>
          </a:xfrm>
          <a:prstGeom prst="roundRect">
            <a:avLst>
              <a:gd name="adj" fmla="val 9412"/>
            </a:avLst>
          </a:prstGeom>
          <a:solidFill>
            <a:schemeClr val="bg2"/>
          </a:solidFill>
          <a:ln/>
        </p:spPr>
      </p:sp>
      <p:sp>
        <p:nvSpPr>
          <p:cNvPr id="6" name="Text 2"/>
          <p:cNvSpPr txBox="1"/>
          <p:nvPr/>
        </p:nvSpPr>
        <p:spPr>
          <a:xfrm>
            <a:off x="777240" y="5394960"/>
            <a:ext cx="10607040" cy="777240"/>
          </a:xfrm>
          <a:prstGeom prst="rect">
            <a:avLst/>
          </a:prstGeom>
          <a:noFill/>
          <a:ln/>
        </p:spPr>
        <p:txBody>
          <a:bodyPr wrap="square" lIns="0" tIns="0" rIns="0" bIns="0" rtlCol="0" anchor="ctr"/>
          <a:lstStyle/>
          <a:p>
            <a:pPr indent="0" marL="0">
              <a:buNone/>
            </a:pPr>
            <a:r>
              <a:rPr lang="en-US" sz="1400" b="1" dirty="0">
                <a:solidFill>
                  <a:schemeClr val="tx2"/>
                </a:solidFill>
              </a:rPr>
              <a:t>Best validation accuracy 99.2% after 20 epochs.  </a:t>
            </a:r>
            <a:pPr indent="0" marL="0">
              <a:buNone/>
            </a:pPr>
            <a:r>
              <a:rPr lang="en-US" sz="1400" dirty="0">
                <a:solidFill>
                  <a:schemeClr val="tx1"/>
                </a:solidFill>
              </a:rPr>
              <a:t>Validation stays at or above training accuracy because dropout and augmentation are only active during training, so the gap is not a sign of overfitting.</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Results on 819 unseen test images</a:t>
            </a:r>
            <a:endParaRPr lang="en-US" sz="3200" dirty="0"/>
          </a:p>
        </p:txBody>
      </p:sp>
      <p:sp>
        <p:nvSpPr>
          <p:cNvPr id="3" name="Text 1"/>
          <p:cNvSpPr txBox="1"/>
          <p:nvPr/>
        </p:nvSpPr>
        <p:spPr>
          <a:xfrm>
            <a:off x="548640" y="1371600"/>
            <a:ext cx="1554480" cy="68580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99.2%</a:t>
            </a:r>
            <a:endParaRPr lang="en-US" sz="3000" dirty="0"/>
          </a:p>
        </p:txBody>
      </p:sp>
      <p:sp>
        <p:nvSpPr>
          <p:cNvPr id="4" name="Text 2"/>
          <p:cNvSpPr txBox="1"/>
          <p:nvPr/>
        </p:nvSpPr>
        <p:spPr>
          <a:xfrm>
            <a:off x="548640" y="2057400"/>
            <a:ext cx="1554480" cy="320040"/>
          </a:xfrm>
          <a:prstGeom prst="rect">
            <a:avLst/>
          </a:prstGeom>
          <a:noFill/>
          <a:ln/>
        </p:spPr>
        <p:txBody>
          <a:bodyPr wrap="square" lIns="0" tIns="0" rIns="0" bIns="0" rtlCol="0" anchor="t"/>
          <a:lstStyle/>
          <a:p>
            <a:pPr indent="0" marL="0">
              <a:buNone/>
            </a:pPr>
            <a:r>
              <a:rPr lang="en-US" sz="1300" dirty="0">
                <a:solidFill>
                  <a:schemeClr val="tx2"/>
                </a:solidFill>
              </a:rPr>
              <a:t>Accuracy</a:t>
            </a:r>
            <a:endParaRPr lang="en-US" sz="1300" dirty="0"/>
          </a:p>
        </p:txBody>
      </p:sp>
      <p:sp>
        <p:nvSpPr>
          <p:cNvPr id="5" name="Text 3"/>
          <p:cNvSpPr txBox="1"/>
          <p:nvPr/>
        </p:nvSpPr>
        <p:spPr>
          <a:xfrm>
            <a:off x="2148840" y="1371600"/>
            <a:ext cx="1554480" cy="68580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99.1%</a:t>
            </a:r>
            <a:endParaRPr lang="en-US" sz="3000" dirty="0"/>
          </a:p>
        </p:txBody>
      </p:sp>
      <p:sp>
        <p:nvSpPr>
          <p:cNvPr id="6" name="Text 4"/>
          <p:cNvSpPr txBox="1"/>
          <p:nvPr/>
        </p:nvSpPr>
        <p:spPr>
          <a:xfrm>
            <a:off x="2148840" y="2057400"/>
            <a:ext cx="1554480" cy="320040"/>
          </a:xfrm>
          <a:prstGeom prst="rect">
            <a:avLst/>
          </a:prstGeom>
          <a:noFill/>
          <a:ln/>
        </p:spPr>
        <p:txBody>
          <a:bodyPr wrap="square" lIns="0" tIns="0" rIns="0" bIns="0" rtlCol="0" anchor="t"/>
          <a:lstStyle/>
          <a:p>
            <a:pPr indent="0" marL="0">
              <a:buNone/>
            </a:pPr>
            <a:r>
              <a:rPr lang="en-US" sz="1300" dirty="0">
                <a:solidFill>
                  <a:schemeClr val="tx2"/>
                </a:solidFill>
              </a:rPr>
              <a:t>Precision (avg)</a:t>
            </a:r>
            <a:endParaRPr lang="en-US" sz="1300" dirty="0"/>
          </a:p>
        </p:txBody>
      </p:sp>
      <p:sp>
        <p:nvSpPr>
          <p:cNvPr id="7" name="Text 5"/>
          <p:cNvSpPr txBox="1"/>
          <p:nvPr/>
        </p:nvSpPr>
        <p:spPr>
          <a:xfrm>
            <a:off x="3749040" y="1371600"/>
            <a:ext cx="1554480" cy="68580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99.2%</a:t>
            </a:r>
            <a:endParaRPr lang="en-US" sz="3000" dirty="0"/>
          </a:p>
        </p:txBody>
      </p:sp>
      <p:sp>
        <p:nvSpPr>
          <p:cNvPr id="8" name="Text 6"/>
          <p:cNvSpPr txBox="1"/>
          <p:nvPr/>
        </p:nvSpPr>
        <p:spPr>
          <a:xfrm>
            <a:off x="3749040" y="2057400"/>
            <a:ext cx="1554480" cy="320040"/>
          </a:xfrm>
          <a:prstGeom prst="rect">
            <a:avLst/>
          </a:prstGeom>
          <a:noFill/>
          <a:ln/>
        </p:spPr>
        <p:txBody>
          <a:bodyPr wrap="square" lIns="0" tIns="0" rIns="0" bIns="0" rtlCol="0" anchor="t"/>
          <a:lstStyle/>
          <a:p>
            <a:pPr indent="0" marL="0">
              <a:buNone/>
            </a:pPr>
            <a:r>
              <a:rPr lang="en-US" sz="1300" dirty="0">
                <a:solidFill>
                  <a:schemeClr val="tx2"/>
                </a:solidFill>
              </a:rPr>
              <a:t>Recall (avg)</a:t>
            </a:r>
            <a:endParaRPr lang="en-US" sz="1300" dirty="0"/>
          </a:p>
        </p:txBody>
      </p:sp>
      <p:sp>
        <p:nvSpPr>
          <p:cNvPr id="9" name="Text 7"/>
          <p:cNvSpPr txBox="1"/>
          <p:nvPr/>
        </p:nvSpPr>
        <p:spPr>
          <a:xfrm>
            <a:off x="5349240" y="1371600"/>
            <a:ext cx="1554480" cy="68580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99.1%</a:t>
            </a:r>
            <a:endParaRPr lang="en-US" sz="3000" dirty="0"/>
          </a:p>
        </p:txBody>
      </p:sp>
      <p:sp>
        <p:nvSpPr>
          <p:cNvPr id="10" name="Text 8"/>
          <p:cNvSpPr txBox="1"/>
          <p:nvPr/>
        </p:nvSpPr>
        <p:spPr>
          <a:xfrm>
            <a:off x="5349240" y="2057400"/>
            <a:ext cx="1554480" cy="320040"/>
          </a:xfrm>
          <a:prstGeom prst="rect">
            <a:avLst/>
          </a:prstGeom>
          <a:noFill/>
          <a:ln/>
        </p:spPr>
        <p:txBody>
          <a:bodyPr wrap="square" lIns="0" tIns="0" rIns="0" bIns="0" rtlCol="0" anchor="t"/>
          <a:lstStyle/>
          <a:p>
            <a:pPr indent="0" marL="0">
              <a:buNone/>
            </a:pPr>
            <a:r>
              <a:rPr lang="en-US" sz="1300" dirty="0">
                <a:solidFill>
                  <a:schemeClr val="tx2"/>
                </a:solidFill>
              </a:rPr>
              <a:t>F1-score (avg)</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6217920" cy="914400"/>
        </p:xfrm>
        <a:graphic>
          <a:graphicData uri="http://schemas.openxmlformats.org/drawingml/2006/table">
            <a:tbl>
              <a:tblPr/>
              <a:tblGrid>
                <a:gridCol w="1463040"/>
                <a:gridCol w="1280160"/>
                <a:gridCol w="1188720"/>
                <a:gridCol w="1188720"/>
                <a:gridCol w="1097280"/>
              </a:tblGrid>
              <a:tr h="457200">
                <a:tc>
                  <a:txBody>
                    <a:bodyPr/>
                    <a:lstStyle/>
                    <a:p>
                      <a:pPr algn="ctr" indent="0" marL="0">
                        <a:buNone/>
                      </a:pPr>
                      <a:r>
                        <a:rPr lang="en-US" sz="1400" b="1" dirty="0">
                          <a:solidFill>
                            <a:schemeClr val="bg1"/>
                          </a:solidFill>
                        </a:rPr>
                        <a:t>Class</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Precision</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Recall</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F1</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Images</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solidFill>
                      <a:schemeClr val="tx2"/>
                    </a:solidFill>
                  </a:tcPr>
                </a:tc>
              </a:tr>
              <a:tr h="457200">
                <a:tc>
                  <a:txBody>
                    <a:bodyPr/>
                    <a:lstStyle/>
                    <a:p>
                      <a:pPr algn="ctr" indent="0" marL="0">
                        <a:buNone/>
                      </a:pPr>
                      <a:r>
                        <a:rPr lang="en-US" sz="1400" b="1" dirty="0">
                          <a:solidFill>
                            <a:schemeClr val="tx1"/>
                          </a:solidFill>
                        </a:rPr>
                        <a:t>Mask</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99.3%</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99.1%</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99.2%</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433</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r>
              <a:tr h="457200">
                <a:tc>
                  <a:txBody>
                    <a:bodyPr/>
                    <a:lstStyle/>
                    <a:p>
                      <a:pPr algn="ctr" indent="0" marL="0">
                        <a:buNone/>
                      </a:pPr>
                      <a:r>
                        <a:rPr lang="en-US" sz="1400" b="1" dirty="0">
                          <a:solidFill>
                            <a:schemeClr val="tx1"/>
                          </a:solidFill>
                        </a:rPr>
                        <a:t>No Mask</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99.0%</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99.2%</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99.1%</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c>
                  <a:txBody>
                    <a:bodyPr/>
                    <a:lstStyle/>
                    <a:p>
                      <a:pPr algn="ctr" indent="0" marL="0">
                        <a:buNone/>
                      </a:pPr>
                      <a:r>
                        <a:rPr lang="en-US" sz="1400" dirty="0">
                          <a:solidFill>
                            <a:schemeClr val="tx1"/>
                          </a:solidFill>
                        </a:rPr>
                        <a:t>386</a:t>
                      </a:r>
                      <a:endParaRPr lang="en-US" sz="1400" dirty="0"/>
                    </a:p>
                  </a:txBody>
                  <a:tcPr marL="91440" marR="91440" marT="45720" marB="45720" anchor="ctr">
                    <a:lnL w="12700" cap="flat" cmpd="sng" algn="ctr">
                      <a:solidFill>
                        <a:srgbClr val="DDE5E7"/>
                      </a:solidFill>
                      <a:prstDash val="solid"/>
                      <a:round/>
                      <a:headEnd type="none" w="med" len="med"/>
                      <a:tailEnd type="none" w="med" len="med"/>
                    </a:lnL>
                    <a:lnR w="12700" cap="flat" cmpd="sng" algn="ctr">
                      <a:solidFill>
                        <a:srgbClr val="DDE5E7"/>
                      </a:solidFill>
                      <a:prstDash val="solid"/>
                      <a:round/>
                      <a:headEnd type="none" w="med" len="med"/>
                      <a:tailEnd type="none" w="med" len="med"/>
                    </a:lnR>
                    <a:lnT w="12700" cap="flat" cmpd="sng" algn="ctr">
                      <a:solidFill>
                        <a:srgbClr val="DDE5E7"/>
                      </a:solidFill>
                      <a:prstDash val="solid"/>
                      <a:round/>
                      <a:headEnd type="none" w="med" len="med"/>
                      <a:tailEnd type="none" w="med" len="med"/>
                    </a:lnT>
                    <a:lnB w="12700" cap="flat" cmpd="sng" algn="ctr">
                      <a:solidFill>
                        <a:srgbClr val="DDE5E7"/>
                      </a:solidFill>
                      <a:prstDash val="solid"/>
                      <a:round/>
                      <a:headEnd type="none" w="med" len="med"/>
                      <a:tailEnd type="none" w="med" len="med"/>
                    </a:lnB>
                  </a:tcPr>
                </a:tc>
              </a:tr>
            </a:tbl>
          </a:graphicData>
        </a:graphic>
      </p:graphicFrame>
      <p:sp>
        <p:nvSpPr>
          <p:cNvPr id="12" name="metric glossary"/>
          <p:cNvSpPr/>
          <p:nvPr/>
        </p:nvSpPr>
        <p:spPr>
          <a:xfrm>
            <a:off x="548640" y="4343400"/>
            <a:ext cx="6217920" cy="1417320"/>
          </a:xfrm>
          <a:prstGeom prst="roundRect">
            <a:avLst>
              <a:gd name="adj" fmla="val 5161"/>
            </a:avLst>
          </a:prstGeom>
          <a:solidFill>
            <a:schemeClr val="bg2"/>
          </a:solidFill>
          <a:ln/>
        </p:spPr>
      </p:sp>
      <p:sp>
        <p:nvSpPr>
          <p:cNvPr id="13" name="Text 10"/>
          <p:cNvSpPr txBox="1"/>
          <p:nvPr/>
        </p:nvSpPr>
        <p:spPr>
          <a:xfrm>
            <a:off x="777240" y="4343400"/>
            <a:ext cx="5760720" cy="1417320"/>
          </a:xfrm>
          <a:prstGeom prst="rect">
            <a:avLst/>
          </a:prstGeom>
          <a:noFill/>
          <a:ln/>
        </p:spPr>
        <p:txBody>
          <a:bodyPr wrap="square" lIns="0" tIns="0" rIns="0" bIns="0" rtlCol="0" anchor="ctr"/>
          <a:lstStyle/>
          <a:p>
            <a:pPr indent="0" marL="0">
              <a:spcAft>
                <a:spcPts val="400"/>
              </a:spcAft>
              <a:buNone/>
            </a:pPr>
            <a:r>
              <a:rPr lang="en-US" sz="1400" b="1" dirty="0">
                <a:solidFill>
                  <a:schemeClr val="tx1"/>
                </a:solidFill>
              </a:rPr>
              <a:t>Precision</a:t>
            </a:r>
            <a:pPr indent="0" marL="0">
              <a:spcAft>
                <a:spcPts val="400"/>
              </a:spcAft>
              <a:buNone/>
            </a:pPr>
            <a:r>
              <a:rPr lang="en-US" sz="1400" dirty="0">
                <a:solidFill>
                  <a:schemeClr val="tx1"/>
                </a:solidFill>
              </a:rPr>
              <a:t>: of the faces we called 'Mask', how many really were.</a:t>
            </a:r>
            <a:endParaRPr lang="en-US" sz="1400" dirty="0"/>
          </a:p>
          <a:p>
            <a:pPr indent="0" marL="0">
              <a:spcAft>
                <a:spcPts val="400"/>
              </a:spcAft>
              <a:buNone/>
            </a:pPr>
            <a:r>
              <a:rPr lang="en-US" sz="1400" b="1" dirty="0">
                <a:solidFill>
                  <a:schemeClr val="tx1"/>
                </a:solidFill>
              </a:rPr>
              <a:t>Recall</a:t>
            </a:r>
            <a:pPr indent="0" marL="0">
              <a:spcAft>
                <a:spcPts val="400"/>
              </a:spcAft>
              <a:buNone/>
            </a:pPr>
            <a:r>
              <a:rPr lang="en-US" sz="1400" dirty="0">
                <a:solidFill>
                  <a:schemeClr val="tx1"/>
                </a:solidFill>
              </a:rPr>
              <a:t>: of the real 'Mask' faces, how many we caught.</a:t>
            </a:r>
            <a:endParaRPr lang="en-US" sz="1400" dirty="0"/>
          </a:p>
          <a:p>
            <a:pPr indent="0" marL="0">
              <a:spcAft>
                <a:spcPts val="400"/>
              </a:spcAft>
              <a:buNone/>
            </a:pPr>
            <a:r>
              <a:rPr lang="en-US" sz="1400" b="1" dirty="0">
                <a:solidFill>
                  <a:schemeClr val="tx1"/>
                </a:solidFill>
              </a:rPr>
              <a:t>F1</a:t>
            </a:r>
            <a:pPr indent="0" marL="0">
              <a:spcAft>
                <a:spcPts val="400"/>
              </a:spcAft>
              <a:buNone/>
            </a:pPr>
            <a:r>
              <a:rPr lang="en-US" sz="1400" dirty="0">
                <a:solidFill>
                  <a:schemeClr val="tx1"/>
                </a:solidFill>
              </a:rPr>
              <a:t>: harmonic mean of precision and recall (balances both).</a:t>
            </a:r>
            <a:endParaRPr lang="en-US" sz="1400" dirty="0"/>
          </a:p>
        </p:txBody>
      </p:sp>
      <p:sp>
        <p:nvSpPr>
          <p:cNvPr id="14" name="Text 11"/>
          <p:cNvSpPr txBox="1"/>
          <p:nvPr/>
        </p:nvSpPr>
        <p:spPr>
          <a:xfrm>
            <a:off x="7223760" y="1325880"/>
            <a:ext cx="4389120" cy="365760"/>
          </a:xfrm>
          <a:prstGeom prst="rect">
            <a:avLst/>
          </a:prstGeom>
          <a:noFill/>
          <a:ln/>
        </p:spPr>
        <p:txBody>
          <a:bodyPr wrap="square" lIns="0" tIns="0" rIns="0" bIns="0" rtlCol="0" anchor="t"/>
          <a:lstStyle/>
          <a:p>
            <a:pPr algn="ctr" indent="0" marL="0">
              <a:buNone/>
            </a:pPr>
            <a:r>
              <a:rPr lang="en-US" sz="1600" b="1" dirty="0">
                <a:solidFill>
                  <a:schemeClr val="tx2"/>
                </a:solidFill>
              </a:rPr>
              <a:t>Confusion matrix</a:t>
            </a:r>
            <a:endParaRPr lang="en-US" sz="1600" dirty="0"/>
          </a:p>
        </p:txBody>
      </p:sp>
      <p:sp>
        <p:nvSpPr>
          <p:cNvPr id="15" name="Text 12"/>
          <p:cNvSpPr txBox="1"/>
          <p:nvPr/>
        </p:nvSpPr>
        <p:spPr>
          <a:xfrm>
            <a:off x="8183880" y="1874520"/>
            <a:ext cx="2834640" cy="274320"/>
          </a:xfrm>
          <a:prstGeom prst="rect">
            <a:avLst/>
          </a:prstGeom>
          <a:noFill/>
          <a:ln/>
        </p:spPr>
        <p:txBody>
          <a:bodyPr wrap="square" lIns="0" tIns="0" rIns="0" bIns="0" rtlCol="0" anchor="t"/>
          <a:lstStyle/>
          <a:p>
            <a:pPr algn="ctr" indent="0" marL="0">
              <a:buNone/>
            </a:pPr>
            <a:r>
              <a:rPr lang="en-US" sz="1200" i="1" dirty="0">
                <a:solidFill>
                  <a:schemeClr val="accent6"/>
                </a:solidFill>
              </a:rPr>
              <a:t>Predicted</a:t>
            </a:r>
            <a:endParaRPr lang="en-US" sz="1200" dirty="0"/>
          </a:p>
        </p:txBody>
      </p:sp>
      <p:sp>
        <p:nvSpPr>
          <p:cNvPr id="16" name="Text 13"/>
          <p:cNvSpPr txBox="1"/>
          <p:nvPr/>
        </p:nvSpPr>
        <p:spPr>
          <a:xfrm>
            <a:off x="8183880" y="2148840"/>
            <a:ext cx="1417320" cy="274320"/>
          </a:xfrm>
          <a:prstGeom prst="rect">
            <a:avLst/>
          </a:prstGeom>
          <a:noFill/>
          <a:ln/>
        </p:spPr>
        <p:txBody>
          <a:bodyPr wrap="square" lIns="0" tIns="0" rIns="0" bIns="0" rtlCol="0" anchor="t"/>
          <a:lstStyle/>
          <a:p>
            <a:pPr algn="ctr" indent="0" marL="0">
              <a:buNone/>
            </a:pPr>
            <a:r>
              <a:rPr lang="en-US" sz="1300" b="1" dirty="0">
                <a:solidFill>
                  <a:schemeClr val="tx1"/>
                </a:solidFill>
              </a:rPr>
              <a:t>Mask</a:t>
            </a:r>
            <a:endParaRPr lang="en-US" sz="1300" dirty="0"/>
          </a:p>
        </p:txBody>
      </p:sp>
      <p:sp>
        <p:nvSpPr>
          <p:cNvPr id="17" name="Text 14"/>
          <p:cNvSpPr txBox="1"/>
          <p:nvPr/>
        </p:nvSpPr>
        <p:spPr>
          <a:xfrm>
            <a:off x="9601200" y="2148840"/>
            <a:ext cx="1417320" cy="274320"/>
          </a:xfrm>
          <a:prstGeom prst="rect">
            <a:avLst/>
          </a:prstGeom>
          <a:noFill/>
          <a:ln/>
        </p:spPr>
        <p:txBody>
          <a:bodyPr wrap="square" lIns="0" tIns="0" rIns="0" bIns="0" rtlCol="0" anchor="t"/>
          <a:lstStyle/>
          <a:p>
            <a:pPr algn="ctr" indent="0" marL="0">
              <a:buNone/>
            </a:pPr>
            <a:r>
              <a:rPr lang="en-US" sz="1300" b="1" dirty="0">
                <a:solidFill>
                  <a:schemeClr val="tx1"/>
                </a:solidFill>
              </a:rPr>
              <a:t>No Mask</a:t>
            </a:r>
            <a:endParaRPr lang="en-US" sz="1300" dirty="0"/>
          </a:p>
        </p:txBody>
      </p:sp>
      <p:sp>
        <p:nvSpPr>
          <p:cNvPr id="18" name="Text 15"/>
          <p:cNvSpPr txBox="1"/>
          <p:nvPr/>
        </p:nvSpPr>
        <p:spPr>
          <a:xfrm rot="16200000">
            <a:off x="6995160" y="3749040"/>
            <a:ext cx="457200" cy="274320"/>
          </a:xfrm>
          <a:prstGeom prst="rect">
            <a:avLst/>
          </a:prstGeom>
          <a:noFill/>
          <a:ln/>
        </p:spPr>
        <p:txBody>
          <a:bodyPr wrap="square" lIns="0" tIns="0" rIns="0" bIns="0" rtlCol="0" anchor="t"/>
          <a:lstStyle/>
          <a:p>
            <a:pPr algn="ctr" indent="0" marL="0">
              <a:buNone/>
            </a:pPr>
            <a:r>
              <a:rPr lang="en-US" sz="1200" i="1" dirty="0">
                <a:solidFill>
                  <a:schemeClr val="accent6"/>
                </a:solidFill>
              </a:rPr>
              <a:t>Actual</a:t>
            </a:r>
            <a:endParaRPr lang="en-US" sz="1200" dirty="0"/>
          </a:p>
        </p:txBody>
      </p:sp>
      <p:sp>
        <p:nvSpPr>
          <p:cNvPr id="19" name="Text 16"/>
          <p:cNvSpPr txBox="1"/>
          <p:nvPr/>
        </p:nvSpPr>
        <p:spPr>
          <a:xfrm>
            <a:off x="7360920" y="2468880"/>
            <a:ext cx="777240" cy="1417320"/>
          </a:xfrm>
          <a:prstGeom prst="rect">
            <a:avLst/>
          </a:prstGeom>
          <a:noFill/>
          <a:ln/>
        </p:spPr>
        <p:txBody>
          <a:bodyPr wrap="square" lIns="0" tIns="0" rIns="0" bIns="0" rtlCol="0" anchor="ctr"/>
          <a:lstStyle/>
          <a:p>
            <a:pPr algn="r" indent="0" marL="0">
              <a:buNone/>
            </a:pPr>
            <a:r>
              <a:rPr lang="en-US" sz="1300" b="1" dirty="0">
                <a:solidFill>
                  <a:schemeClr val="tx1"/>
                </a:solidFill>
              </a:rPr>
              <a:t>Mask</a:t>
            </a:r>
            <a:endParaRPr lang="en-US" sz="1300" dirty="0"/>
          </a:p>
        </p:txBody>
      </p:sp>
      <p:sp>
        <p:nvSpPr>
          <p:cNvPr id="20" name="Text 17"/>
          <p:cNvSpPr txBox="1"/>
          <p:nvPr/>
        </p:nvSpPr>
        <p:spPr>
          <a:xfrm>
            <a:off x="7360920" y="3886200"/>
            <a:ext cx="777240" cy="1417320"/>
          </a:xfrm>
          <a:prstGeom prst="rect">
            <a:avLst/>
          </a:prstGeom>
          <a:noFill/>
          <a:ln/>
        </p:spPr>
        <p:txBody>
          <a:bodyPr wrap="square" lIns="0" tIns="0" rIns="0" bIns="0" rtlCol="0" anchor="ctr"/>
          <a:lstStyle/>
          <a:p>
            <a:pPr algn="r" indent="0" marL="0">
              <a:buNone/>
            </a:pPr>
            <a:r>
              <a:rPr lang="en-US" sz="1300" b="1" dirty="0">
                <a:solidFill>
                  <a:schemeClr val="tx1"/>
                </a:solidFill>
              </a:rPr>
              <a:t>No Mask</a:t>
            </a:r>
            <a:endParaRPr lang="en-US" sz="1300" dirty="0"/>
          </a:p>
        </p:txBody>
      </p:sp>
      <p:sp>
        <p:nvSpPr>
          <p:cNvPr id="21" name="cm 00"/>
          <p:cNvSpPr/>
          <p:nvPr/>
        </p:nvSpPr>
        <p:spPr>
          <a:xfrm>
            <a:off x="8183880" y="2468880"/>
            <a:ext cx="1417320" cy="1417320"/>
          </a:xfrm>
          <a:prstGeom prst="rect">
            <a:avLst/>
          </a:prstGeom>
          <a:solidFill>
            <a:schemeClr val="accent2"/>
          </a:solidFill>
          <a:ln w="38100">
            <a:solidFill>
              <a:srgbClr val="FFFFFF"/>
            </a:solidFill>
            <a:prstDash val="solid"/>
          </a:ln>
        </p:spPr>
      </p:sp>
      <p:sp>
        <p:nvSpPr>
          <p:cNvPr id="22" name="Text 19"/>
          <p:cNvSpPr txBox="1"/>
          <p:nvPr/>
        </p:nvSpPr>
        <p:spPr>
          <a:xfrm>
            <a:off x="8183880" y="2468880"/>
            <a:ext cx="1417320" cy="1417320"/>
          </a:xfrm>
          <a:prstGeom prst="rect">
            <a:avLst/>
          </a:prstGeom>
          <a:noFill/>
          <a:ln/>
        </p:spPr>
        <p:txBody>
          <a:bodyPr wrap="square" lIns="0" tIns="0" rIns="0" bIns="0" rtlCol="0" anchor="ctr"/>
          <a:lstStyle/>
          <a:p>
            <a:pPr algn="ctr" indent="0" marL="0">
              <a:buNone/>
            </a:pPr>
            <a:r>
              <a:rPr lang="en-US" sz="3200" b="1" dirty="0">
                <a:solidFill>
                  <a:schemeClr val="bg1"/>
                </a:solidFill>
              </a:rPr>
              <a:t>429</a:t>
            </a:r>
            <a:endParaRPr lang="en-US" sz="1400" dirty="0"/>
          </a:p>
          <a:p>
            <a:pPr algn="ctr" indent="0" marL="0">
              <a:buNone/>
            </a:pPr>
            <a:r>
              <a:rPr lang="en-US" sz="1200" dirty="0">
                <a:solidFill>
                  <a:schemeClr val="bg1"/>
                </a:solidFill>
              </a:rPr>
              <a:t>correct</a:t>
            </a:r>
            <a:endParaRPr lang="en-US" sz="1400" dirty="0"/>
          </a:p>
        </p:txBody>
      </p:sp>
      <p:sp>
        <p:nvSpPr>
          <p:cNvPr id="23" name="cm 01"/>
          <p:cNvSpPr/>
          <p:nvPr/>
        </p:nvSpPr>
        <p:spPr>
          <a:xfrm>
            <a:off x="9601200" y="2468880"/>
            <a:ext cx="1417320" cy="1417320"/>
          </a:xfrm>
          <a:prstGeom prst="rect">
            <a:avLst/>
          </a:prstGeom>
          <a:solidFill>
            <a:srgbClr val="FBE3E0"/>
          </a:solidFill>
          <a:ln w="38100">
            <a:solidFill>
              <a:srgbClr val="FFFFFF"/>
            </a:solidFill>
            <a:prstDash val="solid"/>
          </a:ln>
        </p:spPr>
      </p:sp>
      <p:sp>
        <p:nvSpPr>
          <p:cNvPr id="24" name="Text 21"/>
          <p:cNvSpPr txBox="1"/>
          <p:nvPr/>
        </p:nvSpPr>
        <p:spPr>
          <a:xfrm>
            <a:off x="9601200" y="2468880"/>
            <a:ext cx="1417320" cy="1417320"/>
          </a:xfrm>
          <a:prstGeom prst="rect">
            <a:avLst/>
          </a:prstGeom>
          <a:noFill/>
          <a:ln/>
        </p:spPr>
        <p:txBody>
          <a:bodyPr wrap="square" lIns="0" tIns="0" rIns="0" bIns="0" rtlCol="0" anchor="ctr"/>
          <a:lstStyle/>
          <a:p>
            <a:pPr algn="ctr" indent="0" marL="0">
              <a:buNone/>
            </a:pPr>
            <a:r>
              <a:rPr lang="en-US" sz="3200" b="1" dirty="0">
                <a:solidFill>
                  <a:schemeClr val="accent3"/>
                </a:solidFill>
              </a:rPr>
              <a:t>4</a:t>
            </a:r>
            <a:endParaRPr lang="en-US" sz="1400" dirty="0"/>
          </a:p>
          <a:p>
            <a:pPr algn="ctr" indent="0" marL="0">
              <a:buNone/>
            </a:pPr>
            <a:r>
              <a:rPr lang="en-US" sz="1200" dirty="0">
                <a:solidFill>
                  <a:schemeClr val="accent3"/>
                </a:solidFill>
              </a:rPr>
              <a:t>error</a:t>
            </a:r>
            <a:endParaRPr lang="en-US" sz="1400" dirty="0"/>
          </a:p>
        </p:txBody>
      </p:sp>
      <p:sp>
        <p:nvSpPr>
          <p:cNvPr id="25" name="cm 10"/>
          <p:cNvSpPr/>
          <p:nvPr/>
        </p:nvSpPr>
        <p:spPr>
          <a:xfrm>
            <a:off x="8183880" y="3886200"/>
            <a:ext cx="1417320" cy="1417320"/>
          </a:xfrm>
          <a:prstGeom prst="rect">
            <a:avLst/>
          </a:prstGeom>
          <a:solidFill>
            <a:srgbClr val="FBE3E0"/>
          </a:solidFill>
          <a:ln w="38100">
            <a:solidFill>
              <a:srgbClr val="FFFFFF"/>
            </a:solidFill>
            <a:prstDash val="solid"/>
          </a:ln>
        </p:spPr>
      </p:sp>
      <p:sp>
        <p:nvSpPr>
          <p:cNvPr id="26" name="Text 23"/>
          <p:cNvSpPr txBox="1"/>
          <p:nvPr/>
        </p:nvSpPr>
        <p:spPr>
          <a:xfrm>
            <a:off x="8183880" y="3886200"/>
            <a:ext cx="1417320" cy="1417320"/>
          </a:xfrm>
          <a:prstGeom prst="rect">
            <a:avLst/>
          </a:prstGeom>
          <a:noFill/>
          <a:ln/>
        </p:spPr>
        <p:txBody>
          <a:bodyPr wrap="square" lIns="0" tIns="0" rIns="0" bIns="0" rtlCol="0" anchor="ctr"/>
          <a:lstStyle/>
          <a:p>
            <a:pPr algn="ctr" indent="0" marL="0">
              <a:buNone/>
            </a:pPr>
            <a:r>
              <a:rPr lang="en-US" sz="3200" b="1" dirty="0">
                <a:solidFill>
                  <a:schemeClr val="accent3"/>
                </a:solidFill>
              </a:rPr>
              <a:t>3</a:t>
            </a:r>
            <a:endParaRPr lang="en-US" sz="1400" dirty="0"/>
          </a:p>
          <a:p>
            <a:pPr algn="ctr" indent="0" marL="0">
              <a:buNone/>
            </a:pPr>
            <a:r>
              <a:rPr lang="en-US" sz="1200" dirty="0">
                <a:solidFill>
                  <a:schemeClr val="accent3"/>
                </a:solidFill>
              </a:rPr>
              <a:t>error</a:t>
            </a:r>
            <a:endParaRPr lang="en-US" sz="1400" dirty="0"/>
          </a:p>
        </p:txBody>
      </p:sp>
      <p:sp>
        <p:nvSpPr>
          <p:cNvPr id="27" name="cm 11"/>
          <p:cNvSpPr/>
          <p:nvPr/>
        </p:nvSpPr>
        <p:spPr>
          <a:xfrm>
            <a:off x="9601200" y="3886200"/>
            <a:ext cx="1417320" cy="1417320"/>
          </a:xfrm>
          <a:prstGeom prst="rect">
            <a:avLst/>
          </a:prstGeom>
          <a:solidFill>
            <a:schemeClr val="accent2"/>
          </a:solidFill>
          <a:ln w="38100">
            <a:solidFill>
              <a:srgbClr val="FFFFFF"/>
            </a:solidFill>
            <a:prstDash val="solid"/>
          </a:ln>
        </p:spPr>
      </p:sp>
      <p:sp>
        <p:nvSpPr>
          <p:cNvPr id="28" name="Text 25"/>
          <p:cNvSpPr txBox="1"/>
          <p:nvPr/>
        </p:nvSpPr>
        <p:spPr>
          <a:xfrm>
            <a:off x="9601200" y="3886200"/>
            <a:ext cx="1417320" cy="1417320"/>
          </a:xfrm>
          <a:prstGeom prst="rect">
            <a:avLst/>
          </a:prstGeom>
          <a:noFill/>
          <a:ln/>
        </p:spPr>
        <p:txBody>
          <a:bodyPr wrap="square" lIns="0" tIns="0" rIns="0" bIns="0" rtlCol="0" anchor="ctr"/>
          <a:lstStyle/>
          <a:p>
            <a:pPr algn="ctr" indent="0" marL="0">
              <a:buNone/>
            </a:pPr>
            <a:r>
              <a:rPr lang="en-US" sz="3200" b="1" dirty="0">
                <a:solidFill>
                  <a:schemeClr val="bg1"/>
                </a:solidFill>
              </a:rPr>
              <a:t>383</a:t>
            </a:r>
            <a:endParaRPr lang="en-US" sz="1400" dirty="0"/>
          </a:p>
          <a:p>
            <a:pPr algn="ctr" indent="0" marL="0">
              <a:buNone/>
            </a:pPr>
            <a:r>
              <a:rPr lang="en-US" sz="1200" dirty="0">
                <a:solidFill>
                  <a:schemeClr val="bg1"/>
                </a:solidFill>
              </a:rPr>
              <a:t>correct</a:t>
            </a:r>
            <a:endParaRPr lang="en-US" sz="1400" dirty="0"/>
          </a:p>
        </p:txBody>
      </p:sp>
      <p:sp>
        <p:nvSpPr>
          <p:cNvPr id="29" name="Text 26"/>
          <p:cNvSpPr txBox="1"/>
          <p:nvPr/>
        </p:nvSpPr>
        <p:spPr>
          <a:xfrm>
            <a:off x="7223760" y="5486400"/>
            <a:ext cx="4389120" cy="411480"/>
          </a:xfrm>
          <a:prstGeom prst="rect">
            <a:avLst/>
          </a:prstGeom>
          <a:noFill/>
          <a:ln/>
        </p:spPr>
        <p:txBody>
          <a:bodyPr wrap="square" lIns="0" tIns="0" rIns="0" bIns="0" rtlCol="0" anchor="t"/>
          <a:lstStyle/>
          <a:p>
            <a:pPr algn="ctr" indent="0" marL="0">
              <a:buNone/>
            </a:pPr>
            <a:r>
              <a:rPr lang="en-US" sz="1400" b="1" dirty="0">
                <a:solidFill>
                  <a:schemeClr val="tx2"/>
                </a:solidFill>
              </a:rPr>
              <a:t>Only 7 of 819 test faces were misclassified.</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What the output looks like</a:t>
            </a:r>
            <a:endParaRPr lang="en-US" sz="3200" dirty="0"/>
          </a:p>
        </p:txBody>
      </p:sp>
      <p:sp>
        <p:nvSpPr>
          <p:cNvPr id="3" name="demo slot 0"/>
          <p:cNvSpPr/>
          <p:nvPr/>
        </p:nvSpPr>
        <p:spPr>
          <a:xfrm>
            <a:off x="548640" y="1371600"/>
            <a:ext cx="5735272" cy="2917035"/>
          </a:xfrm>
          <a:prstGeom prst="roundRect">
            <a:avLst>
              <a:gd name="adj" fmla="val 2508"/>
            </a:avLst>
          </a:prstGeom>
          <a:solidFill>
            <a:schemeClr val="bg2"/>
          </a:solidFill>
          <a:ln/>
        </p:spPr>
      </p:sp>
      <p:pic>
        <p:nvPicPr>
          <p:cNvPr id="4" name="Image 0" descr="Detector output on a held-out test image (mask)">    </p:cNvPr>
          <p:cNvPicPr>
            <a:picLocks noChangeAspect="1"/>
          </p:cNvPicPr>
          <p:nvPr/>
        </p:nvPicPr>
        <p:blipFill>
          <a:blip r:embed="rId1"/>
          <a:stretch>
            <a:fillRect/>
          </a:stretch>
        </p:blipFill>
        <p:spPr>
          <a:xfrm>
            <a:off x="658368" y="1481328"/>
            <a:ext cx="5515816" cy="2697579"/>
          </a:xfrm>
          <a:prstGeom prst="rect">
            <a:avLst/>
          </a:prstGeom>
        </p:spPr>
      </p:pic>
      <p:sp>
        <p:nvSpPr>
          <p:cNvPr id="5" name="demo slot 1"/>
          <p:cNvSpPr/>
          <p:nvPr/>
        </p:nvSpPr>
        <p:spPr>
          <a:xfrm>
            <a:off x="6558232" y="1371600"/>
            <a:ext cx="2525043" cy="2917035"/>
          </a:xfrm>
          <a:prstGeom prst="roundRect">
            <a:avLst>
              <a:gd name="adj" fmla="val 2897"/>
            </a:avLst>
          </a:prstGeom>
          <a:solidFill>
            <a:schemeClr val="bg2"/>
          </a:solidFill>
          <a:ln/>
        </p:spPr>
      </p:sp>
      <p:pic>
        <p:nvPicPr>
          <p:cNvPr id="6" name="Image 1" descr="Detector output on a held-out test image (mask)">    </p:cNvPr>
          <p:cNvPicPr>
            <a:picLocks noChangeAspect="1"/>
          </p:cNvPicPr>
          <p:nvPr/>
        </p:nvPicPr>
        <p:blipFill>
          <a:blip r:embed="rId2"/>
          <a:stretch>
            <a:fillRect/>
          </a:stretch>
        </p:blipFill>
        <p:spPr>
          <a:xfrm>
            <a:off x="6667960" y="1481328"/>
            <a:ext cx="2305587" cy="2697579"/>
          </a:xfrm>
          <a:prstGeom prst="rect">
            <a:avLst/>
          </a:prstGeom>
        </p:spPr>
      </p:pic>
      <p:sp>
        <p:nvSpPr>
          <p:cNvPr id="7" name="demo slot 2"/>
          <p:cNvSpPr/>
          <p:nvPr/>
        </p:nvSpPr>
        <p:spPr>
          <a:xfrm>
            <a:off x="9357595" y="1371600"/>
            <a:ext cx="2255285" cy="2917035"/>
          </a:xfrm>
          <a:prstGeom prst="roundRect">
            <a:avLst>
              <a:gd name="adj" fmla="val 3244"/>
            </a:avLst>
          </a:prstGeom>
          <a:solidFill>
            <a:schemeClr val="bg2"/>
          </a:solidFill>
          <a:ln/>
        </p:spPr>
      </p:sp>
      <p:pic>
        <p:nvPicPr>
          <p:cNvPr id="8" name="Image 2" descr="Detector output on a held-out test image (no mask)">    </p:cNvPr>
          <p:cNvPicPr>
            <a:picLocks noChangeAspect="1"/>
          </p:cNvPicPr>
          <p:nvPr/>
        </p:nvPicPr>
        <p:blipFill>
          <a:blip r:embed="rId3"/>
          <a:stretch>
            <a:fillRect/>
          </a:stretch>
        </p:blipFill>
        <p:spPr>
          <a:xfrm>
            <a:off x="9467323" y="1481328"/>
            <a:ext cx="2035829" cy="2697579"/>
          </a:xfrm>
          <a:prstGeom prst="rect">
            <a:avLst/>
          </a:prstGeom>
        </p:spPr>
      </p:pic>
      <p:sp>
        <p:nvSpPr>
          <p:cNvPr id="9" name="Text 4"/>
          <p:cNvSpPr txBox="1"/>
          <p:nvPr/>
        </p:nvSpPr>
        <p:spPr>
          <a:xfrm>
            <a:off x="548640" y="5074920"/>
            <a:ext cx="11064240" cy="365760"/>
          </a:xfrm>
          <a:prstGeom prst="rect">
            <a:avLst/>
          </a:prstGeom>
          <a:noFill/>
          <a:ln/>
        </p:spPr>
        <p:txBody>
          <a:bodyPr wrap="square" lIns="0" tIns="0" rIns="0" bIns="0" rtlCol="0" anchor="t"/>
          <a:lstStyle/>
          <a:p>
            <a:pPr indent="0" marL="0">
              <a:buNone/>
            </a:pPr>
            <a:r>
              <a:rPr lang="en-US" sz="1300" i="1" dirty="0">
                <a:solidFill>
                  <a:schemeClr val="accent6"/>
                </a:solidFill>
              </a:rPr>
              <a:t>Real outputs of detect_image.py on held-out test images, which the model never saw during training.</a:t>
            </a:r>
            <a:endParaRPr lang="en-US" sz="1300" dirty="0"/>
          </a:p>
        </p:txBody>
      </p:sp>
      <p:sp>
        <p:nvSpPr>
          <p:cNvPr id="10" name="commands"/>
          <p:cNvSpPr/>
          <p:nvPr/>
        </p:nvSpPr>
        <p:spPr>
          <a:xfrm>
            <a:off x="548640" y="5486400"/>
            <a:ext cx="11064240" cy="685800"/>
          </a:xfrm>
          <a:prstGeom prst="roundRect">
            <a:avLst>
              <a:gd name="adj" fmla="val 10667"/>
            </a:avLst>
          </a:prstGeom>
          <a:solidFill>
            <a:schemeClr val="tx2"/>
          </a:solidFill>
          <a:ln/>
        </p:spPr>
      </p:sp>
      <p:sp>
        <p:nvSpPr>
          <p:cNvPr id="11" name="Text 6"/>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python detect_image.py --image photo.jpg --output result.jpg</a:t>
            </a:r>
            <a:pPr indent="0" marL="0">
              <a:buNone/>
            </a:pPr>
            <a:r>
              <a:rPr lang="en-US" sz="1400" dirty="0">
                <a:solidFill>
                  <a:schemeClr val="bg2"/>
                </a:solidFill>
              </a:rPr>
              <a:t>      or live:  </a:t>
            </a:r>
            <a:pPr indent="0" marL="0">
              <a:buNone/>
            </a:pPr>
            <a:r>
              <a:rPr lang="en-US" sz="1400" b="1" dirty="0">
                <a:solidFill>
                  <a:schemeClr val="bg1"/>
                </a:solidFill>
                <a:latin typeface="Courier New" pitchFamily="34" charset="0"/>
                <a:ea typeface="Courier New" pitchFamily="34" charset="-122"/>
                <a:cs typeface="Courier New" pitchFamily="34" charset="-120"/>
              </a:rPr>
              <a:t>python detect_video.py</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Real-time webcam loop</a:t>
            </a:r>
            <a:endParaRPr lang="en-US" sz="3200" dirty="0"/>
          </a:p>
        </p:txBody>
      </p:sp>
      <p:sp>
        <p:nvSpPr>
          <p:cNvPr id="3" name="loop Capture"/>
          <p:cNvSpPr/>
          <p:nvPr/>
        </p:nvSpPr>
        <p:spPr>
          <a:xfrm>
            <a:off x="822960" y="1463040"/>
            <a:ext cx="1828800" cy="960120"/>
          </a:xfrm>
          <a:prstGeom prst="roundRect">
            <a:avLst>
              <a:gd name="adj" fmla="val 7619"/>
            </a:avLst>
          </a:prstGeom>
          <a:solidFill>
            <a:schemeClr val="accent5"/>
          </a:solidFill>
          <a:ln/>
          <a:effectLst>
            <a:outerShdw sx="100000" sy="100000" kx="0" ky="0" algn="bl" rotWithShape="0" blurRad="76200" dist="25400" dir="5400000">
              <a:srgbClr val="000000">
                <a:alpha val="12000"/>
              </a:srgbClr>
            </a:outerShdw>
          </a:effectLst>
        </p:spPr>
      </p:sp>
      <p:sp>
        <p:nvSpPr>
          <p:cNvPr id="4" name="Text 2"/>
          <p:cNvSpPr txBox="1"/>
          <p:nvPr/>
        </p:nvSpPr>
        <p:spPr>
          <a:xfrm>
            <a:off x="914400" y="1463040"/>
            <a:ext cx="1645920" cy="960120"/>
          </a:xfrm>
          <a:prstGeom prst="rect">
            <a:avLst/>
          </a:prstGeom>
          <a:noFill/>
          <a:ln/>
        </p:spPr>
        <p:txBody>
          <a:bodyPr wrap="square" lIns="0" tIns="0" rIns="0" bIns="0" rtlCol="0" anchor="ctr"/>
          <a:lstStyle/>
          <a:p>
            <a:pPr algn="ctr" indent="0" marL="0">
              <a:buNone/>
            </a:pPr>
            <a:r>
              <a:rPr lang="en-US" sz="1400" b="1" dirty="0">
                <a:solidFill>
                  <a:schemeClr val="bg1"/>
                </a:solidFill>
              </a:rPr>
              <a:t>1. Capture</a:t>
            </a:r>
            <a:endParaRPr lang="en-US" sz="1400" dirty="0"/>
          </a:p>
          <a:p>
            <a:pPr algn="ctr" indent="0" marL="0">
              <a:buNone/>
            </a:pPr>
            <a:r>
              <a:rPr lang="en-US" sz="1200" dirty="0">
                <a:solidFill>
                  <a:schemeClr val="bg1"/>
                </a:solidFill>
              </a:rPr>
              <a:t>cap.read() grabs a frame</a:t>
            </a:r>
            <a:endParaRPr lang="en-US" sz="1400" dirty="0"/>
          </a:p>
        </p:txBody>
      </p:sp>
      <p:sp>
        <p:nvSpPr>
          <p:cNvPr id="5" name="loop Mirror"/>
          <p:cNvSpPr/>
          <p:nvPr/>
        </p:nvSpPr>
        <p:spPr>
          <a:xfrm>
            <a:off x="3337560" y="1463040"/>
            <a:ext cx="1828800" cy="960120"/>
          </a:xfrm>
          <a:prstGeom prst="roundRect">
            <a:avLst>
              <a:gd name="adj" fmla="val 7619"/>
            </a:avLst>
          </a:prstGeom>
          <a:solidFill>
            <a:schemeClr val="accent6"/>
          </a:solidFill>
          <a:ln/>
          <a:effectLst>
            <a:outerShdw sx="100000" sy="100000" kx="0" ky="0" algn="bl" rotWithShape="0" blurRad="76200" dist="25400" dir="5400000">
              <a:srgbClr val="000000">
                <a:alpha val="12000"/>
              </a:srgbClr>
            </a:outerShdw>
          </a:effectLst>
        </p:spPr>
      </p:sp>
      <p:sp>
        <p:nvSpPr>
          <p:cNvPr id="6" name="Text 4"/>
          <p:cNvSpPr txBox="1"/>
          <p:nvPr/>
        </p:nvSpPr>
        <p:spPr>
          <a:xfrm>
            <a:off x="3429000" y="1463040"/>
            <a:ext cx="1645920" cy="960120"/>
          </a:xfrm>
          <a:prstGeom prst="rect">
            <a:avLst/>
          </a:prstGeom>
          <a:noFill/>
          <a:ln/>
        </p:spPr>
        <p:txBody>
          <a:bodyPr wrap="square" lIns="0" tIns="0" rIns="0" bIns="0" rtlCol="0" anchor="ctr"/>
          <a:lstStyle/>
          <a:p>
            <a:pPr algn="ctr" indent="0" marL="0">
              <a:buNone/>
            </a:pPr>
            <a:r>
              <a:rPr lang="en-US" sz="1400" b="1" dirty="0">
                <a:solidFill>
                  <a:schemeClr val="tx1"/>
                </a:solidFill>
              </a:rPr>
              <a:t>2. Mirror</a:t>
            </a:r>
            <a:endParaRPr lang="en-US" sz="1400" dirty="0"/>
          </a:p>
          <a:p>
            <a:pPr algn="ctr" indent="0" marL="0">
              <a:buNone/>
            </a:pPr>
            <a:r>
              <a:rPr lang="en-US" sz="1200" dirty="0">
                <a:solidFill>
                  <a:schemeClr val="tx1"/>
                </a:solidFill>
              </a:rPr>
              <a:t>cv2.flip so it feels like a mirror</a:t>
            </a:r>
            <a:endParaRPr lang="en-US" sz="1400" dirty="0"/>
          </a:p>
        </p:txBody>
      </p:sp>
      <p:sp>
        <p:nvSpPr>
          <p:cNvPr id="7" name="loop Detect faces"/>
          <p:cNvSpPr/>
          <p:nvPr/>
        </p:nvSpPr>
        <p:spPr>
          <a:xfrm>
            <a:off x="5852160" y="1463040"/>
            <a:ext cx="1828800" cy="960120"/>
          </a:xfrm>
          <a:prstGeom prst="roundRect">
            <a:avLst>
              <a:gd name="adj" fmla="val 7619"/>
            </a:avLst>
          </a:prstGeom>
          <a:solidFill>
            <a:schemeClr val="tx2"/>
          </a:solidFill>
          <a:ln/>
          <a:effectLst>
            <a:outerShdw sx="100000" sy="100000" kx="0" ky="0" algn="bl" rotWithShape="0" blurRad="76200" dist="25400" dir="5400000">
              <a:srgbClr val="000000">
                <a:alpha val="12000"/>
              </a:srgbClr>
            </a:outerShdw>
          </a:effectLst>
        </p:spPr>
      </p:sp>
      <p:sp>
        <p:nvSpPr>
          <p:cNvPr id="8" name="Text 6"/>
          <p:cNvSpPr txBox="1"/>
          <p:nvPr/>
        </p:nvSpPr>
        <p:spPr>
          <a:xfrm>
            <a:off x="5943600" y="1463040"/>
            <a:ext cx="1645920" cy="960120"/>
          </a:xfrm>
          <a:prstGeom prst="rect">
            <a:avLst/>
          </a:prstGeom>
          <a:noFill/>
          <a:ln/>
        </p:spPr>
        <p:txBody>
          <a:bodyPr wrap="square" lIns="0" tIns="0" rIns="0" bIns="0" rtlCol="0" anchor="ctr"/>
          <a:lstStyle/>
          <a:p>
            <a:pPr algn="ctr" indent="0" marL="0">
              <a:buNone/>
            </a:pPr>
            <a:r>
              <a:rPr lang="en-US" sz="1400" b="1" dirty="0">
                <a:solidFill>
                  <a:schemeClr val="bg1"/>
                </a:solidFill>
              </a:rPr>
              <a:t>3. Detect faces</a:t>
            </a:r>
            <a:endParaRPr lang="en-US" sz="1400" dirty="0"/>
          </a:p>
          <a:p>
            <a:pPr algn="ctr" indent="0" marL="0">
              <a:buNone/>
            </a:pPr>
            <a:r>
              <a:rPr lang="en-US" sz="1200" dirty="0">
                <a:solidFill>
                  <a:schemeClr val="bg1"/>
                </a:solidFill>
              </a:rPr>
              <a:t>SSD → list of boxes</a:t>
            </a:r>
            <a:endParaRPr lang="en-US" sz="1400" dirty="0"/>
          </a:p>
        </p:txBody>
      </p:sp>
      <p:sp>
        <p:nvSpPr>
          <p:cNvPr id="9" name="loop Classify"/>
          <p:cNvSpPr/>
          <p:nvPr/>
        </p:nvSpPr>
        <p:spPr>
          <a:xfrm>
            <a:off x="5852160" y="3566160"/>
            <a:ext cx="1828800" cy="960120"/>
          </a:xfrm>
          <a:prstGeom prst="roundRect">
            <a:avLst>
              <a:gd name="adj" fmla="val 7619"/>
            </a:avLst>
          </a:prstGeom>
          <a:solidFill>
            <a:schemeClr val="accent1"/>
          </a:solidFill>
          <a:ln/>
          <a:effectLst>
            <a:outerShdw sx="100000" sy="100000" kx="0" ky="0" algn="bl" rotWithShape="0" blurRad="76200" dist="25400" dir="5400000">
              <a:srgbClr val="000000">
                <a:alpha val="12000"/>
              </a:srgbClr>
            </a:outerShdw>
          </a:effectLst>
        </p:spPr>
      </p:sp>
      <p:sp>
        <p:nvSpPr>
          <p:cNvPr id="10" name="Text 8"/>
          <p:cNvSpPr txBox="1"/>
          <p:nvPr/>
        </p:nvSpPr>
        <p:spPr>
          <a:xfrm>
            <a:off x="5943600" y="3566160"/>
            <a:ext cx="1645920" cy="960120"/>
          </a:xfrm>
          <a:prstGeom prst="rect">
            <a:avLst/>
          </a:prstGeom>
          <a:noFill/>
          <a:ln/>
        </p:spPr>
        <p:txBody>
          <a:bodyPr wrap="square" lIns="0" tIns="0" rIns="0" bIns="0" rtlCol="0" anchor="ctr"/>
          <a:lstStyle/>
          <a:p>
            <a:pPr algn="ctr" indent="0" marL="0">
              <a:buNone/>
            </a:pPr>
            <a:r>
              <a:rPr lang="en-US" sz="1400" b="1" dirty="0">
                <a:solidFill>
                  <a:schemeClr val="bg1"/>
                </a:solidFill>
              </a:rPr>
              <a:t>4. Classify</a:t>
            </a:r>
            <a:endParaRPr lang="en-US" sz="1400" dirty="0"/>
          </a:p>
          <a:p>
            <a:pPr algn="ctr" indent="0" marL="0">
              <a:buNone/>
            </a:pPr>
            <a:r>
              <a:rPr lang="en-US" sz="1200" dirty="0">
                <a:solidFill>
                  <a:schemeClr val="bg1"/>
                </a:solidFill>
              </a:rPr>
              <a:t>all faces in ONE batch</a:t>
            </a:r>
            <a:endParaRPr lang="en-US" sz="1400" dirty="0"/>
          </a:p>
        </p:txBody>
      </p:sp>
      <p:sp>
        <p:nvSpPr>
          <p:cNvPr id="11" name="loop Draw"/>
          <p:cNvSpPr/>
          <p:nvPr/>
        </p:nvSpPr>
        <p:spPr>
          <a:xfrm>
            <a:off x="3337560" y="3566160"/>
            <a:ext cx="1828800" cy="960120"/>
          </a:xfrm>
          <a:prstGeom prst="roundRect">
            <a:avLst>
              <a:gd name="adj" fmla="val 7619"/>
            </a:avLst>
          </a:prstGeom>
          <a:solidFill>
            <a:schemeClr val="accent2"/>
          </a:solidFill>
          <a:ln/>
          <a:effectLst>
            <a:outerShdw sx="100000" sy="100000" kx="0" ky="0" algn="bl" rotWithShape="0" blurRad="76200" dist="25400" dir="5400000">
              <a:srgbClr val="000000">
                <a:alpha val="12000"/>
              </a:srgbClr>
            </a:outerShdw>
          </a:effectLst>
        </p:spPr>
      </p:sp>
      <p:sp>
        <p:nvSpPr>
          <p:cNvPr id="12" name="Text 10"/>
          <p:cNvSpPr txBox="1"/>
          <p:nvPr/>
        </p:nvSpPr>
        <p:spPr>
          <a:xfrm>
            <a:off x="3429000" y="3566160"/>
            <a:ext cx="1645920" cy="960120"/>
          </a:xfrm>
          <a:prstGeom prst="rect">
            <a:avLst/>
          </a:prstGeom>
          <a:noFill/>
          <a:ln/>
        </p:spPr>
        <p:txBody>
          <a:bodyPr wrap="square" lIns="0" tIns="0" rIns="0" bIns="0" rtlCol="0" anchor="ctr"/>
          <a:lstStyle/>
          <a:p>
            <a:pPr algn="ctr" indent="0" marL="0">
              <a:buNone/>
            </a:pPr>
            <a:r>
              <a:rPr lang="en-US" sz="1400" b="1" dirty="0">
                <a:solidFill>
                  <a:schemeClr val="bg1"/>
                </a:solidFill>
              </a:rPr>
              <a:t>5. Draw</a:t>
            </a:r>
            <a:endParaRPr lang="en-US" sz="1400" dirty="0"/>
          </a:p>
          <a:p>
            <a:pPr algn="ctr" indent="0" marL="0">
              <a:buNone/>
            </a:pPr>
            <a:r>
              <a:rPr lang="en-US" sz="1200" dirty="0">
                <a:solidFill>
                  <a:schemeClr val="bg1"/>
                </a:solidFill>
              </a:rPr>
              <a:t>boxes, labels, FPS</a:t>
            </a:r>
            <a:endParaRPr lang="en-US" sz="1400" dirty="0"/>
          </a:p>
        </p:txBody>
      </p:sp>
      <p:sp>
        <p:nvSpPr>
          <p:cNvPr id="13" name="loop Show"/>
          <p:cNvSpPr/>
          <p:nvPr/>
        </p:nvSpPr>
        <p:spPr>
          <a:xfrm>
            <a:off x="822960" y="3566160"/>
            <a:ext cx="1828800" cy="960120"/>
          </a:xfrm>
          <a:prstGeom prst="roundRect">
            <a:avLst>
              <a:gd name="adj" fmla="val 7619"/>
            </a:avLst>
          </a:prstGeom>
          <a:solidFill>
            <a:schemeClr val="accent5"/>
          </a:solidFill>
          <a:ln/>
          <a:effectLst>
            <a:outerShdw sx="100000" sy="100000" kx="0" ky="0" algn="bl" rotWithShape="0" blurRad="76200" dist="25400" dir="5400000">
              <a:srgbClr val="000000">
                <a:alpha val="12000"/>
              </a:srgbClr>
            </a:outerShdw>
          </a:effectLst>
        </p:spPr>
      </p:sp>
      <p:sp>
        <p:nvSpPr>
          <p:cNvPr id="14" name="Text 12"/>
          <p:cNvSpPr txBox="1"/>
          <p:nvPr/>
        </p:nvSpPr>
        <p:spPr>
          <a:xfrm>
            <a:off x="914400" y="3566160"/>
            <a:ext cx="1645920" cy="960120"/>
          </a:xfrm>
          <a:prstGeom prst="rect">
            <a:avLst/>
          </a:prstGeom>
          <a:noFill/>
          <a:ln/>
        </p:spPr>
        <p:txBody>
          <a:bodyPr wrap="square" lIns="0" tIns="0" rIns="0" bIns="0" rtlCol="0" anchor="ctr"/>
          <a:lstStyle/>
          <a:p>
            <a:pPr algn="ctr" indent="0" marL="0">
              <a:buNone/>
            </a:pPr>
            <a:r>
              <a:rPr lang="en-US" sz="1400" b="1" dirty="0">
                <a:solidFill>
                  <a:schemeClr val="bg1"/>
                </a:solidFill>
              </a:rPr>
              <a:t>6. Show</a:t>
            </a:r>
            <a:endParaRPr lang="en-US" sz="1400" dirty="0"/>
          </a:p>
          <a:p>
            <a:pPr algn="ctr" indent="0" marL="0">
              <a:buNone/>
            </a:pPr>
            <a:r>
              <a:rPr lang="en-US" sz="1200" dirty="0">
                <a:solidFill>
                  <a:schemeClr val="bg1"/>
                </a:solidFill>
              </a:rPr>
              <a:t>cv2.imshow window</a:t>
            </a:r>
            <a:endParaRPr lang="en-US" sz="1400" dirty="0"/>
          </a:p>
        </p:txBody>
      </p:sp>
      <p:sp>
        <p:nvSpPr>
          <p:cNvPr id="15" name="Shape 13"/>
          <p:cNvSpPr/>
          <p:nvPr/>
        </p:nvSpPr>
        <p:spPr>
          <a:xfrm>
            <a:off x="2688336" y="1943100"/>
            <a:ext cx="612648" cy="0"/>
          </a:xfrm>
          <a:prstGeom prst="line">
            <a:avLst/>
          </a:prstGeom>
          <a:noFill/>
          <a:ln w="25400">
            <a:solidFill>
              <a:schemeClr val="accent6"/>
            </a:solidFill>
            <a:prstDash val="solid"/>
            <a:tailEnd type="triangle"/>
          </a:ln>
        </p:spPr>
      </p:sp>
      <p:sp>
        <p:nvSpPr>
          <p:cNvPr id="16" name="Shape 14"/>
          <p:cNvSpPr/>
          <p:nvPr/>
        </p:nvSpPr>
        <p:spPr>
          <a:xfrm>
            <a:off x="5202936" y="1943100"/>
            <a:ext cx="612648" cy="0"/>
          </a:xfrm>
          <a:prstGeom prst="line">
            <a:avLst/>
          </a:prstGeom>
          <a:noFill/>
          <a:ln w="25400">
            <a:solidFill>
              <a:schemeClr val="accent6"/>
            </a:solidFill>
            <a:prstDash val="solid"/>
            <a:tailEnd type="triangle"/>
          </a:ln>
        </p:spPr>
      </p:sp>
      <p:sp>
        <p:nvSpPr>
          <p:cNvPr id="17" name="Shape 15"/>
          <p:cNvSpPr/>
          <p:nvPr/>
        </p:nvSpPr>
        <p:spPr>
          <a:xfrm>
            <a:off x="6766560" y="2459736"/>
            <a:ext cx="0" cy="1069848"/>
          </a:xfrm>
          <a:prstGeom prst="line">
            <a:avLst/>
          </a:prstGeom>
          <a:noFill/>
          <a:ln w="25400">
            <a:solidFill>
              <a:schemeClr val="accent6"/>
            </a:solidFill>
            <a:prstDash val="solid"/>
            <a:tailEnd type="triangle"/>
          </a:ln>
        </p:spPr>
      </p:sp>
      <p:sp>
        <p:nvSpPr>
          <p:cNvPr id="18" name="Shape 16"/>
          <p:cNvSpPr/>
          <p:nvPr/>
        </p:nvSpPr>
        <p:spPr>
          <a:xfrm flipH="1">
            <a:off x="5202936" y="4046220"/>
            <a:ext cx="612648" cy="0"/>
          </a:xfrm>
          <a:prstGeom prst="line">
            <a:avLst/>
          </a:prstGeom>
          <a:noFill/>
          <a:ln w="25400">
            <a:solidFill>
              <a:schemeClr val="accent6"/>
            </a:solidFill>
            <a:prstDash val="solid"/>
            <a:tailEnd type="triangle"/>
          </a:ln>
        </p:spPr>
      </p:sp>
      <p:sp>
        <p:nvSpPr>
          <p:cNvPr id="19" name="Shape 17"/>
          <p:cNvSpPr/>
          <p:nvPr/>
        </p:nvSpPr>
        <p:spPr>
          <a:xfrm flipH="1">
            <a:off x="2688336" y="4046220"/>
            <a:ext cx="612648" cy="0"/>
          </a:xfrm>
          <a:prstGeom prst="line">
            <a:avLst/>
          </a:prstGeom>
          <a:noFill/>
          <a:ln w="25400">
            <a:solidFill>
              <a:schemeClr val="accent6"/>
            </a:solidFill>
            <a:prstDash val="solid"/>
            <a:tailEnd type="triangle"/>
          </a:ln>
        </p:spPr>
      </p:sp>
      <p:sp>
        <p:nvSpPr>
          <p:cNvPr id="20" name="Shape 18"/>
          <p:cNvSpPr/>
          <p:nvPr/>
        </p:nvSpPr>
        <p:spPr>
          <a:xfrm flipV="1">
            <a:off x="1737360" y="2459736"/>
            <a:ext cx="0" cy="1069848"/>
          </a:xfrm>
          <a:prstGeom prst="line">
            <a:avLst/>
          </a:prstGeom>
          <a:noFill/>
          <a:ln w="25400">
            <a:solidFill>
              <a:schemeClr val="accent6"/>
            </a:solidFill>
            <a:prstDash val="solid"/>
            <a:tailEnd type="triangle"/>
          </a:ln>
        </p:spPr>
      </p:sp>
      <p:sp>
        <p:nvSpPr>
          <p:cNvPr id="21" name="Text 19"/>
          <p:cNvSpPr txBox="1"/>
          <p:nvPr/>
        </p:nvSpPr>
        <p:spPr>
          <a:xfrm>
            <a:off x="1874520" y="2697480"/>
            <a:ext cx="2194560" cy="365760"/>
          </a:xfrm>
          <a:prstGeom prst="rect">
            <a:avLst/>
          </a:prstGeom>
          <a:noFill/>
          <a:ln/>
        </p:spPr>
        <p:txBody>
          <a:bodyPr wrap="square" lIns="0" tIns="0" rIns="0" bIns="0" rtlCol="0" anchor="t"/>
          <a:lstStyle/>
          <a:p>
            <a:pPr indent="0" marL="0">
              <a:buNone/>
            </a:pPr>
            <a:r>
              <a:rPr lang="en-US" sz="1300" i="1" dirty="0">
                <a:solidFill>
                  <a:schemeClr val="accent6"/>
                </a:solidFill>
              </a:rPr>
              <a:t>repeat for every frame</a:t>
            </a:r>
            <a:endParaRPr lang="en-US" sz="1300" dirty="0"/>
          </a:p>
        </p:txBody>
      </p:sp>
      <p:sp>
        <p:nvSpPr>
          <p:cNvPr id="22" name="quit note"/>
          <p:cNvSpPr/>
          <p:nvPr/>
        </p:nvSpPr>
        <p:spPr>
          <a:xfrm>
            <a:off x="6903720" y="2697480"/>
            <a:ext cx="1508760" cy="502920"/>
          </a:xfrm>
          <a:prstGeom prst="roundRect">
            <a:avLst>
              <a:gd name="adj" fmla="val 14545"/>
            </a:avLst>
          </a:prstGeom>
          <a:solidFill>
            <a:srgbClr val="FBE3E0"/>
          </a:solidFill>
          <a:ln/>
        </p:spPr>
      </p:sp>
      <p:sp>
        <p:nvSpPr>
          <p:cNvPr id="23" name="Text 21"/>
          <p:cNvSpPr txBox="1"/>
          <p:nvPr/>
        </p:nvSpPr>
        <p:spPr>
          <a:xfrm>
            <a:off x="6903720" y="2697480"/>
            <a:ext cx="1508760" cy="502920"/>
          </a:xfrm>
          <a:prstGeom prst="rect">
            <a:avLst/>
          </a:prstGeom>
          <a:noFill/>
          <a:ln/>
        </p:spPr>
        <p:txBody>
          <a:bodyPr wrap="square" lIns="0" tIns="0" rIns="0" bIns="0" rtlCol="0" anchor="ctr"/>
          <a:lstStyle/>
          <a:p>
            <a:pPr algn="ctr" indent="0" marL="0">
              <a:buNone/>
            </a:pPr>
            <a:r>
              <a:rPr lang="en-US" sz="1300" b="1" dirty="0">
                <a:solidFill>
                  <a:schemeClr val="accent3"/>
                </a:solidFill>
              </a:rPr>
              <a:t>press  q  to quit</a:t>
            </a:r>
            <a:endParaRPr lang="en-US" sz="1300" dirty="0"/>
          </a:p>
        </p:txBody>
      </p:sp>
      <p:sp>
        <p:nvSpPr>
          <p:cNvPr id="24" name="latency card"/>
          <p:cNvSpPr/>
          <p:nvPr/>
        </p:nvSpPr>
        <p:spPr>
          <a:xfrm>
            <a:off x="8595360" y="1463040"/>
            <a:ext cx="3017520" cy="3063240"/>
          </a:xfrm>
          <a:prstGeom prst="roundRect">
            <a:avLst>
              <a:gd name="adj" fmla="val 2424"/>
            </a:avLst>
          </a:prstGeom>
          <a:solidFill>
            <a:schemeClr val="tx2"/>
          </a:solidFill>
          <a:ln/>
        </p:spPr>
      </p:sp>
      <p:sp>
        <p:nvSpPr>
          <p:cNvPr id="25" name="Text 23"/>
          <p:cNvSpPr txBox="1"/>
          <p:nvPr/>
        </p:nvSpPr>
        <p:spPr>
          <a:xfrm>
            <a:off x="8823960" y="1600200"/>
            <a:ext cx="2560320" cy="2788920"/>
          </a:xfrm>
          <a:prstGeom prst="rect">
            <a:avLst/>
          </a:prstGeom>
          <a:noFill/>
          <a:ln/>
        </p:spPr>
        <p:txBody>
          <a:bodyPr wrap="square" lIns="0" tIns="0" rIns="0" bIns="0" rtlCol="0" anchor="ctr"/>
          <a:lstStyle/>
          <a:p>
            <a:pPr indent="0" marL="0">
              <a:spcAft>
                <a:spcPts val="600"/>
              </a:spcAft>
              <a:buNone/>
            </a:pPr>
            <a:r>
              <a:rPr lang="en-US" sz="4000" b="1" dirty="0">
                <a:solidFill>
                  <a:schemeClr val="bg1"/>
                </a:solidFill>
                <a:latin typeface="Arial" pitchFamily="34" charset="0"/>
                <a:ea typeface="Arial" pitchFamily="34" charset="-122"/>
                <a:cs typeface="Arial" pitchFamily="34" charset="-120"/>
              </a:rPr>
              <a:t>81 ms</a:t>
            </a:r>
            <a:endParaRPr lang="en-US" sz="1400" dirty="0"/>
          </a:p>
          <a:p>
            <a:pPr indent="0" marL="0">
              <a:spcAft>
                <a:spcPts val="600"/>
              </a:spcAft>
              <a:buNone/>
            </a:pPr>
            <a:r>
              <a:rPr lang="en-US" sz="1300" dirty="0">
                <a:solidFill>
                  <a:schemeClr val="bg1"/>
                </a:solidFill>
              </a:rPr>
              <a:t>per 640×480 frame on this laptop's CPU (detect + classify one face)</a:t>
            </a:r>
            <a:endParaRPr lang="en-US" sz="1400" dirty="0"/>
          </a:p>
          <a:p>
            <a:pPr indent="0" marL="0">
              <a:spcAft>
                <a:spcPts val="600"/>
              </a:spcAft>
              <a:buNone/>
            </a:pPr>
            <a:r>
              <a:rPr lang="en-US" sz="2200" b="1" dirty="0">
                <a:solidFill>
                  <a:schemeClr val="bg1"/>
                </a:solidFill>
              </a:rPr>
              <a:t>≈ 12 FPS</a:t>
            </a:r>
            <a:endParaRPr lang="en-US" sz="1400" dirty="0"/>
          </a:p>
        </p:txBody>
      </p:sp>
      <p:sp>
        <p:nvSpPr>
          <p:cNvPr id="26" name="speed tips"/>
          <p:cNvSpPr/>
          <p:nvPr/>
        </p:nvSpPr>
        <p:spPr>
          <a:xfrm>
            <a:off x="822960" y="4846320"/>
            <a:ext cx="10789920" cy="1188720"/>
          </a:xfrm>
          <a:prstGeom prst="roundRect">
            <a:avLst>
              <a:gd name="adj" fmla="val 6154"/>
            </a:avLst>
          </a:prstGeom>
          <a:solidFill>
            <a:schemeClr val="bg2"/>
          </a:solidFill>
          <a:ln/>
        </p:spPr>
      </p:sp>
      <p:sp>
        <p:nvSpPr>
          <p:cNvPr id="27" name="Text 25"/>
          <p:cNvSpPr txBox="1"/>
          <p:nvPr/>
        </p:nvSpPr>
        <p:spPr>
          <a:xfrm>
            <a:off x="1051560" y="4846320"/>
            <a:ext cx="10332720" cy="1188720"/>
          </a:xfrm>
          <a:prstGeom prst="rect">
            <a:avLst/>
          </a:prstGeom>
          <a:noFill/>
          <a:ln/>
        </p:spPr>
        <p:txBody>
          <a:bodyPr wrap="square" lIns="0" tIns="0" rIns="0" bIns="0" rtlCol="0" anchor="ctr"/>
          <a:lstStyle/>
          <a:p>
            <a:pPr indent="0" marL="0">
              <a:buNone/>
            </a:pPr>
            <a:r>
              <a:rPr lang="en-US" sz="1400" b="1" dirty="0">
                <a:solidFill>
                  <a:schemeClr val="tx2"/>
                </a:solidFill>
              </a:rPr>
              <a:t>Why it's fast enough: </a:t>
            </a:r>
            <a:pPr indent="0" marL="0">
              <a:buNone/>
            </a:pPr>
            <a:r>
              <a:rPr lang="en-US" sz="1400" dirty="0">
                <a:solidFill>
                  <a:schemeClr val="tx1"/>
                </a:solidFill>
              </a:rPr>
              <a:t>the SSD detector works on a small 300×300 copy of the frame, MobileNetV2 is designed for mobile phones, and every face in a frame goes through the CNN in one batched call instead of one call per face.</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Project files and how to run it</a:t>
            </a:r>
            <a:endParaRPr lang="en-US" sz="3200" dirty="0"/>
          </a:p>
        </p:txBody>
      </p:sp>
      <p:sp>
        <p:nvSpPr>
          <p:cNvPr id="3" name="file tree"/>
          <p:cNvSpPr/>
          <p:nvPr/>
        </p:nvSpPr>
        <p:spPr>
          <a:xfrm>
            <a:off x="548640" y="1325880"/>
            <a:ext cx="4846320" cy="4617720"/>
          </a:xfrm>
          <a:prstGeom prst="roundRect">
            <a:avLst>
              <a:gd name="adj" fmla="val 1584"/>
            </a:avLst>
          </a:prstGeom>
          <a:solidFill>
            <a:schemeClr val="tx1"/>
          </a:solidFill>
          <a:ln/>
        </p:spPr>
      </p:sp>
      <p:sp>
        <p:nvSpPr>
          <p:cNvPr id="4" name="Text 2"/>
          <p:cNvSpPr txBox="1"/>
          <p:nvPr/>
        </p:nvSpPr>
        <p:spPr>
          <a:xfrm>
            <a:off x="777240" y="1325880"/>
            <a:ext cx="4480560" cy="4617720"/>
          </a:xfrm>
          <a:prstGeom prst="rect">
            <a:avLst/>
          </a:prstGeom>
          <a:noFill/>
          <a:ln/>
        </p:spPr>
        <p:txBody>
          <a:bodyPr wrap="square" lIns="0" tIns="0" rIns="0" bIns="0" rtlCol="0" anchor="ctr"/>
          <a:lstStyle/>
          <a:p>
            <a:pPr indent="0" marL="0">
              <a:spcAft>
                <a:spcPts val="900"/>
              </a:spcAft>
              <a:buNone/>
            </a:pPr>
            <a:r>
              <a:rPr lang="en-US" sz="1400" b="1" dirty="0">
                <a:solidFill>
                  <a:schemeClr val="bg2"/>
                </a:solidFill>
                <a:latin typeface="Courier New" pitchFamily="34" charset="0"/>
                <a:ea typeface="Courier New" pitchFamily="34" charset="-122"/>
                <a:cs typeface="Courier New" pitchFamily="34" charset="-120"/>
              </a:rPr>
              <a:t>mllabproject/</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dataset/</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 with_mask/      2,162 imgs</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 without_mask/   1,930 imgs</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face_detector/   SSD model</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models/          trained .keras</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train.py         train + evaluate</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mask_detector.py shared logic</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detect_image.py  run on a photo</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detect_video.py  run on webcam</a:t>
            </a:r>
            <a:endParaRPr lang="en-US" sz="1400" dirty="0"/>
          </a:p>
          <a:p>
            <a:pPr indent="0" marL="0">
              <a:spcAft>
                <a:spcPts val="900"/>
              </a:spcAft>
              <a:buNone/>
            </a:pPr>
            <a:r>
              <a:rPr lang="en-US" sz="1400" dirty="0">
                <a:solidFill>
                  <a:schemeClr val="bg2"/>
                </a:solidFill>
                <a:latin typeface="Courier New" pitchFamily="34" charset="0"/>
                <a:ea typeface="Courier New" pitchFamily="34" charset="-122"/>
                <a:cs typeface="Courier New" pitchFamily="34" charset="-120"/>
              </a:rPr>
              <a:t>└─ requirements.txt</a:t>
            </a:r>
            <a:endParaRPr lang="en-US" sz="1400" dirty="0"/>
          </a:p>
        </p:txBody>
      </p:sp>
      <p:sp>
        <p:nvSpPr>
          <p:cNvPr id="5" name="badge 1"/>
          <p:cNvSpPr/>
          <p:nvPr/>
        </p:nvSpPr>
        <p:spPr>
          <a:xfrm>
            <a:off x="5760720" y="1325880"/>
            <a:ext cx="384048" cy="384048"/>
          </a:xfrm>
          <a:prstGeom prst="ellipse">
            <a:avLst/>
          </a:prstGeom>
          <a:solidFill>
            <a:schemeClr val="accent1"/>
          </a:solidFill>
          <a:ln/>
        </p:spPr>
      </p:sp>
      <p:sp>
        <p:nvSpPr>
          <p:cNvPr id="6" name="Text 4"/>
          <p:cNvSpPr txBox="1"/>
          <p:nvPr/>
        </p:nvSpPr>
        <p:spPr>
          <a:xfrm>
            <a:off x="57607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6309360" y="1325880"/>
            <a:ext cx="5303520"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Install</a:t>
            </a:r>
            <a:endParaRPr lang="en-US" sz="1800" dirty="0"/>
          </a:p>
        </p:txBody>
      </p:sp>
      <p:sp>
        <p:nvSpPr>
          <p:cNvPr id="8" name="cmd Install"/>
          <p:cNvSpPr/>
          <p:nvPr/>
        </p:nvSpPr>
        <p:spPr>
          <a:xfrm>
            <a:off x="6309360" y="1783080"/>
            <a:ext cx="5303520" cy="1143000"/>
          </a:xfrm>
          <a:prstGeom prst="roundRect">
            <a:avLst>
              <a:gd name="adj" fmla="val 6400"/>
            </a:avLst>
          </a:prstGeom>
          <a:solidFill>
            <a:schemeClr val="bg2"/>
          </a:solidFill>
          <a:ln/>
        </p:spPr>
      </p:sp>
      <p:sp>
        <p:nvSpPr>
          <p:cNvPr id="9" name="Text 7"/>
          <p:cNvSpPr txBox="1"/>
          <p:nvPr/>
        </p:nvSpPr>
        <p:spPr>
          <a:xfrm>
            <a:off x="6492240" y="1783080"/>
            <a:ext cx="5029200" cy="114300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python -m venv .venv</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.venv\Scripts\activate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pip install -r requirements.txt</a:t>
            </a:r>
            <a:endParaRPr lang="en-US" sz="1300" dirty="0"/>
          </a:p>
        </p:txBody>
      </p:sp>
      <p:sp>
        <p:nvSpPr>
          <p:cNvPr id="10" name="badge 2"/>
          <p:cNvSpPr/>
          <p:nvPr/>
        </p:nvSpPr>
        <p:spPr>
          <a:xfrm>
            <a:off x="5760720" y="3246120"/>
            <a:ext cx="384048" cy="384048"/>
          </a:xfrm>
          <a:prstGeom prst="ellipse">
            <a:avLst/>
          </a:prstGeom>
          <a:solidFill>
            <a:schemeClr val="accent1"/>
          </a:solidFill>
          <a:ln/>
        </p:spPr>
      </p:sp>
      <p:sp>
        <p:nvSpPr>
          <p:cNvPr id="11" name="Text 9"/>
          <p:cNvSpPr txBox="1"/>
          <p:nvPr/>
        </p:nvSpPr>
        <p:spPr>
          <a:xfrm>
            <a:off x="5760720" y="32461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6309360" y="3246120"/>
            <a:ext cx="5303520"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Train</a:t>
            </a:r>
            <a:endParaRPr lang="en-US" sz="1800" dirty="0"/>
          </a:p>
        </p:txBody>
      </p:sp>
      <p:sp>
        <p:nvSpPr>
          <p:cNvPr id="13" name="cmd Train"/>
          <p:cNvSpPr/>
          <p:nvPr/>
        </p:nvSpPr>
        <p:spPr>
          <a:xfrm>
            <a:off x="6309360" y="3703320"/>
            <a:ext cx="5303520" cy="594360"/>
          </a:xfrm>
          <a:prstGeom prst="roundRect">
            <a:avLst>
              <a:gd name="adj" fmla="val 12308"/>
            </a:avLst>
          </a:prstGeom>
          <a:solidFill>
            <a:schemeClr val="bg2"/>
          </a:solidFill>
          <a:ln/>
        </p:spPr>
      </p:sp>
      <p:sp>
        <p:nvSpPr>
          <p:cNvPr id="14" name="Text 12"/>
          <p:cNvSpPr txBox="1"/>
          <p:nvPr/>
        </p:nvSpPr>
        <p:spPr>
          <a:xfrm>
            <a:off x="6492240" y="3703320"/>
            <a:ext cx="5029200" cy="59436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python train.py --epochs 20</a:t>
            </a:r>
            <a:endParaRPr lang="en-US" sz="1300" dirty="0"/>
          </a:p>
        </p:txBody>
      </p:sp>
      <p:sp>
        <p:nvSpPr>
          <p:cNvPr id="15" name="badge 3"/>
          <p:cNvSpPr/>
          <p:nvPr/>
        </p:nvSpPr>
        <p:spPr>
          <a:xfrm>
            <a:off x="5760720" y="4617720"/>
            <a:ext cx="384048" cy="384048"/>
          </a:xfrm>
          <a:prstGeom prst="ellipse">
            <a:avLst/>
          </a:prstGeom>
          <a:solidFill>
            <a:schemeClr val="accent1"/>
          </a:solidFill>
          <a:ln/>
        </p:spPr>
      </p:sp>
      <p:sp>
        <p:nvSpPr>
          <p:cNvPr id="16" name="Text 14"/>
          <p:cNvSpPr txBox="1"/>
          <p:nvPr/>
        </p:nvSpPr>
        <p:spPr>
          <a:xfrm>
            <a:off x="576072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6309360" y="4617720"/>
            <a:ext cx="5303520" cy="38404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Use it</a:t>
            </a:r>
            <a:endParaRPr lang="en-US" sz="1800" dirty="0"/>
          </a:p>
        </p:txBody>
      </p:sp>
      <p:sp>
        <p:nvSpPr>
          <p:cNvPr id="18" name="cmd Use it"/>
          <p:cNvSpPr/>
          <p:nvPr/>
        </p:nvSpPr>
        <p:spPr>
          <a:xfrm>
            <a:off x="6309360" y="5074920"/>
            <a:ext cx="5303520" cy="868680"/>
          </a:xfrm>
          <a:prstGeom prst="roundRect">
            <a:avLst>
              <a:gd name="adj" fmla="val 8421"/>
            </a:avLst>
          </a:prstGeom>
          <a:solidFill>
            <a:schemeClr val="bg2"/>
          </a:solidFill>
          <a:ln/>
        </p:spPr>
      </p:sp>
      <p:sp>
        <p:nvSpPr>
          <p:cNvPr id="19" name="Text 17"/>
          <p:cNvSpPr txBox="1"/>
          <p:nvPr/>
        </p:nvSpPr>
        <p:spPr>
          <a:xfrm>
            <a:off x="6492240" y="5074920"/>
            <a:ext cx="5029200" cy="86868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python detect_image.py --image photo.jpg</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python detect_video.py</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Limitations and future work</a:t>
            </a:r>
            <a:endParaRPr lang="en-US" sz="3200" dirty="0"/>
          </a:p>
        </p:txBody>
      </p:sp>
      <p:sp>
        <p:nvSpPr>
          <p:cNvPr id="3" name="Limitations"/>
          <p:cNvSpPr/>
          <p:nvPr/>
        </p:nvSpPr>
        <p:spPr>
          <a:xfrm>
            <a:off x="548640" y="1325880"/>
            <a:ext cx="5394960" cy="4709160"/>
          </a:xfrm>
          <a:prstGeom prst="roundRect">
            <a:avLst>
              <a:gd name="adj" fmla="val 1553"/>
            </a:avLst>
          </a:prstGeom>
          <a:solidFill>
            <a:srgbClr val="FBE3E0"/>
          </a:solidFill>
          <a:ln/>
        </p:spPr>
      </p:sp>
      <p:sp>
        <p:nvSpPr>
          <p:cNvPr id="4" name="Text 2"/>
          <p:cNvSpPr txBox="1"/>
          <p:nvPr/>
        </p:nvSpPr>
        <p:spPr>
          <a:xfrm>
            <a:off x="822960" y="1508760"/>
            <a:ext cx="4846320" cy="457200"/>
          </a:xfrm>
          <a:prstGeom prst="rect">
            <a:avLst/>
          </a:prstGeom>
          <a:noFill/>
          <a:ln/>
        </p:spPr>
        <p:txBody>
          <a:bodyPr wrap="square" lIns="0" tIns="0" rIns="0" bIns="0" rtlCol="0" anchor="t"/>
          <a:lstStyle/>
          <a:p>
            <a:pPr indent="0" marL="0">
              <a:buNone/>
            </a:pPr>
            <a:r>
              <a:rPr lang="en-US" sz="2200" b="1" dirty="0">
                <a:solidFill>
                  <a:schemeClr val="accent3"/>
                </a:solidFill>
                <a:latin typeface="Arial" pitchFamily="34" charset="0"/>
                <a:ea typeface="Arial" pitchFamily="34" charset="-122"/>
                <a:cs typeface="Arial" pitchFamily="34" charset="-120"/>
              </a:rPr>
              <a:t>Limitations</a:t>
            </a:r>
            <a:endParaRPr lang="en-US" sz="2200" dirty="0"/>
          </a:p>
        </p:txBody>
      </p:sp>
      <p:sp>
        <p:nvSpPr>
          <p:cNvPr id="5" name="badge 1"/>
          <p:cNvSpPr/>
          <p:nvPr/>
        </p:nvSpPr>
        <p:spPr>
          <a:xfrm>
            <a:off x="822960" y="2240280"/>
            <a:ext cx="365760" cy="365760"/>
          </a:xfrm>
          <a:prstGeom prst="ellipse">
            <a:avLst/>
          </a:prstGeom>
          <a:solidFill>
            <a:schemeClr val="accent3"/>
          </a:solidFill>
          <a:ln/>
        </p:spPr>
      </p:sp>
      <p:sp>
        <p:nvSpPr>
          <p:cNvPr id="6" name="Text 4"/>
          <p:cNvSpPr txBox="1"/>
          <p:nvPr/>
        </p:nvSpPr>
        <p:spPr>
          <a:xfrm>
            <a:off x="82296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71600" y="2194560"/>
            <a:ext cx="4343400" cy="822960"/>
          </a:xfrm>
          <a:prstGeom prst="rect">
            <a:avLst/>
          </a:prstGeom>
          <a:noFill/>
          <a:ln/>
        </p:spPr>
        <p:txBody>
          <a:bodyPr wrap="square" lIns="0" tIns="0" rIns="0" bIns="0" rtlCol="0" anchor="t"/>
          <a:lstStyle/>
          <a:p>
            <a:pPr indent="0" marL="0">
              <a:buNone/>
            </a:pPr>
            <a:r>
              <a:rPr lang="en-US" sz="1400" dirty="0">
                <a:solidFill>
                  <a:schemeClr val="tx1"/>
                </a:solidFill>
              </a:rPr>
              <a:t>Only 2 classes, so a mask worn under the nose may still count as 'Mask'</a:t>
            </a:r>
            <a:endParaRPr lang="en-US" sz="1400" dirty="0"/>
          </a:p>
        </p:txBody>
      </p:sp>
      <p:sp>
        <p:nvSpPr>
          <p:cNvPr id="8" name="badge 2"/>
          <p:cNvSpPr/>
          <p:nvPr/>
        </p:nvSpPr>
        <p:spPr>
          <a:xfrm>
            <a:off x="822960" y="3182112"/>
            <a:ext cx="365760" cy="365760"/>
          </a:xfrm>
          <a:prstGeom prst="ellipse">
            <a:avLst/>
          </a:prstGeom>
          <a:solidFill>
            <a:schemeClr val="accent3"/>
          </a:solidFill>
          <a:ln/>
        </p:spPr>
      </p:sp>
      <p:sp>
        <p:nvSpPr>
          <p:cNvPr id="9" name="Text 7"/>
          <p:cNvSpPr txBox="1"/>
          <p:nvPr/>
        </p:nvSpPr>
        <p:spPr>
          <a:xfrm>
            <a:off x="822960" y="31821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371600" y="3136392"/>
            <a:ext cx="4343400" cy="822960"/>
          </a:xfrm>
          <a:prstGeom prst="rect">
            <a:avLst/>
          </a:prstGeom>
          <a:noFill/>
          <a:ln/>
        </p:spPr>
        <p:txBody>
          <a:bodyPr wrap="square" lIns="0" tIns="0" rIns="0" bIns="0" rtlCol="0" anchor="t"/>
          <a:lstStyle/>
          <a:p>
            <a:pPr indent="0" marL="0">
              <a:buNone/>
            </a:pPr>
            <a:r>
              <a:rPr lang="en-US" sz="1400" dirty="0">
                <a:solidFill>
                  <a:schemeClr val="tx1"/>
                </a:solidFill>
              </a:rPr>
              <a:t>Dataset includes some synthetic masks, so real-world accuracy is lower than the test score</a:t>
            </a:r>
            <a:endParaRPr lang="en-US" sz="1400" dirty="0"/>
          </a:p>
        </p:txBody>
      </p:sp>
      <p:sp>
        <p:nvSpPr>
          <p:cNvPr id="11" name="badge 3"/>
          <p:cNvSpPr/>
          <p:nvPr/>
        </p:nvSpPr>
        <p:spPr>
          <a:xfrm>
            <a:off x="822960" y="4123944"/>
            <a:ext cx="365760" cy="365760"/>
          </a:xfrm>
          <a:prstGeom prst="ellipse">
            <a:avLst/>
          </a:prstGeom>
          <a:solidFill>
            <a:schemeClr val="accent3"/>
          </a:solidFill>
          <a:ln/>
        </p:spPr>
      </p:sp>
      <p:sp>
        <p:nvSpPr>
          <p:cNvPr id="12" name="Text 10"/>
          <p:cNvSpPr txBox="1"/>
          <p:nvPr/>
        </p:nvSpPr>
        <p:spPr>
          <a:xfrm>
            <a:off x="822960" y="41239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371600" y="4078224"/>
            <a:ext cx="4343400" cy="822960"/>
          </a:xfrm>
          <a:prstGeom prst="rect">
            <a:avLst/>
          </a:prstGeom>
          <a:noFill/>
          <a:ln/>
        </p:spPr>
        <p:txBody>
          <a:bodyPr wrap="square" lIns="0" tIns="0" rIns="0" bIns="0" rtlCol="0" anchor="t"/>
          <a:lstStyle/>
          <a:p>
            <a:pPr indent="0" marL="0">
              <a:buNone/>
            </a:pPr>
            <a:r>
              <a:rPr lang="en-US" sz="1400" dirty="0">
                <a:solidFill>
                  <a:schemeClr val="tx1"/>
                </a:solidFill>
              </a:rPr>
              <a:t>Small, side-on or blurred faces can be missed by the detector</a:t>
            </a:r>
            <a:endParaRPr lang="en-US" sz="1400" dirty="0"/>
          </a:p>
        </p:txBody>
      </p:sp>
      <p:sp>
        <p:nvSpPr>
          <p:cNvPr id="14" name="badge 4"/>
          <p:cNvSpPr/>
          <p:nvPr/>
        </p:nvSpPr>
        <p:spPr>
          <a:xfrm>
            <a:off x="822960" y="5065776"/>
            <a:ext cx="365760" cy="365760"/>
          </a:xfrm>
          <a:prstGeom prst="ellipse">
            <a:avLst/>
          </a:prstGeom>
          <a:solidFill>
            <a:schemeClr val="accent3"/>
          </a:solidFill>
          <a:ln/>
        </p:spPr>
      </p:sp>
      <p:sp>
        <p:nvSpPr>
          <p:cNvPr id="15" name="Text 13"/>
          <p:cNvSpPr txBox="1"/>
          <p:nvPr/>
        </p:nvSpPr>
        <p:spPr>
          <a:xfrm>
            <a:off x="822960" y="50657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371600" y="5020056"/>
            <a:ext cx="4343400" cy="822960"/>
          </a:xfrm>
          <a:prstGeom prst="rect">
            <a:avLst/>
          </a:prstGeom>
          <a:noFill/>
          <a:ln/>
        </p:spPr>
        <p:txBody>
          <a:bodyPr wrap="square" lIns="0" tIns="0" rIns="0" bIns="0" rtlCol="0" anchor="t"/>
          <a:lstStyle/>
          <a:p>
            <a:pPr indent="0" marL="0">
              <a:buNone/>
            </a:pPr>
            <a:r>
              <a:rPr lang="en-US" sz="1400" dirty="0">
                <a:solidFill>
                  <a:schemeClr val="tx1"/>
                </a:solidFill>
              </a:rPr>
              <a:t>No tracking: every frame is judged on its own, so labels can flicker</a:t>
            </a:r>
            <a:endParaRPr lang="en-US" sz="1400" dirty="0"/>
          </a:p>
        </p:txBody>
      </p:sp>
      <p:sp>
        <p:nvSpPr>
          <p:cNvPr id="17" name="Future work"/>
          <p:cNvSpPr/>
          <p:nvPr/>
        </p:nvSpPr>
        <p:spPr>
          <a:xfrm>
            <a:off x="6217920" y="1325880"/>
            <a:ext cx="5394960" cy="4709160"/>
          </a:xfrm>
          <a:prstGeom prst="roundRect">
            <a:avLst>
              <a:gd name="adj" fmla="val 1553"/>
            </a:avLst>
          </a:prstGeom>
          <a:solidFill>
            <a:srgbClr val="E3F3EA"/>
          </a:solidFill>
          <a:ln/>
        </p:spPr>
      </p:sp>
      <p:sp>
        <p:nvSpPr>
          <p:cNvPr id="18" name="Text 16"/>
          <p:cNvSpPr txBox="1"/>
          <p:nvPr/>
        </p:nvSpPr>
        <p:spPr>
          <a:xfrm>
            <a:off x="6492240" y="1508760"/>
            <a:ext cx="484632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Future work</a:t>
            </a:r>
            <a:endParaRPr lang="en-US" sz="2200" dirty="0"/>
          </a:p>
        </p:txBody>
      </p:sp>
      <p:sp>
        <p:nvSpPr>
          <p:cNvPr id="19" name="badge 1"/>
          <p:cNvSpPr/>
          <p:nvPr/>
        </p:nvSpPr>
        <p:spPr>
          <a:xfrm>
            <a:off x="6492240" y="2240280"/>
            <a:ext cx="365760" cy="365760"/>
          </a:xfrm>
          <a:prstGeom prst="ellipse">
            <a:avLst/>
          </a:prstGeom>
          <a:solidFill>
            <a:schemeClr val="accent2"/>
          </a:solidFill>
          <a:ln/>
        </p:spPr>
      </p:sp>
      <p:sp>
        <p:nvSpPr>
          <p:cNvPr id="20" name="Text 18"/>
          <p:cNvSpPr txBox="1"/>
          <p:nvPr/>
        </p:nvSpPr>
        <p:spPr>
          <a:xfrm>
            <a:off x="649224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9"/>
          <p:cNvSpPr txBox="1"/>
          <p:nvPr/>
        </p:nvSpPr>
        <p:spPr>
          <a:xfrm>
            <a:off x="7040880" y="2194560"/>
            <a:ext cx="4343400" cy="822960"/>
          </a:xfrm>
          <a:prstGeom prst="rect">
            <a:avLst/>
          </a:prstGeom>
          <a:noFill/>
          <a:ln/>
        </p:spPr>
        <p:txBody>
          <a:bodyPr wrap="square" lIns="0" tIns="0" rIns="0" bIns="0" rtlCol="0" anchor="t"/>
          <a:lstStyle/>
          <a:p>
            <a:pPr indent="0" marL="0">
              <a:buNone/>
            </a:pPr>
            <a:r>
              <a:rPr lang="en-US" sz="1400" dirty="0">
                <a:solidFill>
                  <a:schemeClr val="tx1"/>
                </a:solidFill>
              </a:rPr>
              <a:t>Add a third class: 'mask worn incorrectly'</a:t>
            </a:r>
            <a:endParaRPr lang="en-US" sz="1400" dirty="0"/>
          </a:p>
        </p:txBody>
      </p:sp>
      <p:sp>
        <p:nvSpPr>
          <p:cNvPr id="22" name="badge 2"/>
          <p:cNvSpPr/>
          <p:nvPr/>
        </p:nvSpPr>
        <p:spPr>
          <a:xfrm>
            <a:off x="6492240" y="3182112"/>
            <a:ext cx="365760" cy="365760"/>
          </a:xfrm>
          <a:prstGeom prst="ellipse">
            <a:avLst/>
          </a:prstGeom>
          <a:solidFill>
            <a:schemeClr val="accent2"/>
          </a:solidFill>
          <a:ln/>
        </p:spPr>
      </p:sp>
      <p:sp>
        <p:nvSpPr>
          <p:cNvPr id="23" name="Text 21"/>
          <p:cNvSpPr txBox="1"/>
          <p:nvPr/>
        </p:nvSpPr>
        <p:spPr>
          <a:xfrm>
            <a:off x="6492240" y="31821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2"/>
          <p:cNvSpPr txBox="1"/>
          <p:nvPr/>
        </p:nvSpPr>
        <p:spPr>
          <a:xfrm>
            <a:off x="7040880" y="3136392"/>
            <a:ext cx="4343400" cy="822960"/>
          </a:xfrm>
          <a:prstGeom prst="rect">
            <a:avLst/>
          </a:prstGeom>
          <a:noFill/>
          <a:ln/>
        </p:spPr>
        <p:txBody>
          <a:bodyPr wrap="square" lIns="0" tIns="0" rIns="0" bIns="0" rtlCol="0" anchor="t"/>
          <a:lstStyle/>
          <a:p>
            <a:pPr indent="0" marL="0">
              <a:buNone/>
            </a:pPr>
            <a:r>
              <a:rPr lang="en-US" sz="1400" dirty="0">
                <a:solidFill>
                  <a:schemeClr val="tx1"/>
                </a:solidFill>
              </a:rPr>
              <a:t>Fine-tune the top MobileNetV2 layers on more diverse real photos</a:t>
            </a:r>
            <a:endParaRPr lang="en-US" sz="1400" dirty="0"/>
          </a:p>
        </p:txBody>
      </p:sp>
      <p:sp>
        <p:nvSpPr>
          <p:cNvPr id="25" name="badge 3"/>
          <p:cNvSpPr/>
          <p:nvPr/>
        </p:nvSpPr>
        <p:spPr>
          <a:xfrm>
            <a:off x="6492240" y="4123944"/>
            <a:ext cx="365760" cy="365760"/>
          </a:xfrm>
          <a:prstGeom prst="ellipse">
            <a:avLst/>
          </a:prstGeom>
          <a:solidFill>
            <a:schemeClr val="accent2"/>
          </a:solidFill>
          <a:ln/>
        </p:spPr>
      </p:sp>
      <p:sp>
        <p:nvSpPr>
          <p:cNvPr id="26" name="Text 24"/>
          <p:cNvSpPr txBox="1"/>
          <p:nvPr/>
        </p:nvSpPr>
        <p:spPr>
          <a:xfrm>
            <a:off x="6492240" y="41239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5"/>
          <p:cNvSpPr txBox="1"/>
          <p:nvPr/>
        </p:nvSpPr>
        <p:spPr>
          <a:xfrm>
            <a:off x="7040880" y="4078224"/>
            <a:ext cx="4343400" cy="822960"/>
          </a:xfrm>
          <a:prstGeom prst="rect">
            <a:avLst/>
          </a:prstGeom>
          <a:noFill/>
          <a:ln/>
        </p:spPr>
        <p:txBody>
          <a:bodyPr wrap="square" lIns="0" tIns="0" rIns="0" bIns="0" rtlCol="0" anchor="t"/>
          <a:lstStyle/>
          <a:p>
            <a:pPr indent="0" marL="0">
              <a:buNone/>
            </a:pPr>
            <a:r>
              <a:rPr lang="en-US" sz="1400" dirty="0">
                <a:solidFill>
                  <a:schemeClr val="tx1"/>
                </a:solidFill>
              </a:rPr>
              <a:t>Export to TFLite / ONNX for Raspberry Pi or mobile</a:t>
            </a:r>
            <a:endParaRPr lang="en-US" sz="1400" dirty="0"/>
          </a:p>
        </p:txBody>
      </p:sp>
      <p:sp>
        <p:nvSpPr>
          <p:cNvPr id="28" name="badge 4"/>
          <p:cNvSpPr/>
          <p:nvPr/>
        </p:nvSpPr>
        <p:spPr>
          <a:xfrm>
            <a:off x="6492240" y="5065776"/>
            <a:ext cx="365760" cy="365760"/>
          </a:xfrm>
          <a:prstGeom prst="ellipse">
            <a:avLst/>
          </a:prstGeom>
          <a:solidFill>
            <a:schemeClr val="accent2"/>
          </a:solidFill>
          <a:ln/>
        </p:spPr>
      </p:sp>
      <p:sp>
        <p:nvSpPr>
          <p:cNvPr id="29" name="Text 27"/>
          <p:cNvSpPr txBox="1"/>
          <p:nvPr/>
        </p:nvSpPr>
        <p:spPr>
          <a:xfrm>
            <a:off x="6492240" y="50657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8"/>
          <p:cNvSpPr txBox="1"/>
          <p:nvPr/>
        </p:nvSpPr>
        <p:spPr>
          <a:xfrm>
            <a:off x="7040880" y="5020056"/>
            <a:ext cx="4343400" cy="822960"/>
          </a:xfrm>
          <a:prstGeom prst="rect">
            <a:avLst/>
          </a:prstGeom>
          <a:noFill/>
          <a:ln/>
        </p:spPr>
        <p:txBody>
          <a:bodyPr wrap="square" lIns="0" tIns="0" rIns="0" bIns="0" rtlCol="0" anchor="t"/>
          <a:lstStyle/>
          <a:p>
            <a:pPr indent="0" marL="0">
              <a:buNone/>
            </a:pPr>
            <a:r>
              <a:rPr lang="en-US" sz="1400" dirty="0">
                <a:solidFill>
                  <a:schemeClr val="tx1"/>
                </a:solidFill>
              </a:rPr>
              <a:t>Streamlit / Flask web app with alerts and a compliance count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400800" cy="1737360"/>
          </a:xfrm>
          <a:prstGeom prst="rect">
            <a:avLst/>
          </a:prstGeom>
          <a:noFill/>
          <a:ln/>
        </p:spPr>
        <p:txBody>
          <a:bodyPr wrap="square" lIns="0" tIns="0" rIns="0" bIns="0" rtlCol="0" anchor="b"/>
          <a:lstStyle/>
          <a:p>
            <a:pPr algn="l" indent="0" marL="0">
              <a:buNone/>
            </a:pPr>
            <a:r>
              <a:rPr lang="en-US" sz="4000" b="1" dirty="0">
                <a:solidFill>
                  <a:schemeClr val="bg1"/>
                </a:solidFill>
                <a:latin typeface="Arial" pitchFamily="34" charset="0"/>
                <a:ea typeface="Arial" pitchFamily="34" charset="-122"/>
                <a:cs typeface="Arial" pitchFamily="34" charset="-120"/>
              </a:rPr>
              <a:t>Thank you, any questions?</a:t>
            </a:r>
            <a:endParaRPr lang="en-US" sz="4000" dirty="0"/>
          </a:p>
        </p:txBody>
      </p:sp>
      <p:sp>
        <p:nvSpPr>
          <p:cNvPr id="3" name="Text 0"/>
          <p:cNvSpPr/>
          <p:nvPr>
            <p:ph idx="101" type="body" hasCustomPrompt="1"/>
          </p:nvPr>
        </p:nvSpPr>
        <p:spPr>
          <a:xfrm>
            <a:off x="640080" y="3749040"/>
            <a:ext cx="6400800" cy="1280160"/>
          </a:xfrm>
          <a:prstGeom prst="rect">
            <a:avLst/>
          </a:prstGeom>
          <a:noFill/>
          <a:ln/>
        </p:spPr>
        <p:txBody>
          <a:bodyPr wrap="square" lIns="0" tIns="0" rIns="0" bIns="0" rtlCol="0" anchor="t"/>
          <a:lstStyle/>
          <a:p>
            <a:pPr indent="0" marL="0">
              <a:buNone/>
            </a:pPr>
            <a:r>
              <a:rPr lang="en-US" sz="1800" dirty="0">
                <a:solidFill>
                  <a:schemeClr val="bg2"/>
                </a:solidFill>
              </a:rPr>
              <a:t>Two-stage pipeline · MobileNetV2 transfer learning · 99.2% test accuracy · real-time on CPU</a:t>
            </a:r>
            <a:endParaRPr lang="en-US" sz="1800" dirty="0"/>
          </a:p>
        </p:txBody>
      </p:sp>
      <p:sp>
        <p:nvSpPr>
          <p:cNvPr id="4" name="takeaway 0"/>
          <p:cNvSpPr/>
          <p:nvPr/>
        </p:nvSpPr>
        <p:spPr>
          <a:xfrm>
            <a:off x="7680960" y="1463040"/>
            <a:ext cx="3931920" cy="1097280"/>
          </a:xfrm>
          <a:prstGeom prst="roundRect">
            <a:avLst>
              <a:gd name="adj" fmla="val 6667"/>
            </a:avLst>
          </a:prstGeom>
          <a:solidFill>
            <a:schemeClr val="tx1"/>
          </a:solidFill>
          <a:ln/>
        </p:spPr>
      </p:sp>
      <p:sp>
        <p:nvSpPr>
          <p:cNvPr id="5" name="Text 3"/>
          <p:cNvSpPr txBox="1"/>
          <p:nvPr/>
        </p:nvSpPr>
        <p:spPr>
          <a:xfrm>
            <a:off x="7909560" y="1554480"/>
            <a:ext cx="3566160" cy="548640"/>
          </a:xfrm>
          <a:prstGeom prst="rect">
            <a:avLst/>
          </a:prstGeom>
          <a:noFill/>
          <a:ln/>
        </p:spPr>
        <p:txBody>
          <a:bodyPr wrap="square" lIns="0" tIns="0" rIns="0" bIns="0" rtlCol="0" anchor="t"/>
          <a:lstStyle/>
          <a:p>
            <a:pPr indent="0" marL="0">
              <a:buNone/>
            </a:pPr>
            <a:r>
              <a:rPr lang="en-US" sz="2800" b="1" dirty="0">
                <a:solidFill>
                  <a:schemeClr val="accent4"/>
                </a:solidFill>
                <a:latin typeface="Arial" pitchFamily="34" charset="0"/>
                <a:ea typeface="Arial" pitchFamily="34" charset="-122"/>
                <a:cs typeface="Arial" pitchFamily="34" charset="-120"/>
              </a:rPr>
              <a:t>99.2%</a:t>
            </a:r>
            <a:endParaRPr lang="en-US" sz="2800" dirty="0"/>
          </a:p>
        </p:txBody>
      </p:sp>
      <p:sp>
        <p:nvSpPr>
          <p:cNvPr id="6" name="Text 4"/>
          <p:cNvSpPr txBox="1"/>
          <p:nvPr/>
        </p:nvSpPr>
        <p:spPr>
          <a:xfrm>
            <a:off x="7909560" y="2103120"/>
            <a:ext cx="3566160" cy="365760"/>
          </a:xfrm>
          <a:prstGeom prst="rect">
            <a:avLst/>
          </a:prstGeom>
          <a:noFill/>
          <a:ln/>
        </p:spPr>
        <p:txBody>
          <a:bodyPr wrap="square" lIns="0" tIns="0" rIns="0" bIns="0" rtlCol="0" anchor="t"/>
          <a:lstStyle/>
          <a:p>
            <a:pPr indent="0" marL="0">
              <a:buNone/>
            </a:pPr>
            <a:r>
              <a:rPr lang="en-US" sz="1400" dirty="0">
                <a:solidFill>
                  <a:schemeClr val="bg2"/>
                </a:solidFill>
              </a:rPr>
              <a:t>accuracy on unseen test images</a:t>
            </a:r>
            <a:endParaRPr lang="en-US" sz="1400" dirty="0"/>
          </a:p>
        </p:txBody>
      </p:sp>
      <p:sp>
        <p:nvSpPr>
          <p:cNvPr id="7" name="takeaway 1"/>
          <p:cNvSpPr/>
          <p:nvPr/>
        </p:nvSpPr>
        <p:spPr>
          <a:xfrm>
            <a:off x="7680960" y="2788920"/>
            <a:ext cx="3931920" cy="1097280"/>
          </a:xfrm>
          <a:prstGeom prst="roundRect">
            <a:avLst>
              <a:gd name="adj" fmla="val 6667"/>
            </a:avLst>
          </a:prstGeom>
          <a:solidFill>
            <a:schemeClr val="tx1"/>
          </a:solidFill>
          <a:ln/>
        </p:spPr>
      </p:sp>
      <p:sp>
        <p:nvSpPr>
          <p:cNvPr id="8" name="Text 6"/>
          <p:cNvSpPr txBox="1"/>
          <p:nvPr/>
        </p:nvSpPr>
        <p:spPr>
          <a:xfrm>
            <a:off x="7909560" y="2880360"/>
            <a:ext cx="3566160" cy="548640"/>
          </a:xfrm>
          <a:prstGeom prst="rect">
            <a:avLst/>
          </a:prstGeom>
          <a:noFill/>
          <a:ln/>
        </p:spPr>
        <p:txBody>
          <a:bodyPr wrap="square" lIns="0" tIns="0" rIns="0" bIns="0" rtlCol="0" anchor="t"/>
          <a:lstStyle/>
          <a:p>
            <a:pPr indent="0" marL="0">
              <a:buNone/>
            </a:pPr>
            <a:r>
              <a:rPr lang="en-US" sz="2800" b="1" dirty="0">
                <a:solidFill>
                  <a:schemeClr val="accent4"/>
                </a:solidFill>
                <a:latin typeface="Arial" pitchFamily="34" charset="0"/>
                <a:ea typeface="Arial" pitchFamily="34" charset="-122"/>
                <a:cs typeface="Arial" pitchFamily="34" charset="-120"/>
              </a:rPr>
              <a:t>164,226</a:t>
            </a:r>
            <a:endParaRPr lang="en-US" sz="2800" dirty="0"/>
          </a:p>
        </p:txBody>
      </p:sp>
      <p:sp>
        <p:nvSpPr>
          <p:cNvPr id="9" name="Text 7"/>
          <p:cNvSpPr txBox="1"/>
          <p:nvPr/>
        </p:nvSpPr>
        <p:spPr>
          <a:xfrm>
            <a:off x="7909560" y="3429000"/>
            <a:ext cx="3566160" cy="365760"/>
          </a:xfrm>
          <a:prstGeom prst="rect">
            <a:avLst/>
          </a:prstGeom>
          <a:noFill/>
          <a:ln/>
        </p:spPr>
        <p:txBody>
          <a:bodyPr wrap="square" lIns="0" tIns="0" rIns="0" bIns="0" rtlCol="0" anchor="t"/>
          <a:lstStyle/>
          <a:p>
            <a:pPr indent="0" marL="0">
              <a:buNone/>
            </a:pPr>
            <a:r>
              <a:rPr lang="en-US" sz="1400" dirty="0">
                <a:solidFill>
                  <a:schemeClr val="bg2"/>
                </a:solidFill>
              </a:rPr>
              <a:t>weights trained, the rest reused</a:t>
            </a:r>
            <a:endParaRPr lang="en-US" sz="1400" dirty="0"/>
          </a:p>
        </p:txBody>
      </p:sp>
      <p:sp>
        <p:nvSpPr>
          <p:cNvPr id="10" name="takeaway 2"/>
          <p:cNvSpPr/>
          <p:nvPr/>
        </p:nvSpPr>
        <p:spPr>
          <a:xfrm>
            <a:off x="7680960" y="4114800"/>
            <a:ext cx="3931920" cy="1097280"/>
          </a:xfrm>
          <a:prstGeom prst="roundRect">
            <a:avLst>
              <a:gd name="adj" fmla="val 6667"/>
            </a:avLst>
          </a:prstGeom>
          <a:solidFill>
            <a:schemeClr val="tx1"/>
          </a:solidFill>
          <a:ln/>
        </p:spPr>
      </p:sp>
      <p:sp>
        <p:nvSpPr>
          <p:cNvPr id="11" name="Text 9"/>
          <p:cNvSpPr txBox="1"/>
          <p:nvPr/>
        </p:nvSpPr>
        <p:spPr>
          <a:xfrm>
            <a:off x="7909560" y="4206240"/>
            <a:ext cx="3566160" cy="548640"/>
          </a:xfrm>
          <a:prstGeom prst="rect">
            <a:avLst/>
          </a:prstGeom>
          <a:noFill/>
          <a:ln/>
        </p:spPr>
        <p:txBody>
          <a:bodyPr wrap="square" lIns="0" tIns="0" rIns="0" bIns="0" rtlCol="0" anchor="t"/>
          <a:lstStyle/>
          <a:p>
            <a:pPr indent="0" marL="0">
              <a:buNone/>
            </a:pPr>
            <a:r>
              <a:rPr lang="en-US" sz="2800" b="1" dirty="0">
                <a:solidFill>
                  <a:schemeClr val="accent4"/>
                </a:solidFill>
                <a:latin typeface="Arial" pitchFamily="34" charset="0"/>
                <a:ea typeface="Arial" pitchFamily="34" charset="-122"/>
                <a:cs typeface="Arial" pitchFamily="34" charset="-120"/>
              </a:rPr>
              <a:t>~12 FPS</a:t>
            </a:r>
            <a:endParaRPr lang="en-US" sz="2800" dirty="0"/>
          </a:p>
        </p:txBody>
      </p:sp>
      <p:sp>
        <p:nvSpPr>
          <p:cNvPr id="12" name="Text 10"/>
          <p:cNvSpPr txBox="1"/>
          <p:nvPr/>
        </p:nvSpPr>
        <p:spPr>
          <a:xfrm>
            <a:off x="7909560" y="4754880"/>
            <a:ext cx="3566160" cy="365760"/>
          </a:xfrm>
          <a:prstGeom prst="rect">
            <a:avLst/>
          </a:prstGeom>
          <a:noFill/>
          <a:ln/>
        </p:spPr>
        <p:txBody>
          <a:bodyPr wrap="square" lIns="0" tIns="0" rIns="0" bIns="0" rtlCol="0" anchor="t"/>
          <a:lstStyle/>
          <a:p>
            <a:pPr indent="0" marL="0">
              <a:buNone/>
            </a:pPr>
            <a:r>
              <a:rPr lang="en-US" sz="1400" dirty="0">
                <a:solidFill>
                  <a:schemeClr val="bg2"/>
                </a:solidFill>
              </a:rPr>
              <a:t>live webcam on a laptop CPU</a:t>
            </a:r>
            <a:endParaRPr lang="en-US" sz="1400" dirty="0"/>
          </a:p>
        </p:txBody>
      </p:sp>
    </p:spTree>
  </p:cSld>
  <p:clrMapOvr>
    <a:masterClrMapping/>
  </p:clrMapOvr>
</p:sld>
</file>

<file path=ppt/theme/theme1.xml><?xml version="1.0" encoding="utf-8"?>
<a:theme xmlns:a="http://schemas.openxmlformats.org/drawingml/2006/main" name="Mask Detection">
  <a:themeElements>
    <a:clrScheme name="Mask Detection">
      <a:dk1>
        <a:srgbClr val="14232B"/>
      </a:dk1>
      <a:lt1>
        <a:srgbClr val="FFFFFF"/>
      </a:lt1>
      <a:dk2>
        <a:srgbClr val="0F4C5C"/>
      </a:dk2>
      <a:lt2>
        <a:srgbClr val="EEF5F5"/>
      </a:lt2>
      <a:accent1>
        <a:srgbClr val="0F8B8D"/>
      </a:accent1>
      <a:accent2>
        <a:srgbClr val="2E9E5B"/>
      </a:accent2>
      <a:accent3>
        <a:srgbClr val="D9483B"/>
      </a:accent3>
      <a:accent4>
        <a:srgbClr val="F2A541"/>
      </a:accent4>
      <a:accent5>
        <a:srgbClr val="5B6C8F"/>
      </a:accent5>
      <a:accent6>
        <a:srgbClr val="8A9BA8"/>
      </a:accent6>
      <a:hlink>
        <a:srgbClr val="0F8B8D"/>
      </a:hlink>
      <a:folHlink>
        <a:srgbClr val="5B6C8F"/>
      </a:folHlink>
    </a:clrScheme>
    <a:fontScheme name="Mask Dete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Deep Learning</dc:title>
  <dc:subject>ML Lab Mini Project</dc:subject>
  <dc:creator>PptxGenJS</dc:creator>
  <cp:lastModifiedBy>PptxGenJS</cp:lastModifiedBy>
  <cp:revision>1</cp:revision>
  <dcterms:created xsi:type="dcterms:W3CDTF">2026-10-12T09:45:20Z</dcterms:created>
  <dcterms:modified xsi:type="dcterms:W3CDTF">2026-10-12T09:45:20Z</dcterms:modified>
</cp:coreProperties>
</file>